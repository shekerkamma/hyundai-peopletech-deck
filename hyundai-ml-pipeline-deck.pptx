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 Motor Group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Use Cases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AI Use Cases + MLOps Platform for Software-Defined Factory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5029200" cy="329184"/>
          </a:xfrm>
          <a:prstGeom prst="roundRect">
            <a:avLst>
              <a:gd name="adj" fmla="val 27778"/>
            </a:avLst>
          </a:prstGeom>
          <a:solidFill>
            <a:srgbClr val="E3183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7490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with OpenHands AI-Driven Development  |  github.com/OpenHands/OpenHands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291072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PeopleTech AI Plant Operations —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Snapshot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 Motor Group at a glance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3035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426464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Scale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773936"/>
            <a:ext cx="508406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$132B trailing twelve months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brands: Hyundai, Kia, Genesis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 employees, 16 global plants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530352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371600"/>
            <a:ext cx="53035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10" name="Text 8"/>
          <p:cNvSpPr/>
          <p:nvPr/>
        </p:nvSpPr>
        <p:spPr>
          <a:xfrm>
            <a:off x="6236208" y="1426464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Investments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36208" y="1773936"/>
            <a:ext cx="508406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$6.7B Saemangeum AI/robotics hub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NVIDIA Blackwell GPUs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 plant Q4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$26B US investment by 2028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530352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566160"/>
            <a:ext cx="53035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621024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Partnerships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3968496"/>
            <a:ext cx="508406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MakinaRocks — robot predictive maintenance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(1,400 robots, 90% accuracy, since 2018)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ROAI/XELO — robotic process optimization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 AutoEver — MES, IoT, PHM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566160"/>
            <a:ext cx="530352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566160"/>
            <a:ext cx="53035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3621024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 Makers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3968496"/>
            <a:ext cx="508406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Alpesh Patel — EVP, Software-Defined Factory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Jongho Shin — MD, E-FOREST Center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Juncheul Jung — President, Manufacturing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Eunsook Jin — President, ICT/Digital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 has infrastructure — not AI applications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01168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0"/>
            <a:ext cx="201168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426464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Compute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773936"/>
            <a:ext cx="1792224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Blackwell GPUs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capacity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371600"/>
            <a:ext cx="201168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371600"/>
            <a:ext cx="201168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10" name="Text 8"/>
          <p:cNvSpPr/>
          <p:nvPr/>
        </p:nvSpPr>
        <p:spPr>
          <a:xfrm>
            <a:off x="2578608" y="1426464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Omniverse Twin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78608" y="1773936"/>
            <a:ext cx="1792224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factory replicas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validation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201168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371600"/>
            <a:ext cx="201168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1426464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AutoEver 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3168" y="1773936"/>
            <a:ext cx="1792224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MES, IoT Platform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CMS/PHM, Factory BI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0" y="1371600"/>
            <a:ext cx="201168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1371600"/>
            <a:ext cx="201168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18" name="Text 16"/>
          <p:cNvSpPr/>
          <p:nvPr/>
        </p:nvSpPr>
        <p:spPr>
          <a:xfrm>
            <a:off x="6967728" y="1426464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MakinaRocks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67728" y="1773936"/>
            <a:ext cx="1792224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health AI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 robots covered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52560" y="1371600"/>
            <a:ext cx="201168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1371600"/>
            <a:ext cx="201168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22" name="Text 20"/>
          <p:cNvSpPr/>
          <p:nvPr/>
        </p:nvSpPr>
        <p:spPr>
          <a:xfrm>
            <a:off x="9162288" y="1426464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ROAI / XELO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62288" y="1773936"/>
            <a:ext cx="1792224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path optimization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design AI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108960"/>
            <a:ext cx="10972800" cy="457200"/>
          </a:xfrm>
          <a:prstGeom prst="rect">
            <a:avLst>
              <a:gd name="adj" fmla="val 12000"/>
            </a:avLst>
          </a:prstGeom>
          <a:solidFill>
            <a:srgbClr val="FEF2F2"/>
          </a:solidFill>
          <a:ln w="25400">
            <a:solidFill>
              <a:srgbClr val="E31837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57200" y="31272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 No multi-model quality AI  |  No ML lifecycle management  |  No AI safety for Atlas  |  No cross-plant governance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840480"/>
            <a:ext cx="3474720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840480"/>
            <a:ext cx="3474720" cy="347472"/>
          </a:xfrm>
          <a:prstGeom prst="rect">
            <a:avLst>
              <a:gd name="adj" fmla="val 21053"/>
            </a:avLst>
          </a:prstGeom>
          <a:solidFill>
            <a:srgbClr val="1F3B6E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389534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PeopleTech AI Layer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4048" y="4242816"/>
            <a:ext cx="3255264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production AI use cases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lifecycle platform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Edge-optimized (&lt;200ms)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Cross-plant governance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IATF 16949 audit trail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023360" y="3840480"/>
            <a:ext cx="3474720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0" y="3840480"/>
            <a:ext cx="3474720" cy="347472"/>
          </a:xfrm>
          <a:prstGeom prst="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4133088" y="389534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with OpenHands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33088" y="4242816"/>
            <a:ext cx="3255264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SDK for ML model development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Docker-sandboxed training environments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delegation per use case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 automation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enterprise deployment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0" y="3840480"/>
            <a:ext cx="3474720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0" y="3840480"/>
            <a:ext cx="3474720" cy="347472"/>
          </a:xfrm>
          <a:prstGeom prst="rect">
            <a:avLst>
              <a:gd name="adj" fmla="val 21053"/>
            </a:avLst>
          </a:prstGeom>
          <a:solidFill>
            <a:srgbClr val="B91C1C"/>
          </a:solidFill>
          <a:ln/>
        </p:spPr>
      </p:sp>
      <p:sp>
        <p:nvSpPr>
          <p:cNvPr id="36" name="Text 34"/>
          <p:cNvSpPr/>
          <p:nvPr/>
        </p:nvSpPr>
        <p:spPr>
          <a:xfrm>
            <a:off x="7882128" y="389534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882128" y="4242816"/>
            <a:ext cx="3255264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MakinaRocks = 1 use case (robot health)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AutoEver = infrastructure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= horizontal, retrofitted 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PeopleTech = 8 vertical AI use cases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unified MLOps + OpenHands velocity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AI Use Cases for SDF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deployment across quality, safety, compliance, and traceability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743200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6304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1F3B6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63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463040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1463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82880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Quality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14884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SPC replacement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per variant in real-time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$13M/year per 1% improvement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743200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46304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1F3B6E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463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37760" y="1463040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63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10128" y="182880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Compliance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214884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estimation + action matching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robot readiness (2028)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10218 / ISO/TS 15066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743200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46304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1F3B6E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463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63840" y="1463040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0" y="1463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36208" y="182880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Monitoring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36208" y="214884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detection + PPE compliance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Human-robot proximity alerts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Atlas deployment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52560" y="1371600"/>
            <a:ext cx="2743200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0" y="146304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1F3B6E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0" y="1463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789920" y="1463040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1F3B6E"/>
          </a:solidFill>
          <a:ln/>
        </p:spPr>
      </p:sp>
      <p:sp>
        <p:nvSpPr>
          <p:cNvPr id="29" name="Text 27"/>
          <p:cNvSpPr/>
          <p:nvPr/>
        </p:nvSpPr>
        <p:spPr>
          <a:xfrm>
            <a:off x="10789920" y="1463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162288" y="182880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Inspection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62288" y="214884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defect classification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Per-model-variant detection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Spot robot QC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749040"/>
            <a:ext cx="2743200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84048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1F3B6E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8404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11680" y="3840480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1F3B6E"/>
          </a:solidFill>
          <a:ln/>
        </p:spPr>
      </p:sp>
      <p:sp>
        <p:nvSpPr>
          <p:cNvPr id="36" name="Text 34"/>
          <p:cNvSpPr/>
          <p:nvPr/>
        </p:nvSpPr>
        <p:spPr>
          <a:xfrm>
            <a:off x="2011680" y="38404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84048" y="420624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Confirmation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84048" y="452628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BOM validation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SDF model switches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Station-level verification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0" y="3749040"/>
            <a:ext cx="2743200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1840" y="384048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1F3B6E"/>
          </a:solidFill>
          <a:ln/>
        </p:spPr>
      </p:sp>
      <p:sp>
        <p:nvSpPr>
          <p:cNvPr id="41" name="Text 39"/>
          <p:cNvSpPr/>
          <p:nvPr/>
        </p:nvSpPr>
        <p:spPr>
          <a:xfrm>
            <a:off x="3291840" y="38404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UC08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37760" y="3840480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1F3B6E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38404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310128" y="420624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Traceability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310128" y="452628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Part-level genealogy graph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recall capability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$3.5M per incident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26480" y="3749040"/>
            <a:ext cx="2743200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17920" y="384048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1F3B6E"/>
          </a:solidFill>
          <a:ln/>
        </p:spPr>
      </p:sp>
      <p:sp>
        <p:nvSpPr>
          <p:cNvPr id="48" name="Text 46"/>
          <p:cNvSpPr/>
          <p:nvPr/>
        </p:nvSpPr>
        <p:spPr>
          <a:xfrm>
            <a:off x="6217920" y="38404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UC03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863840" y="3840480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1F3B6E"/>
          </a:solidFill>
          <a:ln/>
        </p:spPr>
      </p:sp>
      <p:sp>
        <p:nvSpPr>
          <p:cNvPr id="50" name="Text 48"/>
          <p:cNvSpPr/>
          <p:nvPr/>
        </p:nvSpPr>
        <p:spPr>
          <a:xfrm>
            <a:off x="7863840" y="38404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36208" y="420624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 Validation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236208" y="452628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torque/force 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case prediction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quality lift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052560" y="3749040"/>
            <a:ext cx="2743200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44000" y="384048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1F3B6E"/>
          </a:solidFill>
          <a:ln/>
        </p:spPr>
      </p:sp>
      <p:sp>
        <p:nvSpPr>
          <p:cNvPr id="55" name="Text 53"/>
          <p:cNvSpPr/>
          <p:nvPr/>
        </p:nvSpPr>
        <p:spPr>
          <a:xfrm>
            <a:off x="9144000" y="38404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UC06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0789920" y="3840480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6B7280"/>
          </a:solidFill>
          <a:ln/>
        </p:spPr>
      </p:sp>
      <p:sp>
        <p:nvSpPr>
          <p:cNvPr id="57" name="Text 55"/>
          <p:cNvSpPr/>
          <p:nvPr/>
        </p:nvSpPr>
        <p:spPr>
          <a:xfrm>
            <a:off x="10789920" y="38404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9162288" y="420624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Maint.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9162288" y="452628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MakinaRocks RPMS deployed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integrate, not compete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feed into our platform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</p:sp>
      <p:sp>
        <p:nvSpPr>
          <p:cNvPr id="61" name="Text 59"/>
          <p:cNvSpPr/>
          <p:nvPr/>
        </p:nvSpPr>
        <p:spPr>
          <a:xfrm>
            <a:off x="365760" y="6291072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 case realized with OpenHands Agent SDK — see detailed slides →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" cy="365760"/>
          </a:xfrm>
          <a:prstGeom prst="roundRect">
            <a:avLst>
              <a:gd name="adj" fmla="val 25000"/>
            </a:avLst>
          </a:prstGeom>
          <a:solidFill>
            <a:srgbClr val="1F3B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17320" y="228600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228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2608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Quality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92608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SPC replacement for SDF lines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566928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97280"/>
            <a:ext cx="5669280" cy="347472"/>
          </a:xfrm>
          <a:prstGeom prst="rect">
            <a:avLst>
              <a:gd name="adj" fmla="val 21053"/>
            </a:avLst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15214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499616"/>
            <a:ext cx="5449824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SDF switches between 10 model variants on one line. Traditional SPC was designed for single-model runs.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Model A switches to Model B, quality thresholds change — weld specs, gap tolerances, torque values, paint thickness. SPC can't recalibrate in real-time.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quality escapes during model transitions. 10x more failure modes threaten J.D. Power #1 ranking.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566928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108960"/>
            <a:ext cx="5669280" cy="347472"/>
          </a:xfrm>
          <a:prstGeom prst="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316382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PeopleTech Solution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3511296"/>
            <a:ext cx="5449824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per production station recalibrates quality thresholds per model variant in real-time.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historical defect data (Quality &amp; Defect DB) + real-time sensor streams (AVEVA PI Historian). Edge inference &lt;200ms on Jetson/Hailo via TensorRT.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Closed-loop: predictions feed back into AutoEver MES quality gates. Weekly auto-retrain via MLOps pipeline.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566928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097280"/>
            <a:ext cx="5669280" cy="347472"/>
          </a:xfrm>
          <a:prstGeom prst="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115214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OpenHands Realization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1499616"/>
            <a:ext cx="544982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OpenHands Agent SDK builds the ML pipeline: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CodeAct Agent writes PyTorch training code from defect data schema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Workspace provides sandboxed training environment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Multi-agent delegation: one agent per model variant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Actions workflow for CI/CD: train → validate → optimize → deploy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Skills system injects SDF domain knowledge (variant specs, tolerance tables)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github.com/OpenHands/OpenHands → SDK + Agent Server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566160"/>
            <a:ext cx="566928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566160"/>
            <a:ext cx="566928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22" name="Text 20"/>
          <p:cNvSpPr/>
          <p:nvPr/>
        </p:nvSpPr>
        <p:spPr>
          <a:xfrm>
            <a:off x="6327648" y="362102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27648" y="3968496"/>
            <a:ext cx="544982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/ TensorFlow  |  MLflow (registry)  |  TensorRT / ONNX (edge)  |  SageMaker / Azure ML (training)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AVEVA PI Historian (data)  |  PostgreSQL (defect DB)  |  Jetson / Hailo (edge GPU)  |  OPC-UA (PLC integration)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$13M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7432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1% defect reduction / year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20040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proof of value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648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&lt;$1M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12648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investment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05256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05256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inference latency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6291072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Ulsan Plant 5 — 3+ SDF model variants — 90-day proof of value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" cy="365760"/>
          </a:xfrm>
          <a:prstGeom prst="roundRect">
            <a:avLst>
              <a:gd name="adj" fmla="val 25000"/>
            </a:avLst>
          </a:prstGeom>
          <a:solidFill>
            <a:srgbClr val="1F3B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17320" y="228600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228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2608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Compliance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92608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estimation for Atlas robot readiness (2028)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566928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97280"/>
            <a:ext cx="5669280" cy="347472"/>
          </a:xfrm>
          <a:prstGeom prst="rect">
            <a:avLst>
              <a:gd name="adj" fmla="val 21053"/>
            </a:avLst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15214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499616"/>
            <a:ext cx="5449824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workers follow standard operating procedures manually. No automated verification that steps are completed correctly and in order.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Atlas robots co-working from 2028, SOP compliance becomes safety-critical — incorrect human actions in robot work zones cause injuries.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compliance is audited post-shift via paper checklists. Zero real-time enforcement.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566928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108960"/>
            <a:ext cx="5669280" cy="347472"/>
          </a:xfrm>
          <a:prstGeom prst="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316382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PeopleTech Solution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3511296"/>
            <a:ext cx="5449824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AI monitors worker compliance in real-time: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Pose estimation tracks body position and movement patterns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 sequence matching verifies steps completed in correct order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alerts for skipped steps, wrong sequence, unsafe posture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ANGLE: Same AI extends to human-robot handoff zones. Train on human workflows NOW — 2 years of data before Atlas arrives.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566928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097280"/>
            <a:ext cx="5669280" cy="347472"/>
          </a:xfrm>
          <a:prstGeom prst="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115214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OpenHands Realization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1499616"/>
            <a:ext cx="544982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OpenHands builds the computer vision pipeline: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CodeAct Agent develops pose estimation model (MediaPipe / OpenPose)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Browsing Agent researches ISO 10218 compliance requirements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Workspace: isolated CV training with GPU passthrough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 Agents specialize per station type (assembly, welding, paint)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Server (Kubernetes) scales inference across camera fleet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github.com/OpenHands/OpenHands → Multi-agent delegation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566160"/>
            <a:ext cx="566928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566160"/>
            <a:ext cx="566928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22" name="Text 20"/>
          <p:cNvSpPr/>
          <p:nvPr/>
        </p:nvSpPr>
        <p:spPr>
          <a:xfrm>
            <a:off x="6327648" y="362102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27648" y="3968496"/>
            <a:ext cx="544982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/ OpenPose (pose)  |  YOLOv8 (object detection)  |  OpenCV (video)  |  PyTorch (training)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DeepStream (edge video)  |  MQTT (alerts)  |  Kubernetes (inference scaling)  |  EHS system (integration)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25K+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7432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robots planned by 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20040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Atlas deployment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648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$10M+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12648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per safety incident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05256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05256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10218 / TS 15066 compliance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6291072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Metaplant America (Georgia) — Deploy AI safety layer before Atlas arrives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" cy="365760"/>
          </a:xfrm>
          <a:prstGeom prst="roundRect">
            <a:avLst>
              <a:gd name="adj" fmla="val 25000"/>
            </a:avLst>
          </a:prstGeom>
          <a:solidFill>
            <a:srgbClr val="1F3B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UC07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17320" y="228600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228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2608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Monitoring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92608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detection, PPE compliance, human-robot proximity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566928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97280"/>
            <a:ext cx="5669280" cy="347472"/>
          </a:xfrm>
          <a:prstGeom prst="rect">
            <a:avLst>
              <a:gd name="adj" fmla="val 21053"/>
            </a:avLst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15214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499616"/>
            <a:ext cx="5449824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robots patrol but don't perform real-time AI safety analysis. No continuous zone monitoring.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deployment (2028) requires 24/7 human-robot proximity tracking — OSHA, ISO 10218, ISO/TS 15066 mandate it.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safety incident during Atlas rollout = $10M+ liability, production halt, regulatory scrutiny, and media attention that threatens the "Partnering Human Progress" narrative.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566928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108960"/>
            <a:ext cx="5669280" cy="347472"/>
          </a:xfrm>
          <a:prstGeom prst="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316382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PeopleTech Solution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3511296"/>
            <a:ext cx="5449824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Camera-based AI safety monitoring across the production floor: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Zone detection: track who/what occupies each work area in real-time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PPE compliance: hard hat, safety vest, eye protection, glove verification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Human-robot proximity tracking: alert when humans enter robot work envelope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EHS system integration: instant alerts to safety officers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Incident video capture: 30-second pre/post clips for investigation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566928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097280"/>
            <a:ext cx="5669280" cy="347472"/>
          </a:xfrm>
          <a:prstGeom prst="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115214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OpenHands Realization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1499616"/>
            <a:ext cx="544982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OpenHands accelerates safety AI development: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CodeAct Agent builds YOLOv8 object detection for PPE items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Multi-agent: zone segmentation agent + PPE agent + proximity 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Workspace: training on synthetic data (Omniverse-generated)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Actions: automated model validation against safety test suite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Enterprise deployment: self-hosted in Hyundai VPC via Kubernetes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github.com/OpenHands/OpenHands → Enterprise self-hosting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566160"/>
            <a:ext cx="566928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566160"/>
            <a:ext cx="566928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22" name="Text 20"/>
          <p:cNvSpPr/>
          <p:nvPr/>
        </p:nvSpPr>
        <p:spPr>
          <a:xfrm>
            <a:off x="6327648" y="362102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27648" y="3968496"/>
            <a:ext cx="544982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/ RT-DETR (detection)  |  DeepSORT (tracking)  |  NVIDIA DeepStream (video pipeline)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Omniverse (synthetic data)  |  PagerDuty / Slack (alerts)  |  EHS system (compliance)  |  S3 (incident video)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7432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coverage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&lt;100ms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20040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latency requirement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648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12648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PPE detection accuracy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05256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05256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6291072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Paired with UC04 for complete Atlas readiness package — $1-2M combined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" cy="365760"/>
          </a:xfrm>
          <a:prstGeom prst="roundRect">
            <a:avLst>
              <a:gd name="adj" fmla="val 25000"/>
            </a:avLst>
          </a:prstGeom>
          <a:solidFill>
            <a:srgbClr val="1F3B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17320" y="228600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1F3B6E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228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2608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Inspection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92608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defect classification per SDF model variant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566928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97280"/>
            <a:ext cx="5669280" cy="347472"/>
          </a:xfrm>
          <a:prstGeom prst="rect">
            <a:avLst>
              <a:gd name="adj" fmla="val 21053"/>
            </a:avLst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15214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499616"/>
            <a:ext cx="5449824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robots perform post-line QC patrols. HMGICS has some AI vision. But neither handles in-line, station-level defect detection across 10 SDF model variants.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variant has different defect patterns — a scratch on a Genesis ≠ a scratch on an Ioniq. Current inspection doesn't adapt classification thresholds per model.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Metaplant tests every vehicle (human test drive, 95% pass rate) but catches defects too late in the process.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566928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108960"/>
            <a:ext cx="5669280" cy="347472"/>
          </a:xfrm>
          <a:prstGeom prst="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316382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PeopleTech Solution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3511296"/>
            <a:ext cx="5449824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CNN-based defect classification at inspection stations, adapted per model variant: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Camera array captures high-res images at critical stations (paint, body, trim)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Model-aware classification: switches detection profile when SDF variant changes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Defect taxonomy: surface (scratch, dent, orange peel), assembly (gap, flush), paint (runs, sags, contamination)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Complements Spot patrols: station-level catches defects BEFORE Spot finds them post-line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566928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097280"/>
            <a:ext cx="5669280" cy="347472"/>
          </a:xfrm>
          <a:prstGeom prst="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115214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OpenHands Realization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1499616"/>
            <a:ext cx="544982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OpenHands builds variant-aware defect classifiers: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CodeAct Agent creates per-variant CNN architectures (EfficientNet / ResNet)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Skills: inject defect taxonomy knowledge per model 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Multi-agent: one training agent per defect type (surface, assembly, paint)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Server: orchestrates parallel training across variant datasets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Actions: retrain trigger when new variant introduced to SDF line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github.com/OpenHands/OpenHands → Skills + custom tools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566160"/>
            <a:ext cx="566928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566160"/>
            <a:ext cx="566928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22" name="Text 20"/>
          <p:cNvSpPr/>
          <p:nvPr/>
        </p:nvSpPr>
        <p:spPr>
          <a:xfrm>
            <a:off x="6327648" y="362102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27648" y="3968496"/>
            <a:ext cx="544982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 / ResNet (classification)  |  OpenCV (image pre-processing)  |  Albumentations (augmentation)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(edge inference)  |  GStreamer (camera pipeline)  |  MLflow (experiment tracking)  |  AutoEver MES (quality gate)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7432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SDF model variants per line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&lt;50ms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20040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Per-image inference target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648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99%+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12648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defect detection rate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05256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05256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human test pass rate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6291072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In-line detection complements Spot post-line patrols — catches defects earlier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" cy="365760"/>
          </a:xfrm>
          <a:prstGeom prst="roundRect">
            <a:avLst>
              <a:gd name="adj" fmla="val 25000"/>
            </a:avLst>
          </a:prstGeom>
          <a:solidFill>
            <a:srgbClr val="1F3B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UC08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17320" y="228600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1F3B6E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228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2608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Traceability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92608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Part-level genealogy for surgical recall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566928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97280"/>
            <a:ext cx="5669280" cy="347472"/>
          </a:xfrm>
          <a:prstGeom prst="rect">
            <a:avLst>
              <a:gd name="adj" fmla="val 21053"/>
            </a:avLst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15214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499616"/>
            <a:ext cx="5449824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recall: 7,698 Creta/Verna units. MES tracks high-level production data but lacks part-level genealogy.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part traceability, a defect in one supplier batch forces recall of the entire production run — not just affected vehicles. Costs $500+/unit.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IATF 16949 requires traceability. Hyundai's current system relies on batch-level tracking, not individual part lineage.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566928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108960"/>
            <a:ext cx="5669280" cy="347472"/>
          </a:xfrm>
          <a:prstGeom prst="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316382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PeopleTech Solution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3511296"/>
            <a:ext cx="5449824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part tracking from supplier receipt to finished vehicle: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 genealogy graph: every component linked to its supplier lot, station, operator, timestamp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Surgical recall: query "which VINs have parts from Supplier X, Lot Y?" — returns 500 VINs, not 7,698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Supplier quality scoring: track defect rates per supplier per part per lot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Blockchain-ready: hash-anchored traceability records for tamper-proof audit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566928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097280"/>
            <a:ext cx="5669280" cy="347472"/>
          </a:xfrm>
          <a:prstGeom prst="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115214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OpenHands Realization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1499616"/>
            <a:ext cx="544982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OpenHands builds the traceability data pipeline: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CodeAct Agent develops graph database schema (Neo4j / Neptune)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Multi-agent: ingestion agent (MES → graph) + query agent (recall search)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Workspace: isolated testing with synthetic production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Actions: automated IATF compliance validation suite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Enterprise: Kubernetes deployment with per-plant graph shards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github.com/OpenHands/OpenHands → Docker sandboxed execution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566160"/>
            <a:ext cx="566928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566160"/>
            <a:ext cx="566928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22" name="Text 20"/>
          <p:cNvSpPr/>
          <p:nvPr/>
        </p:nvSpPr>
        <p:spPr>
          <a:xfrm>
            <a:off x="6327648" y="362102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27648" y="3968496"/>
            <a:ext cx="544982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/ Amazon Neptune (graph DB)  |  Apache Kafka (event streaming)  |  RFID / barcode (part identity)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AutoEver MES (data source)  |  GraphQL (query API)  |  IPFS / blockchain (audit anchoring)  |  Grafana (dashboard)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$3.5M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7432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surgical vs. mass recall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7,698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20040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recall size (could be 500)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648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IATF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12648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16949 compliance automated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05256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&lt;5s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05256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query response time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6291072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Surgical recall saves millions and protects brand reputation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" cy="365760"/>
          </a:xfrm>
          <a:prstGeom prst="roundRect">
            <a:avLst>
              <a:gd name="adj" fmla="val 25000"/>
            </a:avLst>
          </a:prstGeom>
          <a:solidFill>
            <a:srgbClr val="1F3B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17320" y="228600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1F3B6E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228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2608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Confirmation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92608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BOM validation during SDF model switches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566928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97280"/>
            <a:ext cx="5669280" cy="347472"/>
          </a:xfrm>
          <a:prstGeom prst="rect">
            <a:avLst>
              <a:gd name="adj" fmla="val 21053"/>
            </a:avLst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15214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499616"/>
            <a:ext cx="5449824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SDF lines switch between 10 models. Each switch changes the Bill of Materials — different parts, different assembly sequence, different configurations.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Mis-builds during model transitions are the #1 quality risk in flexible manufacturing. Wrong part installed = rework ($2,000+/vehicle) or warranty claim.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validation is MES work-order based — no real-time station-level confirmation that the physical part matches the digital BOM.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566928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108960"/>
            <a:ext cx="5669280" cy="347472"/>
          </a:xfrm>
          <a:prstGeom prst="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316382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PeopleTech Solution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3511296"/>
            <a:ext cx="5449824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confirmation at each station during model switches: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RFID/barcode scan validates part number against current BOM variant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Vision verification confirms physical part matches expected geometry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Station-level alerts: "wrong part for Model B — expecting P/N 12345"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monitoring: tracks error rate during first 10 units after each switch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Integration: feeds validation status back to AutoEver MES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566928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097280"/>
            <a:ext cx="5669280" cy="347472"/>
          </a:xfrm>
          <a:prstGeom prst="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115214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OpenHands Realization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1499616"/>
            <a:ext cx="544982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OpenHands develops the validation logic layer: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CodeAct Agent builds BOM matching algorithms from MES data schema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Skills: inject BOM structure per model variant (part hierarchies)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Multi-agent: scan validation agent + vision matching 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Server: handles real-time validation requests per station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Actions: regression tests against known mis-build scenarios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github.com/OpenHands/OpenHands → Custom tools + MCP integration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566160"/>
            <a:ext cx="566928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566160"/>
            <a:ext cx="566928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22" name="Text 20"/>
          <p:cNvSpPr/>
          <p:nvPr/>
        </p:nvSpPr>
        <p:spPr>
          <a:xfrm>
            <a:off x="6327648" y="3621024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27648" y="3968496"/>
            <a:ext cx="544982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readers / barcode scanners (identity)  |  YOLOv8 (part geometry)  |  FastAPI (validation API)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(real-time state)  |  AutoEver MES (BOM source)  |  OPC-UA (station PLC)  |  MQTT (alerts)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$2K+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7432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cost per mis-build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20040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variants per SDF line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648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12648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response time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05256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05256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mis-builds per shift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6291072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Station-level validation prevents mis-builds during SDF model transitions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OpenHands: AI-Driven Development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PeopleTech realizes use cases 10x faster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github.com/OpenHands/OpenHands  |  72K+ stars  |  MIT license  |  470+ contributors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365760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3657600" cy="347472"/>
          </a:xfrm>
          <a:prstGeom prst="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426464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Agent SDK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773936"/>
            <a:ext cx="3438144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Composable Python library for building AI coding agents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CodeAct Agent: writes, tests, and deploys ML 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tools: integrate with OPC-UA, MES, IoT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Skills system: inject manufacturing domain knowledge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Multi-agent delegation: parallel development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1371600"/>
            <a:ext cx="365760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371600"/>
            <a:ext cx="3657600" cy="347472"/>
          </a:xfrm>
          <a:prstGeom prst="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315968" y="1426464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Server (Production)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15968" y="1773936"/>
            <a:ext cx="3438144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Docker-sandboxed execution environments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Kubernetes deployment for enterprise scale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Multi-user isolation per plant / team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WebSocket streaming for real-time monitoring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Self-hosted in Hyundai VPC (Enterprise tier)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47472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371600"/>
            <a:ext cx="3474720" cy="347472"/>
          </a:xfrm>
          <a:prstGeom prst="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8247888" y="14264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773936"/>
            <a:ext cx="3255264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Actions workflows for ML pipeline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Auto-retrain on drift detection trigger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code review (quality gates)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validation test suites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Continuous deployment to edge fleet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2560320" cy="457200"/>
          </a:xfrm>
          <a:prstGeom prst="rect">
            <a:avLst/>
          </a:prstGeom>
          <a:solidFill>
            <a:srgbClr val="7C3AED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675888"/>
            <a:ext cx="241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3657600"/>
            <a:ext cx="3200400" cy="457200"/>
          </a:xfrm>
          <a:prstGeom prst="rect">
            <a:avLst/>
          </a:prstGeom>
          <a:solidFill>
            <a:srgbClr val="7C3AED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90672" y="3675888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OpenHands Component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3657600"/>
            <a:ext cx="5486400" cy="457200"/>
          </a:xfrm>
          <a:prstGeom prst="rect">
            <a:avLst/>
          </a:prstGeom>
          <a:solidFill>
            <a:srgbClr val="7C3AED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3675888"/>
            <a:ext cx="5340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Accelerates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4178808"/>
            <a:ext cx="241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UC05 Predictive Quality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17520" y="416052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0672" y="4178808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CodeAct + Skills + GitHub Actions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4160520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4178808"/>
            <a:ext cx="5340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writes training code from data schema, auto-deploys via CI/CD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25603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4681728"/>
            <a:ext cx="241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UC04 SOP Compliance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017520" y="4663440"/>
            <a:ext cx="32004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90672" y="4681728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+ Docker Workspace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4663440"/>
            <a:ext cx="54864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4681728"/>
            <a:ext cx="5340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agents develop per-station pose models in sandboxed GPU envs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516636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5184648"/>
            <a:ext cx="241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UC07 Safety Monitoring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017520" y="516636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90672" y="5184648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Server + Enterprise K8s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17920" y="5166360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91072" y="5184648"/>
            <a:ext cx="5340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inference scaling across camera fleet, per-plant isolation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5669280"/>
            <a:ext cx="25603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5687568"/>
            <a:ext cx="241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 Visual Inspection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017520" y="5669280"/>
            <a:ext cx="32004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90672" y="5687568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 Custom Tools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17920" y="5669280"/>
            <a:ext cx="54864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1072" y="5687568"/>
            <a:ext cx="5340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injection: defect taxonomy per model variant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617220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0352" y="6190488"/>
            <a:ext cx="241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UC02 Variant Confirmation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17520" y="617220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90672" y="6190488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CodeAct + MCP Integration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17920" y="6172200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91072" y="6190488"/>
            <a:ext cx="5340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builds BOM validation logic, integrates with MES via MCP tools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6675120"/>
            <a:ext cx="25603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0352" y="6693408"/>
            <a:ext cx="241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UC08 Digital Traceability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017520" y="6675120"/>
            <a:ext cx="32004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90672" y="6693408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Workspace + GitHub Actions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17920" y="6675120"/>
            <a:ext cx="54864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91072" y="6693408"/>
            <a:ext cx="5340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graph DB development + automated IATF compliance tests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model lifecycle powering all use cases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65176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0"/>
            <a:ext cx="265176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42646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Collection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773936"/>
            <a:ext cx="24323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sensors, inference logs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feedback, labeling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versioning (DVC)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AVEVA PI + AutoEver IoT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1371600"/>
            <a:ext cx="265176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1371600"/>
            <a:ext cx="265176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10" name="Text 8"/>
          <p:cNvSpPr/>
          <p:nvPr/>
        </p:nvSpPr>
        <p:spPr>
          <a:xfrm>
            <a:off x="3218688" y="142646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Feature &amp; Training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18688" y="1773936"/>
            <a:ext cx="24323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(SageMaker)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(Gt. Expect.)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training (Blackwell)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experiment tracking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371600"/>
            <a:ext cx="265176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1371600"/>
            <a:ext cx="265176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14" name="Text 12"/>
          <p:cNvSpPr/>
          <p:nvPr/>
        </p:nvSpPr>
        <p:spPr>
          <a:xfrm>
            <a:off x="6053328" y="142646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Package &amp; Deploy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53328" y="1773936"/>
            <a:ext cx="24323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 / ONNX optimization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build (ECR/ACR)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deployment (5%)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OTA (IoT Greengrass)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78240" y="1371600"/>
            <a:ext cx="265176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0" y="1371600"/>
            <a:ext cx="2651760" cy="347472"/>
          </a:xfrm>
          <a:prstGeom prst="rect">
            <a:avLst>
              <a:gd name="adj" fmla="val 21053"/>
            </a:avLst>
          </a:pr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8887968" y="142646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Monitor &amp; Retrain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87968" y="1773936"/>
            <a:ext cx="24323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(KL div.)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Auto-retrain alerts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IATF 16949 audit trail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tracking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76072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59536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274320" y="3931920"/>
            <a:ext cx="11247120" cy="365760"/>
          </a:xfrm>
          <a:prstGeom prst="rect">
            <a:avLst>
              <a:gd name="adj" fmla="val 15000"/>
            </a:avLst>
          </a:prstGeom>
          <a:solidFill>
            <a:srgbClr val="FEF2F2"/>
          </a:solidFill>
          <a:ln w="25400">
            <a:solidFill>
              <a:srgbClr val="E31837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57200" y="395020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CLOSED LOOP: Drift detected → auto-retrain → canary deploy → performance validated 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572000"/>
            <a:ext cx="365760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572000"/>
            <a:ext cx="365760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4626864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 Integration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" y="4974336"/>
            <a:ext cx="343814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AVEVA PI Historian (time-series)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AutoEver MES (quality gates)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AutoEver IoT Platform (sensors)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Omniverse (twin validation)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MakinaRocks RPMS (robot data)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06240" y="4572000"/>
            <a:ext cx="365760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4572000"/>
            <a:ext cx="365760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31" name="Text 29"/>
          <p:cNvSpPr/>
          <p:nvPr/>
        </p:nvSpPr>
        <p:spPr>
          <a:xfrm>
            <a:off x="4315968" y="4626864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15968" y="4974336"/>
            <a:ext cx="343814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NVIDIA Jetson / Hailo accelerators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&lt;200ms inference budget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Rolling OTA: plant → line → station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rollback capability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line downtime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38160" y="4572000"/>
            <a:ext cx="347472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4572000"/>
            <a:ext cx="34747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35" name="Text 33"/>
          <p:cNvSpPr/>
          <p:nvPr/>
        </p:nvSpPr>
        <p:spPr>
          <a:xfrm>
            <a:off x="8247888" y="46268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47888" y="4974336"/>
            <a:ext cx="325526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audit: data → model → deploy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Safety-critical approval gates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IATF 16949 / ISO 9001 mapping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MLflow Model Registry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ROI digest per plant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PeopleTech + OpenHands, not alternatives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194560"/>
                <a:gridCol w="2194560"/>
                <a:gridCol w="30175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MakinaRocks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AutoEver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PeopleTech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18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 health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(MES, IoT)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stack, horizontal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production AI use cases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Lifecycle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MLOps (train→deploy→monitor→retrain)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Multi-Model SDF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10-variant quality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Velocity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In-house teams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Consulting-heavy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OpenHands AI agents (10x faster)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Optimization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Cloud-first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TensorRT/ONNX, &lt;200ms Jetson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Per-robot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Per-model, IATF-mapped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Cross-Plant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sites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 for 15+ plant fleet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5212080"/>
            <a:ext cx="1161288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5212080"/>
            <a:ext cx="11612880" cy="347472"/>
          </a:xfrm>
          <a:prstGeom prst="rect">
            <a:avLst>
              <a:gd name="adj" fmla="val 21053"/>
            </a:avLst>
          </a:prstGeom>
          <a:solidFill>
            <a:srgbClr val="E31837"/>
          </a:solidFill>
          <a:ln/>
        </p:spPr>
      </p:sp>
      <p:sp>
        <p:nvSpPr>
          <p:cNvPr id="7" name="Text 4"/>
          <p:cNvSpPr/>
          <p:nvPr/>
        </p:nvSpPr>
        <p:spPr>
          <a:xfrm>
            <a:off x="384048" y="5266944"/>
            <a:ext cx="11393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PeopleTech Wedge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5614416"/>
            <a:ext cx="113934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vendor with (1) purpose-built multi-model SDF quality AI, (2) full MLOps lifecycle across 8 use cases, (3) OpenHands-accelerated development velocity, and (4) cross-plant IATF governance. MakinaRocks does robot health. AutoEver does infrastructure. Siemens is horizontal. PeopleTech is the vertical AI application layer.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actions to move forward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474720" cy="2743200"/>
          </a:xfrm>
          <a:prstGeom prst="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0" cy="347472"/>
          </a:xfrm>
          <a:prstGeom prst="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4264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Ulsan Pilot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1 — 90 days)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773936"/>
            <a:ext cx="3255264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quality (UC05) on one SDF line with 3+ model variants at Ulsan Plant 5.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success metrics upfront.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Risk-free: miss targets → you keep the data.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Investment: $500K-$1M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371600"/>
            <a:ext cx="3474720" cy="2743200"/>
          </a:xfrm>
          <a:prstGeom prst="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371600"/>
            <a:ext cx="3474720" cy="347472"/>
          </a:xfrm>
          <a:prstGeom prst="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315968" y="14264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Atlas Scoping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2 — 6 months)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5968" y="1773936"/>
            <a:ext cx="3255264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compliance (UC04) + safety monitoring (UC07) at Metaplant America.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with 2028 Atlas deployment timeline.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session with robotics team.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Investment: $1-2M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371600"/>
            <a:ext cx="3474720" cy="2743200"/>
          </a:xfrm>
          <a:prstGeom prst="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1371600"/>
            <a:ext cx="3474720" cy="347472"/>
          </a:xfrm>
          <a:prstGeom prst="rect">
            <a:avLst>
              <a:gd name="adj" fmla="val 21053"/>
            </a:avLst>
          </a:prstGeom>
          <a:solidFill>
            <a:srgbClr val="1F3B6E"/>
          </a:solidFill>
          <a:ln/>
        </p:spPr>
      </p:sp>
      <p:sp>
        <p:nvSpPr>
          <p:cNvPr id="14" name="Text 12"/>
          <p:cNvSpPr/>
          <p:nvPr/>
        </p:nvSpPr>
        <p:spPr>
          <a:xfrm>
            <a:off x="8065008" y="14264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MLOps Workshop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3 — 12 months)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65008" y="1773936"/>
            <a:ext cx="3255264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architecture review with AutoEver + E-FOREST Center.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cross-plant governance model.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15+ plants, all 8 use cases.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Investment: $5-15M/year platform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Meetings to Request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4773168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Alpesh Patel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4754880"/>
            <a:ext cx="22860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4773168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EVP, SDF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4754880"/>
            <a:ext cx="69494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4773168"/>
            <a:ext cx="6803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validation: predictive quality AI for SDF data flows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5138928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5157216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Jongho Shin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68880" y="5138928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42032" y="5157216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MD, E-FOREST Center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5138928"/>
            <a:ext cx="6949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5157216"/>
            <a:ext cx="6803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readiness: AI safety layer for human-robot collaboration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5522976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554126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Eunsook Jin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68880" y="5522976"/>
            <a:ext cx="22860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42032" y="5541264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President, ICT/Digital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5522976"/>
            <a:ext cx="69494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5541264"/>
            <a:ext cx="6803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holder: MLOps platform on NVIDIA + AutoEver infrastructure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907024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5925312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Juncheul Jung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468880" y="5907024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42032" y="5925312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President, Manufacturing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5907024"/>
            <a:ext cx="6949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5925312"/>
            <a:ext cx="6803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sponsor: AI ROI impact in year one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6291072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PeopleTech + OpenHands — The AI Application Layer for Software-Defined Factories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Hyundai ML Pipeline Use Cases — PeopleTech</dc:title>
  <dc:subject>PptxGenJS Presentation</dc:subject>
  <dc:creator>PptxGenJS</dc:creator>
  <cp:lastModifiedBy>PptxGenJS</cp:lastModifiedBy>
  <cp:revision>1</cp:revision>
  <dcterms:created xsi:type="dcterms:W3CDTF">2026-05-22T16:52:42Z</dcterms:created>
  <dcterms:modified xsi:type="dcterms:W3CDTF">2026-05-22T16:52:42Z</dcterms:modified>
</cp:coreProperties>
</file>
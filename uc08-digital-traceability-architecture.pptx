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UC-08 · DIGITAL TRACEABILITY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Component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Assembly Genealogy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Hyundai  ×  PeopleTech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3291840"/>
            <a:ext cx="5303520" cy="411480"/>
          </a:xfrm>
          <a:prstGeom prst="roundRect">
            <a:avLst>
              <a:gd name="adj" fmla="val 22222"/>
            </a:avLst>
          </a:prstGeom>
          <a:solidFill>
            <a:srgbClr val="FEE2E2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2918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traceability  |  -70% investigation time  |  &lt;200ms latency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Stream-to-graph pipeline tracking every component from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through assembly to finished vehicle across 11 plants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0" y="822960"/>
            <a:ext cx="3931920" cy="77724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0" y="822960"/>
            <a:ext cx="73152" cy="777240"/>
          </a:xfrm>
          <a:prstGeom prst="rect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01000" y="82296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(Plant Floor)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0" y="1828800"/>
            <a:ext cx="3931920" cy="77724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0" y="1828800"/>
            <a:ext cx="73152" cy="777240"/>
          </a:xfrm>
          <a:prstGeom prst="rect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01000" y="182880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Event Broker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0" y="2834640"/>
            <a:ext cx="3931920" cy="77724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0" y="2834640"/>
            <a:ext cx="73152" cy="77724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0" y="283464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Flink Processing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3840480"/>
            <a:ext cx="3931920" cy="77724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0" y="3840480"/>
            <a:ext cx="73152" cy="77724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01000" y="384048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Integration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772400" y="4846320"/>
            <a:ext cx="3931920" cy="77724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0" y="4846320"/>
            <a:ext cx="73152" cy="77724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01000" y="484632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Applications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6263640"/>
            <a:ext cx="11457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Hyundai × PeopleTech · AI Manufacturing Practice · May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Digital Traceability?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supplier lot to finished vehicle — every component tracked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4747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3474720" cy="347472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426464"/>
            <a:ext cx="3255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Stream-to-Graph Pipeline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1773936"/>
            <a:ext cx="3255264" cy="2962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Flink ingests 50K scan events/sec from RFID, barcode, and vision OCR. Events are enriched with BOM context from SAP, deduplicated with exactly-once semantics, and fanned out to Neo4j (genealogy graph), SAP (quality write-back), and an immutable event log (15-year regulatory retention).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06240" y="1371600"/>
            <a:ext cx="34747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1371600"/>
            <a:ext cx="3474720" cy="347472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15968" y="1426464"/>
            <a:ext cx="3255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Genealogy Graph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15968" y="1773936"/>
            <a:ext cx="3255264" cy="2962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database models the natural relationships: Vehicle CONTAINS Component, Component SUPPLIED_BY Supplier, Component INSTALLED_AT Station. Cypher queries traverse these relationships in &lt;100ms — turning recall investigations from 4-6 weeks into minutes.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1371600"/>
            <a:ext cx="37490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1371600"/>
            <a:ext cx="3749040" cy="347472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65008" y="1426464"/>
            <a:ext cx="3529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65008" y="1773936"/>
            <a:ext cx="3529584" cy="2962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Genealogy Viewer — interactive graph explorer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Scope Calculator — supplier lot → affected VINs in &lt;100ms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Export Portal — NHTSA/KBA compliance packs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Dashboard — scan coverage KPIs + gap alerts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— Slack/Teams/Andon on anomalies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Scanner App — offline fallback with sync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Pilot: HMGMA Metaplant America (IONIQ 5/9 assembly) — 3 RFID gates + 8 barcode stations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6263640"/>
            <a:ext cx="11457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investigation: weeks → minutes  |  Audit trail: 15-year immutable  |  11-plant scalable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manual traceability fails at scale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56032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Geneaology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17520" y="137160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337560" y="1371600"/>
            <a:ext cx="256032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897880" y="137160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256032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Over-scoped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778240" y="137160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098280" y="1371600"/>
            <a:ext cx="256032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98280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468880"/>
            <a:ext cx="35661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468880"/>
            <a:ext cx="3566160" cy="347472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523744"/>
            <a:ext cx="3346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4-6 Weeks Per Investigation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2871216"/>
            <a:ext cx="3346704" cy="2048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genealogy is fragmented across regional MES instances, supplier portals, and paper records. Quality teams manually cross-reference spreadsheets to identify affected vehicles. A single recall investigation consumes hundreds of engineer-hours.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97680" y="2468880"/>
            <a:ext cx="35661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97680" y="2468880"/>
            <a:ext cx="3566160" cy="347472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07408" y="2523744"/>
            <a:ext cx="3346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$2M+ Over-Scope Per Recall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07408" y="2871216"/>
            <a:ext cx="3346704" cy="2048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precise component-to-vehicle mapping, recall scope must be estimated conservatively. Result: recalling 50,000 vehicles when only 3,000 are actually affected. The cost of over-scope — logistics, parts, dealer labor, brand damage — compounds rapidly.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38160" y="2468880"/>
            <a:ext cx="35661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38160" y="2468880"/>
            <a:ext cx="3566160" cy="347472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47888" y="2523744"/>
            <a:ext cx="3346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Gaps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47888" y="2871216"/>
            <a:ext cx="3346704" cy="2048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NHTSA and KBA require complete, tamper-proof chain-of-custody documentation. Incomplete audit trails create regulatory exposure, delay recall response, and erode trust with safety regulators. Current systems cannot prove 100% coverage.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6263640"/>
            <a:ext cx="11457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stream-to-graph pipeline with exactly-once semantics and immutable audit trail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Five-zone stream-to-graph pipeline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7132320" cy="731520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54864" cy="7315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719072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· Barcode · Vision OCR · IoT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0" y="20116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7132320" cy="731520"/>
          </a:xfrm>
          <a:prstGeom prst="rect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286000"/>
            <a:ext cx="5486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31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633472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broker · 50K events/sec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0" y="2926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7132320" cy="731520"/>
          </a:xfrm>
          <a:prstGeom prst="rect">
            <a:avLst/>
          </a:prstGeom>
          <a:solidFill>
            <a:srgbClr val="FEE2E2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200400"/>
            <a:ext cx="54864" cy="73152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246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FLINK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547872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Deser → Enrich → Dedup → Route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0" y="3840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7132320" cy="73152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114800"/>
            <a:ext cx="54864" cy="7315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160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462272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· SAP · Event Log · ML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5029200"/>
            <a:ext cx="7132320" cy="731520"/>
          </a:xfrm>
          <a:prstGeom prst="rect">
            <a:avLst/>
          </a:prstGeom>
          <a:solidFill>
            <a:srgbClr val="FDF2F8"/>
          </a:solidFill>
          <a:ln w="12700">
            <a:solidFill>
              <a:srgbClr val="FBCF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5029200"/>
            <a:ext cx="54864" cy="731520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5074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5376672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 · Calculator · Portal · Dashboard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863840" y="1371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6-Step Data Flow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7863840" y="1920240"/>
            <a:ext cx="3840480" cy="56692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63840" y="1920240"/>
            <a:ext cx="54864" cy="566928"/>
          </a:xfrm>
          <a:prstGeom prst="rect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46720" y="1920240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Scan — RFID/barcode captures component identity at station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63840" y="2633472"/>
            <a:ext cx="3840480" cy="56692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63840" y="2633472"/>
            <a:ext cx="54864" cy="566928"/>
          </a:xfrm>
          <a:prstGeom prst="rect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0" y="2633472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Publish — Edge gateway sends event to Kafka topic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863840" y="3346704"/>
            <a:ext cx="3840480" cy="56692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863840" y="3346704"/>
            <a:ext cx="54864" cy="566928"/>
          </a:xfrm>
          <a:prstGeom prst="rect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46720" y="3346704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Process — Flink validates, enriches with BOM, deduplicates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863840" y="4059936"/>
            <a:ext cx="3840480" cy="56692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863840" y="4059936"/>
            <a:ext cx="54864" cy="566928"/>
          </a:xfrm>
          <a:prstGeom prst="rect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0" y="4059936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Store — Fan-out to Neo4j graph, SAP, and event log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863840" y="4773168"/>
            <a:ext cx="3840480" cy="56692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863840" y="4773168"/>
            <a:ext cx="54864" cy="566928"/>
          </a:xfrm>
          <a:prstGeom prst="rect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46720" y="4773168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Query — Genealogy viewer / recall calculator reads from Neo4j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863840" y="5486400"/>
            <a:ext cx="3840480" cy="56692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863840" y="5486400"/>
            <a:ext cx="54864" cy="566928"/>
          </a:xfrm>
          <a:prstGeom prst="rect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46720" y="5486400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Act — Auditor exports, alerts, dashboard updates in real time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Deep Dive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zone does and why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394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5394960" cy="347472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35024"/>
            <a:ext cx="5175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— Plant Floor Capture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1682496"/>
            <a:ext cx="5175504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readers (UHF, sllurp) — component-level tags at assembly gates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/ DataMatrix (Datalogic, Cognex DataMan) — VIN + part numbers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OCR stations — camera fallback for missing/damaged tags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context — MES work-order, line/shift, operator, timestamp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gateway — Greengrass/IoT Edge for aggregation + offline cache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280160"/>
            <a:ext cx="5394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1280160"/>
            <a:ext cx="5394960" cy="347472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27648" y="1335024"/>
            <a:ext cx="5175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Flink — Stream Processing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27648" y="1682496"/>
            <a:ext cx="5175504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Deserialization — Avro/JSON schema validation, DLQ for rejects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 — async side-input joins with SAP BOM + work-order context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— exactly-once via checkpoints (30s, RocksDB backend)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— fan-out to Neo4j, SAP, and event log simultaneously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 events/sec · 8 slots per plant partition · horizontally scalable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5394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840480"/>
            <a:ext cx="5394960" cy="347472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895344"/>
            <a:ext cx="5175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Integration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" y="4242816"/>
            <a:ext cx="5175504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genealogy graph — Vehicle→Component→Supplier→Station model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MES/ERP — bidirectional: BOM lookup + quality write-back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event log — append-only Parquet, 15-year retention, tamper-proof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risk scoring — ML model correlating defects by supplier × type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DB (PostgreSQL) — defect-to-station traceability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3840480"/>
            <a:ext cx="5394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3840480"/>
            <a:ext cx="5394960" cy="347472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7648" y="3895344"/>
            <a:ext cx="5175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Applications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27648" y="4242816"/>
            <a:ext cx="5175504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Genealogy Viewer — interactive graph explorer, full chain-of-custody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Scope Calculator — supplier lot → affected VINs in &lt;100ms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Export Portal — NHTSA/KBA compliance packs, one-click generation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Dashboard — scan coverage KPIs, gap alerts, supplier trends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Scanner App — offline-capable manual scan + photo fallback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Graph Database?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vs. relational for genealogy queries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758184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3575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215384" y="1371600"/>
            <a:ext cx="375818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06824" y="1417320"/>
            <a:ext cx="3575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(SQL)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973568" y="1371600"/>
            <a:ext cx="3758184" cy="457200"/>
          </a:xfrm>
          <a:prstGeom prst="rect">
            <a:avLst/>
          </a:prstGeom>
          <a:solidFill>
            <a:srgbClr val="FEE2E2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65008" y="1417320"/>
            <a:ext cx="3575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(Neo4j — Ours)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3758184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92024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scope query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15384" y="1874520"/>
            <a:ext cx="375818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06824" y="192024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6-table JOIN, 8-15 seconds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73568" y="1874520"/>
            <a:ext cx="3758184" cy="502920"/>
          </a:xfrm>
          <a:prstGeom prst="rect">
            <a:avLst/>
          </a:prstGeom>
          <a:solidFill>
            <a:srgbClr val="FEE2E2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65008" y="192024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Cypher traversal, &lt;100ms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423160"/>
            <a:ext cx="3758184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46888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fit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15384" y="2423160"/>
            <a:ext cx="375818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06824" y="246888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Force-fit: junction tables for M:N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973568" y="2423160"/>
            <a:ext cx="3758184" cy="502920"/>
          </a:xfrm>
          <a:prstGeom prst="rect">
            <a:avLst/>
          </a:prstGeom>
          <a:solidFill>
            <a:srgbClr val="FEE2E2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65008" y="246888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Natural: nodes + relationships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971800"/>
            <a:ext cx="3758184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01752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relationship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15384" y="2971800"/>
            <a:ext cx="375818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06824" y="301752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migration, downtime risk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973568" y="2971800"/>
            <a:ext cx="3758184" cy="502920"/>
          </a:xfrm>
          <a:prstGeom prst="rect">
            <a:avLst/>
          </a:prstGeom>
          <a:solidFill>
            <a:srgbClr val="FEE2E2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65008" y="301752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edge type, zero downtime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520440"/>
            <a:ext cx="3758184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56616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chain depth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215384" y="3520440"/>
            <a:ext cx="375818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06824" y="356616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degrades at 3+ hops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973568" y="3520440"/>
            <a:ext cx="3758184" cy="502920"/>
          </a:xfrm>
          <a:prstGeom prst="rect">
            <a:avLst/>
          </a:prstGeom>
          <a:solidFill>
            <a:srgbClr val="FEE2E2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65008" y="356616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time at any depth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069080"/>
            <a:ext cx="3758184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11480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exploration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215384" y="4069080"/>
            <a:ext cx="375818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06824" y="411480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UI over complex queries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973568" y="4069080"/>
            <a:ext cx="3758184" cy="502920"/>
          </a:xfrm>
          <a:prstGeom prst="rect">
            <a:avLst/>
          </a:prstGeom>
          <a:solidFill>
            <a:srgbClr val="FEE2E2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65008" y="411480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graph visualization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4617720"/>
            <a:ext cx="3758184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466344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(11 plants)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215384" y="4617720"/>
            <a:ext cx="375818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06824" y="466344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complexity, cross-shard JOINs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973568" y="4617720"/>
            <a:ext cx="3758184" cy="502920"/>
          </a:xfrm>
          <a:prstGeom prst="rect">
            <a:avLst/>
          </a:prstGeom>
          <a:solidFill>
            <a:srgbClr val="FEE2E2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65008" y="466344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cluster, read replicas per region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57200" y="5166360"/>
            <a:ext cx="3758184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521208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compliance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215384" y="5166360"/>
            <a:ext cx="375818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06824" y="521208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audit tables required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973568" y="5166360"/>
            <a:ext cx="3758184" cy="502920"/>
          </a:xfrm>
          <a:prstGeom prst="rect">
            <a:avLst/>
          </a:prstGeom>
          <a:solidFill>
            <a:srgbClr val="FEE2E2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065008" y="521208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event log + graph versioning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View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Flink pipeline + Neo4j graph model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Processing Pipeline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RFID/barcode scan → Kafka → Flink deserialization + validation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SAP side-input enriches with BOM + work-order context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Exactly-once dedup via checkpoint (scan_id key, RocksDB)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Fan-out: Neo4j (graph edge) + SAP (quality) + S3 (audit log)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Scope Query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supplier lot ID (e.g., "L-2026-0419")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Cypher traversal: Supplier → Component → Vehicle in &lt;100ms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precise list of affected VINs (no over-scope)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0" y="1280160"/>
            <a:ext cx="5760720" cy="2286000"/>
          </a:xfrm>
          <a:prstGeom prst="rect">
            <a:avLst/>
          </a:prstGeom>
          <a:solidFill>
            <a:srgbClr val="F0F2F5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53328" y="1371600"/>
            <a:ext cx="554126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Neo4j Graph Schema (Cypher)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(:Vehicle {vin: "KMHXX...", plant: "HMGMA"})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(:Component {id: "PT-82910", type: "harness"})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(:Supplier {name: "SupplierX", lot: "L-2026-0419"})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(:Station {id: "ASM-04-L2", line: "IONIQ-5"})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Relationships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(v:Vehicle)-[:CONTAINS {ts, work_order}]-&gt;(c:Component)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(c:Component)-[:SUPPLIED_BY {lot, received}]-&gt;(s:Supplier)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(c:Component)-[:INSTALLED_AT {ts, operator}]-&gt;(st:Station)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3749040"/>
            <a:ext cx="5760720" cy="2103120"/>
          </a:xfrm>
          <a:prstGeom prst="rect">
            <a:avLst/>
          </a:prstGeom>
          <a:solidFill>
            <a:srgbClr val="F0F2F5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53328" y="3840480"/>
            <a:ext cx="554126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Recall Scope Query — &lt;100ms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(s:Supplier {lot: $lot_id})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&lt;-[:SUPPLIED_BY]-(c:Component)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-[:CONTAINED_IN]-&gt;(v:Vehicle)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v.vin, c.id, c.type,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v.plant, v.assembly_date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v.assembly_date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Result: 3,247 affected VINs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(vs. 50,000 over-scoped manually)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Execution time: 47ms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from peer-OEM traceability deployments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029200" cy="457200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Impact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46634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011680"/>
            <a:ext cx="54864" cy="73152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574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Response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35915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time: weeks → minutes. Precise VIN isolation eliminates $2M+ over-scope per event.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926080"/>
            <a:ext cx="46634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926080"/>
            <a:ext cx="54864" cy="731520"/>
          </a:xfrm>
          <a:prstGeom prst="rect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9718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Compliance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27355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15-year immutable event log. One-click NHTSA/KBA compliance packs. Zero audit gaps.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840480"/>
            <a:ext cx="46634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840480"/>
            <a:ext cx="54864" cy="7315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8862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Quality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418795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ML-driven risk scoring by supplier × component type. Proactive quality management.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4754880"/>
            <a:ext cx="46634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754880"/>
            <a:ext cx="54864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8006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Visibility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510235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scan coverage KPIs. Gap alerts before vehicles leave the line.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0" y="137160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7200" dirty="0"/>
          </a:p>
        </p:txBody>
      </p:sp>
      <p:sp>
        <p:nvSpPr>
          <p:cNvPr id="23" name="Text 21"/>
          <p:cNvSpPr/>
          <p:nvPr/>
        </p:nvSpPr>
        <p:spPr>
          <a:xfrm>
            <a:off x="6217920" y="22860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traceability — every component tracked from supplier to vehicle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17920" y="274320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-70%</a:t>
            </a:r>
            <a:endParaRPr lang="en-US" sz="7200" dirty="0"/>
          </a:p>
        </p:txBody>
      </p:sp>
      <p:sp>
        <p:nvSpPr>
          <p:cNvPr id="25" name="Text 23"/>
          <p:cNvSpPr/>
          <p:nvPr/>
        </p:nvSpPr>
        <p:spPr>
          <a:xfrm>
            <a:off x="6217920" y="3657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investigation time — from weeks to minutes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17920" y="411480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&lt;100ms</a:t>
            </a:r>
            <a:endParaRPr lang="en-US" sz="7200" dirty="0"/>
          </a:p>
        </p:txBody>
      </p:sp>
      <p:sp>
        <p:nvSpPr>
          <p:cNvPr id="27" name="Text 25"/>
          <p:cNvSpPr/>
          <p:nvPr/>
        </p:nvSpPr>
        <p:spPr>
          <a:xfrm>
            <a:off x="6217920" y="50292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query — recall scope across millions of nodes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 Flow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RFID scan to recall scope calculation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Scan → Genealogy Graph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05840" y="1691640"/>
            <a:ext cx="411480" cy="411480"/>
          </a:xfrm>
          <a:prstGeom prst="ellipse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91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1554480" cy="109728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286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tag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at station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11680" y="25146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88920" y="1691640"/>
            <a:ext cx="411480" cy="411480"/>
          </a:xfrm>
          <a:prstGeom prst="ellipse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88920" y="1691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240280" y="2240280"/>
            <a:ext cx="1554480" cy="109728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31720" y="2286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31720" y="27432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gateway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event topic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94760" y="25146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0" y="1691640"/>
            <a:ext cx="411480" cy="411480"/>
          </a:xfrm>
          <a:prstGeom prst="ellipse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1691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023360" y="2240280"/>
            <a:ext cx="1554480" cy="109728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0" y="2286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Flink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0" y="27432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Validate, enrich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BOM, dedup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77840" y="25146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55080" y="1691640"/>
            <a:ext cx="411480" cy="411480"/>
          </a:xfrm>
          <a:prstGeom prst="ellipse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1691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806440" y="2240280"/>
            <a:ext cx="1554480" cy="109728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2286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97880" y="27432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graph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+ node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60920" y="25146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38160" y="1691640"/>
            <a:ext cx="411480" cy="411480"/>
          </a:xfrm>
          <a:prstGeom prst="ellipse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38160" y="1691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589520" y="2240280"/>
            <a:ext cx="1554480" cy="109728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80960" y="2286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Write-back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680960" y="27432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record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144000" y="25146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921240" y="1691640"/>
            <a:ext cx="411480" cy="411480"/>
          </a:xfrm>
          <a:prstGeom prst="ellipse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921240" y="1691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372600" y="2240280"/>
            <a:ext cx="1554480" cy="109728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464040" y="2286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464040" y="27432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KPI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3840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Investigation — Supplier Lot → Affected VINs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188720" y="4297680"/>
            <a:ext cx="365760" cy="365760"/>
          </a:xfrm>
          <a:prstGeom prst="ellipse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88720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57200" y="4754880"/>
            <a:ext cx="1920240" cy="1005840"/>
          </a:xfrm>
          <a:prstGeom prst="rect">
            <a:avLst/>
          </a:prstGeom>
          <a:solidFill>
            <a:srgbClr val="FEE2E2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477316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48640" y="51663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flags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lot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377440" y="50292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383280" y="4297680"/>
            <a:ext cx="365760" cy="365760"/>
          </a:xfrm>
          <a:prstGeom prst="ellipse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83280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2651760" y="4754880"/>
            <a:ext cx="1920240" cy="1005840"/>
          </a:xfrm>
          <a:prstGeom prst="rect">
            <a:avLst/>
          </a:prstGeom>
          <a:solidFill>
            <a:srgbClr val="FEE2E2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43200" y="477316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2743200" y="51663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Cypher traversal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&lt;100ms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572000" y="50292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577840" y="4297680"/>
            <a:ext cx="365760" cy="365760"/>
          </a:xfrm>
          <a:prstGeom prst="ellipse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577840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4846320" y="4754880"/>
            <a:ext cx="1920240" cy="1005840"/>
          </a:xfrm>
          <a:prstGeom prst="rect">
            <a:avLst/>
          </a:prstGeom>
          <a:solidFill>
            <a:srgbClr val="FEE2E2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37760" y="477316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 List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937760" y="51663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3,247 affected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 50,000)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766560" y="50292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7772400" y="4297680"/>
            <a:ext cx="365760" cy="365760"/>
          </a:xfrm>
          <a:prstGeom prst="ellipse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772400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7040880" y="4754880"/>
            <a:ext cx="1920240" cy="1005840"/>
          </a:xfrm>
          <a:prstGeom prst="rect">
            <a:avLst/>
          </a:prstGeom>
          <a:solidFill>
            <a:srgbClr val="FEE2E2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132320" y="477316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7132320" y="51663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NHTSA/KBA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export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961120" y="50292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9966960" y="4297680"/>
            <a:ext cx="365760" cy="365760"/>
          </a:xfrm>
          <a:prstGeom prst="ellipse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966960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9235440" y="4754880"/>
            <a:ext cx="1920240" cy="1005840"/>
          </a:xfrm>
          <a:prstGeom prst="rect">
            <a:avLst/>
          </a:prstGeom>
          <a:solidFill>
            <a:srgbClr val="FEE2E2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326880" y="477316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9326880" y="51663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flagged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over-scope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Next Steps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5661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0"/>
            <a:ext cx="3566160" cy="347472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426464"/>
            <a:ext cx="3346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Stream-to-Graph Pipeline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1773936"/>
            <a:ext cx="3346704" cy="2048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Flink ingests 50K events/sec with exactly-once semantics. Neo4j stores the natural genealogy model — Vehicle→Component→Supplier→Station. &lt;100ms recall scope queries across millions of nodes. No data loss, no duplicates, no audit gaps.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371600"/>
            <a:ext cx="35661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0" y="1371600"/>
            <a:ext cx="3566160" cy="347472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07408" y="1426464"/>
            <a:ext cx="3346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Integration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07408" y="1773936"/>
            <a:ext cx="3346704" cy="2048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SAP MES/ERP integration — no parallel system of record. Quality write-back, BOM context enrichment, supplier master data. Immutable event log on S3/ADLS with 15-year retention for NHTSA/KBA compliance. Tamper-proof by design.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0" y="1371600"/>
            <a:ext cx="35661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371600"/>
            <a:ext cx="3566160" cy="347472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7888" y="1426464"/>
            <a:ext cx="3346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Pilot-First Rollout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47888" y="1773936"/>
            <a:ext cx="3346704" cy="2048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HMGMA Metaplant America — IONIQ 5/9 assembly line. 3 RFID gates + 8 barcode stations + 2 vision OCR. Prove 100% traceability and &lt;100ms recall query in 12 weeks. Scale to Ulsan, Asan, HMMA, HMMC, HMI without re-architecture.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2062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1127455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over relational — Neo4j matches the natural relationship model; &lt;100ms at any traversal depth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Exactly-once via Flink checkpoints — zero audit gaps, regulatory-grade data integrity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SAP — no parallel system of record; operators use the tools they already know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event log — 15-year tamper-proof audit trail on S3/ADLS at low storage cost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6263640"/>
            <a:ext cx="11457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Pilot Scoping Workshop at HMGMA — walk the line, map scan points, lock KPIs.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2026-05-19T19:32:21Z</dcterms:created>
  <dcterms:modified xsi:type="dcterms:W3CDTF">2026-05-19T19:32:21Z</dcterms:modified>
</cp:coreProperties>
</file>
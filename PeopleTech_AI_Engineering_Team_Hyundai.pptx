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 id="274" r:id="rId25"/>
    <p:sldId id="275" r:id="rId26"/>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 Id="rId25" Type="http://schemas.openxmlformats.org/officeDocument/2006/relationships/slide" Target="slides/slide19.xml"/><Relationship Id="rId26" Type="http://schemas.openxmlformats.org/officeDocument/2006/relationships/slide" Target="slides/slide20.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73152" cy="685800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731520" y="822960"/>
            <a:ext cx="7315200" cy="274320"/>
          </a:xfrm>
          <a:prstGeom prst="rect">
            <a:avLst/>
          </a:prstGeom>
          <a:noFill/>
        </p:spPr>
        <p:txBody>
          <a:bodyPr wrap="square">
            <a:spAutoFit/>
          </a:bodyPr>
          <a:lstStyle/>
          <a:p>
            <a:pPr algn="l"/>
            <a:r>
              <a:rPr sz="1200" b="1">
                <a:solidFill>
                  <a:srgbClr val="CBD5E1"/>
                </a:solidFill>
                <a:latin typeface="Calibri"/>
              </a:rPr>
              <a:t>AI ENGINEERING TEAM · 제조 AI</a:t>
            </a:r>
          </a:p>
        </p:txBody>
      </p:sp>
      <p:sp>
        <p:nvSpPr>
          <p:cNvPr id="5" name="TextBox 4"/>
          <p:cNvSpPr txBox="1"/>
          <p:nvPr/>
        </p:nvSpPr>
        <p:spPr>
          <a:xfrm>
            <a:off x="731520" y="1188720"/>
            <a:ext cx="10972800" cy="1280160"/>
          </a:xfrm>
          <a:prstGeom prst="rect">
            <a:avLst/>
          </a:prstGeom>
          <a:noFill/>
        </p:spPr>
        <p:txBody>
          <a:bodyPr wrap="square">
            <a:spAutoFit/>
          </a:bodyPr>
          <a:lstStyle/>
          <a:p>
            <a:pPr algn="l"/>
            <a:r>
              <a:rPr sz="4800" b="1">
                <a:solidFill>
                  <a:srgbClr val="FFFFFF"/>
                </a:solidFill>
                <a:latin typeface="Calibri"/>
              </a:rPr>
              <a:t>The AI Engineering Team</a:t>
            </a:r>
            <a:br/>
            <a:r>
              <a:t>for Manufacturing</a:t>
            </a:r>
          </a:p>
        </p:txBody>
      </p:sp>
      <p:sp>
        <p:nvSpPr>
          <p:cNvPr id="6" name="TextBox 5"/>
          <p:cNvSpPr txBox="1"/>
          <p:nvPr/>
        </p:nvSpPr>
        <p:spPr>
          <a:xfrm>
            <a:off x="731520" y="2468880"/>
            <a:ext cx="10972800" cy="640080"/>
          </a:xfrm>
          <a:prstGeom prst="rect">
            <a:avLst/>
          </a:prstGeom>
          <a:noFill/>
        </p:spPr>
        <p:txBody>
          <a:bodyPr wrap="square">
            <a:spAutoFit/>
          </a:bodyPr>
          <a:lstStyle/>
          <a:p>
            <a:pPr algn="l"/>
            <a:r>
              <a:rPr sz="3000" b="0">
                <a:solidFill>
                  <a:srgbClr val="94A3B8"/>
                </a:solidFill>
                <a:latin typeface="Calibri"/>
              </a:rPr>
              <a:t>Hyundai  ·  PeopleTech</a:t>
            </a:r>
          </a:p>
        </p:txBody>
      </p:sp>
      <p:sp>
        <p:nvSpPr>
          <p:cNvPr id="7" name="Rectangle 6"/>
          <p:cNvSpPr/>
          <p:nvPr/>
        </p:nvSpPr>
        <p:spPr>
          <a:xfrm>
            <a:off x="731520" y="3246120"/>
            <a:ext cx="3200400" cy="36576"/>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731520" y="3657600"/>
            <a:ext cx="475488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731520" y="3657600"/>
            <a:ext cx="36576" cy="45720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914400" y="3657600"/>
            <a:ext cx="4526280" cy="457200"/>
          </a:xfrm>
          <a:prstGeom prst="rect">
            <a:avLst/>
          </a:prstGeom>
          <a:noFill/>
        </p:spPr>
        <p:txBody>
          <a:bodyPr wrap="square">
            <a:spAutoFit/>
          </a:bodyPr>
          <a:lstStyle/>
          <a:p>
            <a:pPr algn="l"/>
            <a:r>
              <a:rPr sz="1200" b="0">
                <a:solidFill>
                  <a:srgbClr val="E2E8F0"/>
                </a:solidFill>
                <a:latin typeface="Calibri"/>
              </a:rPr>
              <a:t>✓ 87% of AI pilots fail. Ours don't.</a:t>
            </a:r>
          </a:p>
        </p:txBody>
      </p:sp>
      <p:sp>
        <p:nvSpPr>
          <p:cNvPr id="11" name="Rectangle 10"/>
          <p:cNvSpPr/>
          <p:nvPr/>
        </p:nvSpPr>
        <p:spPr>
          <a:xfrm>
            <a:off x="5852160" y="3657600"/>
            <a:ext cx="475488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5852160" y="3657600"/>
            <a:ext cx="36576" cy="45720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035040" y="3657600"/>
            <a:ext cx="4526280" cy="457200"/>
          </a:xfrm>
          <a:prstGeom prst="rect">
            <a:avLst/>
          </a:prstGeom>
          <a:noFill/>
        </p:spPr>
        <p:txBody>
          <a:bodyPr wrap="square">
            <a:spAutoFit/>
          </a:bodyPr>
          <a:lstStyle/>
          <a:p>
            <a:pPr algn="l"/>
            <a:r>
              <a:rPr sz="1200" b="0">
                <a:solidFill>
                  <a:srgbClr val="E2E8F0"/>
                </a:solidFill>
                <a:latin typeface="Calibri"/>
              </a:rPr>
              <a:t>✓ 3-person pod, 10-person output</a:t>
            </a:r>
          </a:p>
        </p:txBody>
      </p:sp>
      <p:sp>
        <p:nvSpPr>
          <p:cNvPr id="14" name="Rectangle 13"/>
          <p:cNvSpPr/>
          <p:nvPr/>
        </p:nvSpPr>
        <p:spPr>
          <a:xfrm>
            <a:off x="731520" y="4251960"/>
            <a:ext cx="475488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731520" y="4251960"/>
            <a:ext cx="36576" cy="45720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914400" y="4251960"/>
            <a:ext cx="4526280" cy="457200"/>
          </a:xfrm>
          <a:prstGeom prst="rect">
            <a:avLst/>
          </a:prstGeom>
          <a:noFill/>
        </p:spPr>
        <p:txBody>
          <a:bodyPr wrap="square">
            <a:spAutoFit/>
          </a:bodyPr>
          <a:lstStyle/>
          <a:p>
            <a:pPr algn="l"/>
            <a:r>
              <a:rPr sz="1200" b="0">
                <a:solidFill>
                  <a:srgbClr val="E2E8F0"/>
                </a:solidFill>
                <a:latin typeface="Calibri"/>
              </a:rPr>
              <a:t>✓ Fixed-price outcomes in 8 weeks</a:t>
            </a:r>
          </a:p>
        </p:txBody>
      </p:sp>
      <p:sp>
        <p:nvSpPr>
          <p:cNvPr id="17" name="Rectangle 16"/>
          <p:cNvSpPr/>
          <p:nvPr/>
        </p:nvSpPr>
        <p:spPr>
          <a:xfrm>
            <a:off x="5852160" y="4251960"/>
            <a:ext cx="4754880" cy="457200"/>
          </a:xfrm>
          <a:prstGeom prst="rect">
            <a:avLst/>
          </a:prstGeom>
          <a:solidFill>
            <a:srgbClr val="1E293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Rectangle 17"/>
          <p:cNvSpPr/>
          <p:nvPr/>
        </p:nvSpPr>
        <p:spPr>
          <a:xfrm>
            <a:off x="5852160" y="4251960"/>
            <a:ext cx="36576" cy="45720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035040" y="4251960"/>
            <a:ext cx="4526280" cy="457200"/>
          </a:xfrm>
          <a:prstGeom prst="rect">
            <a:avLst/>
          </a:prstGeom>
          <a:noFill/>
        </p:spPr>
        <p:txBody>
          <a:bodyPr wrap="square">
            <a:spAutoFit/>
          </a:bodyPr>
          <a:lstStyle/>
          <a:p>
            <a:pPr algn="l"/>
            <a:r>
              <a:rPr sz="1200" b="0">
                <a:solidFill>
                  <a:srgbClr val="E2E8F0"/>
                </a:solidFill>
                <a:latin typeface="Calibri"/>
              </a:rPr>
              <a:t>✓ Korea-region data sovereignty (ISMS-P)</a:t>
            </a:r>
          </a:p>
        </p:txBody>
      </p:sp>
      <p:sp>
        <p:nvSpPr>
          <p:cNvPr id="20" name="TextBox 19"/>
          <p:cNvSpPr txBox="1"/>
          <p:nvPr/>
        </p:nvSpPr>
        <p:spPr>
          <a:xfrm>
            <a:off x="731520" y="5212080"/>
            <a:ext cx="10972800" cy="320040"/>
          </a:xfrm>
          <a:prstGeom prst="rect">
            <a:avLst/>
          </a:prstGeom>
          <a:noFill/>
        </p:spPr>
        <p:txBody>
          <a:bodyPr wrap="square">
            <a:spAutoFit/>
          </a:bodyPr>
          <a:lstStyle/>
          <a:p>
            <a:pPr algn="l"/>
            <a:r>
              <a:rPr sz="1200" b="0">
                <a:solidFill>
                  <a:srgbClr val="94A3B8"/>
                </a:solidFill>
                <a:latin typeface="Calibri"/>
              </a:rPr>
              <a:t>Digital Transformation Lead · Plant Operations · AI 엔지니어링 팀</a:t>
            </a:r>
          </a:p>
        </p:txBody>
      </p:sp>
      <p:sp>
        <p:nvSpPr>
          <p:cNvPr id="21" name="TextBox 20"/>
          <p:cNvSpPr txBox="1"/>
          <p:nvPr/>
        </p:nvSpPr>
        <p:spPr>
          <a:xfrm>
            <a:off x="731520" y="5577840"/>
            <a:ext cx="10972800" cy="274320"/>
          </a:xfrm>
          <a:prstGeom prst="rect">
            <a:avLst/>
          </a:prstGeom>
          <a:noFill/>
        </p:spPr>
        <p:txBody>
          <a:bodyPr wrap="square">
            <a:spAutoFit/>
          </a:bodyPr>
          <a:lstStyle/>
          <a:p>
            <a:pPr algn="l"/>
            <a:r>
              <a:rPr sz="1000" b="0">
                <a:solidFill>
                  <a:srgbClr val="94A3B8"/>
                </a:solidFill>
                <a:latin typeface="Calibri"/>
              </a:rPr>
              <a:t>8 Use Cases · Visual Inspection · Predictive Maintenance · Safety · Traceability</a:t>
            </a:r>
          </a:p>
        </p:txBody>
      </p:sp>
      <p:sp>
        <p:nvSpPr>
          <p:cNvPr id="22" name="TextBox 21"/>
          <p:cNvSpPr txBox="1"/>
          <p:nvPr/>
        </p:nvSpPr>
        <p:spPr>
          <a:xfrm>
            <a:off x="10515600" y="6446520"/>
            <a:ext cx="1371600" cy="365760"/>
          </a:xfrm>
          <a:prstGeom prst="rect">
            <a:avLst/>
          </a:prstGeom>
          <a:noFill/>
        </p:spPr>
        <p:txBody>
          <a:bodyPr wrap="square">
            <a:spAutoFit/>
          </a:bodyPr>
          <a:lstStyle/>
          <a:p>
            <a:pPr algn="r"/>
            <a:r>
              <a:rPr sz="900" b="0">
                <a:solidFill>
                  <a:srgbClr val="94A3B8"/>
                </a:solidFill>
                <a:latin typeface="Calibri"/>
              </a:rPr>
              <a:t>01 / 20</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THE PROBLEM</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The Pilot Graveyard  파일럿의 무덤</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Manufacturing AI Reality</a:t>
            </a:r>
          </a:p>
        </p:txBody>
      </p:sp>
      <p:sp>
        <p:nvSpPr>
          <p:cNvPr id="7" name="TextBox 6"/>
          <p:cNvSpPr txBox="1"/>
          <p:nvPr/>
        </p:nvSpPr>
        <p:spPr>
          <a:xfrm>
            <a:off x="457200" y="1097280"/>
            <a:ext cx="10972800" cy="1554480"/>
          </a:xfrm>
          <a:prstGeom prst="rect">
            <a:avLst/>
          </a:prstGeom>
          <a:noFill/>
        </p:spPr>
        <p:txBody>
          <a:bodyPr wrap="square">
            <a:spAutoFit/>
          </a:bodyPr>
          <a:lstStyle/>
          <a:p>
            <a:pPr algn="ctr"/>
            <a:r>
              <a:rPr sz="18000" b="1">
                <a:solidFill>
                  <a:srgbClr val="DC2626"/>
                </a:solidFill>
                <a:latin typeface="Calibri"/>
              </a:rPr>
              <a:t>87%</a:t>
            </a:r>
          </a:p>
        </p:txBody>
      </p:sp>
      <p:sp>
        <p:nvSpPr>
          <p:cNvPr id="8" name="TextBox 7"/>
          <p:cNvSpPr txBox="1"/>
          <p:nvPr/>
        </p:nvSpPr>
        <p:spPr>
          <a:xfrm>
            <a:off x="457200" y="2651760"/>
            <a:ext cx="10972800" cy="457200"/>
          </a:xfrm>
          <a:prstGeom prst="rect">
            <a:avLst/>
          </a:prstGeom>
          <a:noFill/>
        </p:spPr>
        <p:txBody>
          <a:bodyPr wrap="square">
            <a:spAutoFit/>
          </a:bodyPr>
          <a:lstStyle/>
          <a:p>
            <a:pPr algn="ctr"/>
            <a:r>
              <a:rPr sz="2400" b="1">
                <a:solidFill>
                  <a:srgbClr val="1A2754"/>
                </a:solidFill>
                <a:latin typeface="Calibri"/>
              </a:rPr>
              <a:t>of manufacturing AI pilots never reach production.</a:t>
            </a:r>
          </a:p>
        </p:txBody>
      </p:sp>
      <p:sp>
        <p:nvSpPr>
          <p:cNvPr id="9" name="TextBox 8"/>
          <p:cNvSpPr txBox="1"/>
          <p:nvPr/>
        </p:nvSpPr>
        <p:spPr>
          <a:xfrm>
            <a:off x="2286000" y="3246120"/>
            <a:ext cx="7315200" cy="640080"/>
          </a:xfrm>
          <a:prstGeom prst="rect">
            <a:avLst/>
          </a:prstGeom>
          <a:noFill/>
        </p:spPr>
        <p:txBody>
          <a:bodyPr wrap="square">
            <a:spAutoFit/>
          </a:bodyPr>
          <a:lstStyle/>
          <a:p>
            <a:pPr algn="ctr"/>
            <a:r>
              <a:rPr sz="1500" b="0">
                <a:solidFill>
                  <a:srgbClr val="475569"/>
                </a:solidFill>
                <a:latin typeface="Calibri"/>
              </a:rPr>
              <a:t>The problem isn't AI technology.</a:t>
            </a:r>
            <a:br/>
            <a:r>
              <a:t>The problem is engineering delivery.</a:t>
            </a:r>
          </a:p>
        </p:txBody>
      </p:sp>
      <p:sp>
        <p:nvSpPr>
          <p:cNvPr id="10" name="Rectangle 9"/>
          <p:cNvSpPr/>
          <p:nvPr/>
        </p:nvSpPr>
        <p:spPr>
          <a:xfrm>
            <a:off x="457200" y="4114800"/>
            <a:ext cx="11247120" cy="3657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4114800"/>
            <a:ext cx="10881360" cy="365760"/>
          </a:xfrm>
          <a:prstGeom prst="rect">
            <a:avLst/>
          </a:prstGeom>
          <a:noFill/>
        </p:spPr>
        <p:txBody>
          <a:bodyPr wrap="square">
            <a:spAutoFit/>
          </a:bodyPr>
          <a:lstStyle/>
          <a:p>
            <a:pPr algn="l"/>
            <a:r>
              <a:rPr sz="900" b="0">
                <a:solidFill>
                  <a:srgbClr val="64748B"/>
                </a:solidFill>
                <a:latin typeface="Calibri"/>
              </a:rPr>
              <a:t>Source: Manufacturing Dive / Gartner, 2024-2025 industry surveys</a:t>
            </a:r>
          </a:p>
        </p:txBody>
      </p:sp>
      <p:sp>
        <p:nvSpPr>
          <p:cNvPr id="12" name="Rectangle 11"/>
          <p:cNvSpPr/>
          <p:nvPr/>
        </p:nvSpPr>
        <p:spPr>
          <a:xfrm>
            <a:off x="457200" y="4663440"/>
            <a:ext cx="3566160" cy="1554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4663440"/>
            <a:ext cx="356616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4800600"/>
            <a:ext cx="3200400" cy="502920"/>
          </a:xfrm>
          <a:prstGeom prst="rect">
            <a:avLst/>
          </a:prstGeom>
          <a:noFill/>
        </p:spPr>
        <p:txBody>
          <a:bodyPr wrap="square">
            <a:spAutoFit/>
          </a:bodyPr>
          <a:lstStyle/>
          <a:p>
            <a:pPr algn="l"/>
            <a:r>
              <a:rPr sz="3000" b="1">
                <a:solidFill>
                  <a:srgbClr val="DC2626"/>
                </a:solidFill>
                <a:latin typeface="Calibri"/>
              </a:rPr>
              <a:t>$22K/min</a:t>
            </a:r>
          </a:p>
        </p:txBody>
      </p:sp>
      <p:sp>
        <p:nvSpPr>
          <p:cNvPr id="15" name="TextBox 14"/>
          <p:cNvSpPr txBox="1"/>
          <p:nvPr/>
        </p:nvSpPr>
        <p:spPr>
          <a:xfrm>
            <a:off x="640080" y="5303520"/>
            <a:ext cx="3200400" cy="640080"/>
          </a:xfrm>
          <a:prstGeom prst="rect">
            <a:avLst/>
          </a:prstGeom>
          <a:noFill/>
        </p:spPr>
        <p:txBody>
          <a:bodyPr wrap="square">
            <a:spAutoFit/>
          </a:bodyPr>
          <a:lstStyle/>
          <a:p>
            <a:pPr algn="l"/>
            <a:r>
              <a:rPr sz="1000" b="0">
                <a:solidFill>
                  <a:srgbClr val="475569"/>
                </a:solidFill>
                <a:latin typeface="Calibri"/>
              </a:rPr>
              <a:t>Average cost of unplanned</a:t>
            </a:r>
            <a:br/>
            <a:r>
              <a:t>downtime at scale plants</a:t>
            </a:r>
          </a:p>
        </p:txBody>
      </p:sp>
      <p:sp>
        <p:nvSpPr>
          <p:cNvPr id="16" name="Rectangle 15"/>
          <p:cNvSpPr/>
          <p:nvPr/>
        </p:nvSpPr>
        <p:spPr>
          <a:xfrm>
            <a:off x="4206240" y="4663440"/>
            <a:ext cx="3566160" cy="1554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206240" y="4663440"/>
            <a:ext cx="356616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4389120" y="4800600"/>
            <a:ext cx="3200400" cy="502920"/>
          </a:xfrm>
          <a:prstGeom prst="rect">
            <a:avLst/>
          </a:prstGeom>
          <a:noFill/>
        </p:spPr>
        <p:txBody>
          <a:bodyPr wrap="square">
            <a:spAutoFit/>
          </a:bodyPr>
          <a:lstStyle/>
          <a:p>
            <a:pPr algn="l"/>
            <a:r>
              <a:rPr sz="3000" b="1">
                <a:solidFill>
                  <a:srgbClr val="DC2626"/>
                </a:solidFill>
                <a:latin typeface="Calibri"/>
              </a:rPr>
              <a:t>8%+</a:t>
            </a:r>
          </a:p>
        </p:txBody>
      </p:sp>
      <p:sp>
        <p:nvSpPr>
          <p:cNvPr id="19" name="TextBox 18"/>
          <p:cNvSpPr txBox="1"/>
          <p:nvPr/>
        </p:nvSpPr>
        <p:spPr>
          <a:xfrm>
            <a:off x="4389120" y="5303520"/>
            <a:ext cx="3200400" cy="640080"/>
          </a:xfrm>
          <a:prstGeom prst="rect">
            <a:avLst/>
          </a:prstGeom>
          <a:noFill/>
        </p:spPr>
        <p:txBody>
          <a:bodyPr wrap="square">
            <a:spAutoFit/>
          </a:bodyPr>
          <a:lstStyle/>
          <a:p>
            <a:pPr algn="l"/>
            <a:r>
              <a:rPr sz="1000" b="0">
                <a:solidFill>
                  <a:srgbClr val="475569"/>
                </a:solidFill>
                <a:latin typeface="Calibri"/>
              </a:rPr>
              <a:t>Rework rate on premium</a:t>
            </a:r>
            <a:br/>
            <a:r>
              <a:t>assembly lines</a:t>
            </a:r>
          </a:p>
        </p:txBody>
      </p:sp>
      <p:sp>
        <p:nvSpPr>
          <p:cNvPr id="20" name="Rectangle 19"/>
          <p:cNvSpPr/>
          <p:nvPr/>
        </p:nvSpPr>
        <p:spPr>
          <a:xfrm>
            <a:off x="7955280" y="4663440"/>
            <a:ext cx="3566160" cy="1554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7955280" y="4663440"/>
            <a:ext cx="3566160" cy="54864"/>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8138160" y="4800600"/>
            <a:ext cx="3200400" cy="502920"/>
          </a:xfrm>
          <a:prstGeom prst="rect">
            <a:avLst/>
          </a:prstGeom>
          <a:noFill/>
        </p:spPr>
        <p:txBody>
          <a:bodyPr wrap="square">
            <a:spAutoFit/>
          </a:bodyPr>
          <a:lstStyle/>
          <a:p>
            <a:pPr algn="l"/>
            <a:r>
              <a:rPr sz="3000" b="1">
                <a:solidFill>
                  <a:srgbClr val="DC2626"/>
                </a:solidFill>
                <a:latin typeface="Calibri"/>
              </a:rPr>
              <a:t>6+ months</a:t>
            </a:r>
          </a:p>
        </p:txBody>
      </p:sp>
      <p:sp>
        <p:nvSpPr>
          <p:cNvPr id="23" name="TextBox 22"/>
          <p:cNvSpPr txBox="1"/>
          <p:nvPr/>
        </p:nvSpPr>
        <p:spPr>
          <a:xfrm>
            <a:off x="8138160" y="5303520"/>
            <a:ext cx="3200400" cy="640080"/>
          </a:xfrm>
          <a:prstGeom prst="rect">
            <a:avLst/>
          </a:prstGeom>
          <a:noFill/>
        </p:spPr>
        <p:txBody>
          <a:bodyPr wrap="square">
            <a:spAutoFit/>
          </a:bodyPr>
          <a:lstStyle/>
          <a:p>
            <a:pPr algn="l"/>
            <a:r>
              <a:rPr sz="1000" b="0">
                <a:solidFill>
                  <a:srgbClr val="475569"/>
                </a:solidFill>
                <a:latin typeface="Calibri"/>
              </a:rPr>
              <a:t>Average time-to-pilot with</a:t>
            </a:r>
            <a:br/>
            <a:r>
              <a:t>traditional SI delivery</a:t>
            </a:r>
          </a:p>
        </p:txBody>
      </p:sp>
      <p:sp>
        <p:nvSpPr>
          <p:cNvPr id="24" name="Rectangle 23"/>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26" name="TextBox 25"/>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02 / 20 · CONFIDENTIAL</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THE PROBLEM</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Why Pilots Fail  파일럿 실패 원인</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The Traditional SI Trap</a:t>
            </a:r>
          </a:p>
        </p:txBody>
      </p:sp>
      <p:sp>
        <p:nvSpPr>
          <p:cNvPr id="7" name="TextBox 6"/>
          <p:cNvSpPr txBox="1"/>
          <p:nvPr/>
        </p:nvSpPr>
        <p:spPr>
          <a:xfrm>
            <a:off x="457200" y="1097280"/>
            <a:ext cx="10972800" cy="502920"/>
          </a:xfrm>
          <a:prstGeom prst="rect">
            <a:avLst/>
          </a:prstGeom>
          <a:noFill/>
        </p:spPr>
        <p:txBody>
          <a:bodyPr wrap="square">
            <a:spAutoFit/>
          </a:bodyPr>
          <a:lstStyle/>
          <a:p>
            <a:pPr algn="l"/>
            <a:r>
              <a:rPr sz="2000" b="1">
                <a:solidFill>
                  <a:srgbClr val="1A2754"/>
                </a:solidFill>
                <a:latin typeface="Calibri"/>
              </a:rPr>
              <a:t>Three reasons manufacturing AI pilots die — and all three describe traditional SIs.</a:t>
            </a:r>
          </a:p>
        </p:txBody>
      </p:sp>
      <p:sp>
        <p:nvSpPr>
          <p:cNvPr id="8" name="Rectangle 7"/>
          <p:cNvSpPr/>
          <p:nvPr/>
        </p:nvSpPr>
        <p:spPr>
          <a:xfrm>
            <a:off x="457200" y="1828800"/>
            <a:ext cx="11247120" cy="12801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828800"/>
            <a:ext cx="54864" cy="128016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920240"/>
            <a:ext cx="731520" cy="365760"/>
          </a:xfrm>
          <a:prstGeom prst="rect">
            <a:avLst/>
          </a:prstGeom>
          <a:noFill/>
        </p:spPr>
        <p:txBody>
          <a:bodyPr wrap="square">
            <a:spAutoFit/>
          </a:bodyPr>
          <a:lstStyle/>
          <a:p>
            <a:pPr algn="l"/>
            <a:r>
              <a:rPr sz="2400" b="1">
                <a:solidFill>
                  <a:srgbClr val="DC2626"/>
                </a:solidFill>
                <a:latin typeface="Calibri"/>
              </a:rPr>
              <a:t>01</a:t>
            </a:r>
          </a:p>
        </p:txBody>
      </p:sp>
      <p:sp>
        <p:nvSpPr>
          <p:cNvPr id="11" name="TextBox 10"/>
          <p:cNvSpPr txBox="1"/>
          <p:nvPr/>
        </p:nvSpPr>
        <p:spPr>
          <a:xfrm>
            <a:off x="1371600" y="1920240"/>
            <a:ext cx="4114800" cy="274320"/>
          </a:xfrm>
          <a:prstGeom prst="rect">
            <a:avLst/>
          </a:prstGeom>
          <a:noFill/>
        </p:spPr>
        <p:txBody>
          <a:bodyPr wrap="square">
            <a:spAutoFit/>
          </a:bodyPr>
          <a:lstStyle/>
          <a:p>
            <a:pPr algn="l"/>
            <a:r>
              <a:rPr sz="1500" b="1">
                <a:solidFill>
                  <a:srgbClr val="1A2754"/>
                </a:solidFill>
                <a:latin typeface="Calibri"/>
              </a:rPr>
              <a:t>TOO SLOW</a:t>
            </a:r>
          </a:p>
        </p:txBody>
      </p:sp>
      <p:sp>
        <p:nvSpPr>
          <p:cNvPr id="12" name="TextBox 11"/>
          <p:cNvSpPr txBox="1"/>
          <p:nvPr/>
        </p:nvSpPr>
        <p:spPr>
          <a:xfrm>
            <a:off x="1371600" y="2194560"/>
            <a:ext cx="4114800" cy="274320"/>
          </a:xfrm>
          <a:prstGeom prst="rect">
            <a:avLst/>
          </a:prstGeom>
          <a:noFill/>
        </p:spPr>
        <p:txBody>
          <a:bodyPr wrap="square">
            <a:spAutoFit/>
          </a:bodyPr>
          <a:lstStyle/>
          <a:p>
            <a:pPr algn="l"/>
            <a:r>
              <a:rPr sz="1100" b="0">
                <a:solidFill>
                  <a:srgbClr val="64748B"/>
                </a:solidFill>
                <a:latin typeface="Calibri"/>
              </a:rPr>
              <a:t>Delivery takes 6+ months</a:t>
            </a:r>
          </a:p>
        </p:txBody>
      </p:sp>
      <p:sp>
        <p:nvSpPr>
          <p:cNvPr id="13" name="TextBox 12"/>
          <p:cNvSpPr txBox="1"/>
          <p:nvPr/>
        </p:nvSpPr>
        <p:spPr>
          <a:xfrm>
            <a:off x="5943600" y="1920240"/>
            <a:ext cx="5486400" cy="1097280"/>
          </a:xfrm>
          <a:prstGeom prst="rect">
            <a:avLst/>
          </a:prstGeom>
          <a:noFill/>
        </p:spPr>
        <p:txBody>
          <a:bodyPr wrap="square">
            <a:spAutoFit/>
          </a:bodyPr>
          <a:lstStyle/>
          <a:p>
            <a:pPr algn="l"/>
            <a:r>
              <a:rPr sz="1000" b="0">
                <a:solidFill>
                  <a:srgbClr val="475569"/>
                </a:solidFill>
                <a:latin typeface="Calibri"/>
              </a:rPr>
              <a:t>6+ month delivery means the business case expires before the pilot lands. By the time the SI finishes discovery, the DT Lead has already missed their steering committee deadline.</a:t>
            </a:r>
          </a:p>
        </p:txBody>
      </p:sp>
      <p:sp>
        <p:nvSpPr>
          <p:cNvPr id="14" name="Rectangle 13"/>
          <p:cNvSpPr/>
          <p:nvPr/>
        </p:nvSpPr>
        <p:spPr>
          <a:xfrm>
            <a:off x="457200" y="3291840"/>
            <a:ext cx="11247120" cy="12801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57200" y="3291840"/>
            <a:ext cx="54864" cy="12801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0080" y="3383280"/>
            <a:ext cx="731520" cy="365760"/>
          </a:xfrm>
          <a:prstGeom prst="rect">
            <a:avLst/>
          </a:prstGeom>
          <a:noFill/>
        </p:spPr>
        <p:txBody>
          <a:bodyPr wrap="square">
            <a:spAutoFit/>
          </a:bodyPr>
          <a:lstStyle/>
          <a:p>
            <a:pPr algn="l"/>
            <a:r>
              <a:rPr sz="2400" b="1">
                <a:solidFill>
                  <a:srgbClr val="D97706"/>
                </a:solidFill>
                <a:latin typeface="Calibri"/>
              </a:rPr>
              <a:t>02</a:t>
            </a:r>
          </a:p>
        </p:txBody>
      </p:sp>
      <p:sp>
        <p:nvSpPr>
          <p:cNvPr id="17" name="TextBox 16"/>
          <p:cNvSpPr txBox="1"/>
          <p:nvPr/>
        </p:nvSpPr>
        <p:spPr>
          <a:xfrm>
            <a:off x="1371600" y="3383280"/>
            <a:ext cx="4114800" cy="274320"/>
          </a:xfrm>
          <a:prstGeom prst="rect">
            <a:avLst/>
          </a:prstGeom>
          <a:noFill/>
        </p:spPr>
        <p:txBody>
          <a:bodyPr wrap="square">
            <a:spAutoFit/>
          </a:bodyPr>
          <a:lstStyle/>
          <a:p>
            <a:pPr algn="l"/>
            <a:r>
              <a:rPr sz="1500" b="1">
                <a:solidFill>
                  <a:srgbClr val="1A2754"/>
                </a:solidFill>
                <a:latin typeface="Calibri"/>
              </a:rPr>
              <a:t>TOO EXPENSIVE</a:t>
            </a:r>
          </a:p>
        </p:txBody>
      </p:sp>
      <p:sp>
        <p:nvSpPr>
          <p:cNvPr id="18" name="TextBox 17"/>
          <p:cNvSpPr txBox="1"/>
          <p:nvPr/>
        </p:nvSpPr>
        <p:spPr>
          <a:xfrm>
            <a:off x="1371600" y="3657600"/>
            <a:ext cx="4114800" cy="274320"/>
          </a:xfrm>
          <a:prstGeom prst="rect">
            <a:avLst/>
          </a:prstGeom>
          <a:noFill/>
        </p:spPr>
        <p:txBody>
          <a:bodyPr wrap="square">
            <a:spAutoFit/>
          </a:bodyPr>
          <a:lstStyle/>
          <a:p>
            <a:pPr algn="l"/>
            <a:r>
              <a:rPr sz="1100" b="0">
                <a:solidFill>
                  <a:srgbClr val="64748B"/>
                </a:solidFill>
                <a:latin typeface="Calibri"/>
              </a:rPr>
              <a:t>Budget burns before ROI</a:t>
            </a:r>
          </a:p>
        </p:txBody>
      </p:sp>
      <p:sp>
        <p:nvSpPr>
          <p:cNvPr id="19" name="TextBox 18"/>
          <p:cNvSpPr txBox="1"/>
          <p:nvPr/>
        </p:nvSpPr>
        <p:spPr>
          <a:xfrm>
            <a:off x="5943600" y="3383280"/>
            <a:ext cx="5486400" cy="1097280"/>
          </a:xfrm>
          <a:prstGeom prst="rect">
            <a:avLst/>
          </a:prstGeom>
          <a:noFill/>
        </p:spPr>
        <p:txBody>
          <a:bodyPr wrap="square">
            <a:spAutoFit/>
          </a:bodyPr>
          <a:lstStyle/>
          <a:p>
            <a:pPr algn="l"/>
            <a:r>
              <a:rPr sz="1000" b="0">
                <a:solidFill>
                  <a:srgbClr val="475569"/>
                </a:solidFill>
                <a:latin typeface="Calibri"/>
              </a:rPr>
              <a:t>$15-25K/month per developer. A 10-person team = $150-250K/month. Budget burns for 6 months before anyone sees a working model on the plant floor.</a:t>
            </a:r>
          </a:p>
        </p:txBody>
      </p:sp>
      <p:sp>
        <p:nvSpPr>
          <p:cNvPr id="20" name="Rectangle 19"/>
          <p:cNvSpPr/>
          <p:nvPr/>
        </p:nvSpPr>
        <p:spPr>
          <a:xfrm>
            <a:off x="457200" y="4754880"/>
            <a:ext cx="11247120" cy="12801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4754880"/>
            <a:ext cx="54864" cy="12801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4846320"/>
            <a:ext cx="731520" cy="365760"/>
          </a:xfrm>
          <a:prstGeom prst="rect">
            <a:avLst/>
          </a:prstGeom>
          <a:noFill/>
        </p:spPr>
        <p:txBody>
          <a:bodyPr wrap="square">
            <a:spAutoFit/>
          </a:bodyPr>
          <a:lstStyle/>
          <a:p>
            <a:pPr algn="l"/>
            <a:r>
              <a:rPr sz="2400" b="1">
                <a:solidFill>
                  <a:srgbClr val="7C3AED"/>
                </a:solidFill>
                <a:latin typeface="Calibri"/>
              </a:rPr>
              <a:t>03</a:t>
            </a:r>
          </a:p>
        </p:txBody>
      </p:sp>
      <p:sp>
        <p:nvSpPr>
          <p:cNvPr id="23" name="TextBox 22"/>
          <p:cNvSpPr txBox="1"/>
          <p:nvPr/>
        </p:nvSpPr>
        <p:spPr>
          <a:xfrm>
            <a:off x="1371600" y="4846320"/>
            <a:ext cx="4114800" cy="274320"/>
          </a:xfrm>
          <a:prstGeom prst="rect">
            <a:avLst/>
          </a:prstGeom>
          <a:noFill/>
        </p:spPr>
        <p:txBody>
          <a:bodyPr wrap="square">
            <a:spAutoFit/>
          </a:bodyPr>
          <a:lstStyle/>
          <a:p>
            <a:pPr algn="l"/>
            <a:r>
              <a:rPr sz="1500" b="1">
                <a:solidFill>
                  <a:srgbClr val="1A2754"/>
                </a:solidFill>
                <a:latin typeface="Calibri"/>
              </a:rPr>
              <a:t>WRONG TEAM</a:t>
            </a:r>
          </a:p>
        </p:txBody>
      </p:sp>
      <p:sp>
        <p:nvSpPr>
          <p:cNvPr id="24" name="TextBox 23"/>
          <p:cNvSpPr txBox="1"/>
          <p:nvPr/>
        </p:nvSpPr>
        <p:spPr>
          <a:xfrm>
            <a:off x="1371600" y="5120640"/>
            <a:ext cx="4114800" cy="274320"/>
          </a:xfrm>
          <a:prstGeom prst="rect">
            <a:avLst/>
          </a:prstGeom>
          <a:noFill/>
        </p:spPr>
        <p:txBody>
          <a:bodyPr wrap="square">
            <a:spAutoFit/>
          </a:bodyPr>
          <a:lstStyle/>
          <a:p>
            <a:pPr algn="l"/>
            <a:r>
              <a:rPr sz="1100" b="0">
                <a:solidFill>
                  <a:srgbClr val="64748B"/>
                </a:solidFill>
                <a:latin typeface="Calibri"/>
              </a:rPr>
              <a:t>Data scientists can't integrate</a:t>
            </a:r>
          </a:p>
        </p:txBody>
      </p:sp>
      <p:sp>
        <p:nvSpPr>
          <p:cNvPr id="25" name="TextBox 24"/>
          <p:cNvSpPr txBox="1"/>
          <p:nvPr/>
        </p:nvSpPr>
        <p:spPr>
          <a:xfrm>
            <a:off x="5943600" y="4846320"/>
            <a:ext cx="5486400" cy="1097280"/>
          </a:xfrm>
          <a:prstGeom prst="rect">
            <a:avLst/>
          </a:prstGeom>
          <a:noFill/>
        </p:spPr>
        <p:txBody>
          <a:bodyPr wrap="square">
            <a:spAutoFit/>
          </a:bodyPr>
          <a:lstStyle/>
          <a:p>
            <a:pPr algn="l"/>
            <a:r>
              <a:rPr sz="1000" b="0">
                <a:solidFill>
                  <a:srgbClr val="475569"/>
                </a:solidFill>
                <a:latin typeface="Calibri"/>
              </a:rPr>
              <a:t>Data scientists who can build a model in a notebook but can't integrate with MES, ERP, OPC-UA, or plant-floor controllers. The last mile kills the pilot.</a:t>
            </a:r>
          </a:p>
        </p:txBody>
      </p:sp>
      <p:sp>
        <p:nvSpPr>
          <p:cNvPr id="26" name="Rectangle 25"/>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28" name="TextBox 27"/>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03 / 20 · CONFIDENTIAL</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THE MODEL</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A Different Model  다른 모델</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AI Engineering Team</a:t>
            </a:r>
          </a:p>
        </p:txBody>
      </p:sp>
      <p:sp>
        <p:nvSpPr>
          <p:cNvPr id="7" name="TextBox 6"/>
          <p:cNvSpPr txBox="1"/>
          <p:nvPr/>
        </p:nvSpPr>
        <p:spPr>
          <a:xfrm>
            <a:off x="457200" y="1097280"/>
            <a:ext cx="10972800" cy="502920"/>
          </a:xfrm>
          <a:prstGeom prst="rect">
            <a:avLst/>
          </a:prstGeom>
          <a:noFill/>
        </p:spPr>
        <p:txBody>
          <a:bodyPr wrap="square">
            <a:spAutoFit/>
          </a:bodyPr>
          <a:lstStyle/>
          <a:p>
            <a:pPr algn="l"/>
            <a:r>
              <a:rPr sz="2400" b="1">
                <a:solidFill>
                  <a:srgbClr val="1A2754"/>
                </a:solidFill>
                <a:latin typeface="Calibri"/>
              </a:rPr>
              <a:t>"What if the engineering team never sleeps?"</a:t>
            </a:r>
          </a:p>
        </p:txBody>
      </p:sp>
      <p:sp>
        <p:nvSpPr>
          <p:cNvPr id="8" name="TextBox 7"/>
          <p:cNvSpPr txBox="1"/>
          <p:nvPr/>
        </p:nvSpPr>
        <p:spPr>
          <a:xfrm>
            <a:off x="457200" y="1691640"/>
            <a:ext cx="10972800" cy="365760"/>
          </a:xfrm>
          <a:prstGeom prst="rect">
            <a:avLst/>
          </a:prstGeom>
          <a:noFill/>
        </p:spPr>
        <p:txBody>
          <a:bodyPr wrap="square">
            <a:spAutoFit/>
          </a:bodyPr>
          <a:lstStyle/>
          <a:p>
            <a:pPr algn="l"/>
            <a:r>
              <a:rPr sz="1500" b="0">
                <a:solidFill>
                  <a:srgbClr val="475569"/>
                </a:solidFill>
                <a:latin typeface="Calibri"/>
              </a:rPr>
              <a:t>3-person human pod + AI tools that code, test, deploy, and monitor 24/7.</a:t>
            </a:r>
          </a:p>
        </p:txBody>
      </p:sp>
      <p:sp>
        <p:nvSpPr>
          <p:cNvPr id="9" name="Rectangle 8"/>
          <p:cNvSpPr/>
          <p:nvPr/>
        </p:nvSpPr>
        <p:spPr>
          <a:xfrm>
            <a:off x="457200" y="2286000"/>
            <a:ext cx="3566160" cy="3931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286000"/>
            <a:ext cx="3566160" cy="73152"/>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468880"/>
            <a:ext cx="3200400" cy="274320"/>
          </a:xfrm>
          <a:prstGeom prst="rect">
            <a:avLst/>
          </a:prstGeom>
          <a:noFill/>
        </p:spPr>
        <p:txBody>
          <a:bodyPr wrap="square">
            <a:spAutoFit/>
          </a:bodyPr>
          <a:lstStyle/>
          <a:p>
            <a:pPr algn="l"/>
            <a:r>
              <a:rPr sz="1000" b="1">
                <a:solidFill>
                  <a:srgbClr val="00AAD4"/>
                </a:solidFill>
                <a:latin typeface="Calibri"/>
              </a:rPr>
              <a:t>NOT STAFF AUGMENTATION</a:t>
            </a:r>
          </a:p>
        </p:txBody>
      </p:sp>
      <p:sp>
        <p:nvSpPr>
          <p:cNvPr id="12" name="TextBox 11"/>
          <p:cNvSpPr txBox="1"/>
          <p:nvPr/>
        </p:nvSpPr>
        <p:spPr>
          <a:xfrm>
            <a:off x="640080" y="2834640"/>
            <a:ext cx="3200400" cy="640080"/>
          </a:xfrm>
          <a:prstGeom prst="rect">
            <a:avLst/>
          </a:prstGeom>
          <a:noFill/>
        </p:spPr>
        <p:txBody>
          <a:bodyPr wrap="square">
            <a:spAutoFit/>
          </a:bodyPr>
          <a:lstStyle/>
          <a:p>
            <a:pPr algn="l"/>
            <a:r>
              <a:rPr sz="1500" b="1">
                <a:solidFill>
                  <a:srgbClr val="1A2754"/>
                </a:solidFill>
                <a:latin typeface="Calibri"/>
              </a:rPr>
              <a:t>We don't sell seats.</a:t>
            </a:r>
            <a:br/>
            <a:r>
              <a:t>We sell outcomes.</a:t>
            </a:r>
          </a:p>
        </p:txBody>
      </p:sp>
      <p:sp>
        <p:nvSpPr>
          <p:cNvPr id="13" name="TextBox 12"/>
          <p:cNvSpPr txBox="1"/>
          <p:nvPr/>
        </p:nvSpPr>
        <p:spPr>
          <a:xfrm>
            <a:off x="640080" y="3566160"/>
            <a:ext cx="3200400" cy="2286000"/>
          </a:xfrm>
          <a:prstGeom prst="rect">
            <a:avLst/>
          </a:prstGeom>
          <a:noFill/>
        </p:spPr>
        <p:txBody>
          <a:bodyPr wrap="square">
            <a:spAutoFit/>
          </a:bodyPr>
          <a:lstStyle/>
          <a:p>
            <a:pPr algn="l"/>
            <a:r>
              <a:rPr sz="1000" b="0">
                <a:solidFill>
                  <a:srgbClr val="475569"/>
                </a:solidFill>
                <a:latin typeface="Calibri"/>
              </a:rPr>
              <a:t>No headcount games. No bench-warming. You pay for results delivered, not hours billed.</a:t>
            </a:r>
          </a:p>
        </p:txBody>
      </p:sp>
      <p:sp>
        <p:nvSpPr>
          <p:cNvPr id="14" name="Rectangle 13"/>
          <p:cNvSpPr/>
          <p:nvPr/>
        </p:nvSpPr>
        <p:spPr>
          <a:xfrm>
            <a:off x="4206240" y="2286000"/>
            <a:ext cx="3566160" cy="3931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4206240" y="2286000"/>
            <a:ext cx="3566160" cy="73152"/>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389120" y="2468880"/>
            <a:ext cx="3200400" cy="274320"/>
          </a:xfrm>
          <a:prstGeom prst="rect">
            <a:avLst/>
          </a:prstGeom>
          <a:noFill/>
        </p:spPr>
        <p:txBody>
          <a:bodyPr wrap="square">
            <a:spAutoFit/>
          </a:bodyPr>
          <a:lstStyle/>
          <a:p>
            <a:pPr algn="l"/>
            <a:r>
              <a:rPr sz="1000" b="1">
                <a:solidFill>
                  <a:srgbClr val="14A085"/>
                </a:solidFill>
                <a:latin typeface="Calibri"/>
              </a:rPr>
              <a:t>NOT A PLATFORM</a:t>
            </a:r>
          </a:p>
        </p:txBody>
      </p:sp>
      <p:sp>
        <p:nvSpPr>
          <p:cNvPr id="17" name="TextBox 16"/>
          <p:cNvSpPr txBox="1"/>
          <p:nvPr/>
        </p:nvSpPr>
        <p:spPr>
          <a:xfrm>
            <a:off x="4389120" y="2834640"/>
            <a:ext cx="3200400" cy="640080"/>
          </a:xfrm>
          <a:prstGeom prst="rect">
            <a:avLst/>
          </a:prstGeom>
          <a:noFill/>
        </p:spPr>
        <p:txBody>
          <a:bodyPr wrap="square">
            <a:spAutoFit/>
          </a:bodyPr>
          <a:lstStyle/>
          <a:p>
            <a:pPr algn="l"/>
            <a:r>
              <a:rPr sz="1500" b="1">
                <a:solidFill>
                  <a:srgbClr val="1A2754"/>
                </a:solidFill>
                <a:latin typeface="Calibri"/>
              </a:rPr>
              <a:t>We don't sell software.</a:t>
            </a:r>
            <a:br/>
            <a:r>
              <a:t>We deliver solutions.</a:t>
            </a:r>
          </a:p>
        </p:txBody>
      </p:sp>
      <p:sp>
        <p:nvSpPr>
          <p:cNvPr id="18" name="TextBox 17"/>
          <p:cNvSpPr txBox="1"/>
          <p:nvPr/>
        </p:nvSpPr>
        <p:spPr>
          <a:xfrm>
            <a:off x="4389120" y="3566160"/>
            <a:ext cx="3200400" cy="2286000"/>
          </a:xfrm>
          <a:prstGeom prst="rect">
            <a:avLst/>
          </a:prstGeom>
          <a:noFill/>
        </p:spPr>
        <p:txBody>
          <a:bodyPr wrap="square">
            <a:spAutoFit/>
          </a:bodyPr>
          <a:lstStyle/>
          <a:p>
            <a:pPr algn="l"/>
            <a:r>
              <a:rPr sz="1000" b="0">
                <a:solidFill>
                  <a:srgbClr val="475569"/>
                </a:solidFill>
                <a:latin typeface="Calibri"/>
              </a:rPr>
              <a:t>No license fee for a tool your team has to learn. We bring the team, the tools, and the delivery.</a:t>
            </a:r>
          </a:p>
        </p:txBody>
      </p:sp>
      <p:sp>
        <p:nvSpPr>
          <p:cNvPr id="19" name="Rectangle 18"/>
          <p:cNvSpPr/>
          <p:nvPr/>
        </p:nvSpPr>
        <p:spPr>
          <a:xfrm>
            <a:off x="7955280" y="2286000"/>
            <a:ext cx="3566160" cy="3931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Rectangle 19"/>
          <p:cNvSpPr/>
          <p:nvPr/>
        </p:nvSpPr>
        <p:spPr>
          <a:xfrm>
            <a:off x="7955280" y="2286000"/>
            <a:ext cx="3566160" cy="73152"/>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8138160" y="2468880"/>
            <a:ext cx="3200400" cy="274320"/>
          </a:xfrm>
          <a:prstGeom prst="rect">
            <a:avLst/>
          </a:prstGeom>
          <a:noFill/>
        </p:spPr>
        <p:txBody>
          <a:bodyPr wrap="square">
            <a:spAutoFit/>
          </a:bodyPr>
          <a:lstStyle/>
          <a:p>
            <a:pPr algn="l"/>
            <a:r>
              <a:rPr sz="1000" b="1">
                <a:solidFill>
                  <a:srgbClr val="2563EB"/>
                </a:solidFill>
                <a:latin typeface="Calibri"/>
              </a:rPr>
              <a:t>MANAGED OUTCOME</a:t>
            </a:r>
          </a:p>
        </p:txBody>
      </p:sp>
      <p:sp>
        <p:nvSpPr>
          <p:cNvPr id="22" name="TextBox 21"/>
          <p:cNvSpPr txBox="1"/>
          <p:nvPr/>
        </p:nvSpPr>
        <p:spPr>
          <a:xfrm>
            <a:off x="8138160" y="2834640"/>
            <a:ext cx="3200400" cy="640080"/>
          </a:xfrm>
          <a:prstGeom prst="rect">
            <a:avLst/>
          </a:prstGeom>
          <a:noFill/>
        </p:spPr>
        <p:txBody>
          <a:bodyPr wrap="square">
            <a:spAutoFit/>
          </a:bodyPr>
          <a:lstStyle/>
          <a:p>
            <a:pPr algn="l"/>
            <a:r>
              <a:rPr sz="1500" b="1">
                <a:solidFill>
                  <a:srgbClr val="1A2754"/>
                </a:solidFill>
                <a:latin typeface="Calibri"/>
              </a:rPr>
              <a:t>Fixed price. Fixed timeline.</a:t>
            </a:r>
            <a:br/>
            <a:r>
              <a:t>Measurable KPIs.</a:t>
            </a:r>
          </a:p>
        </p:txBody>
      </p:sp>
      <p:sp>
        <p:nvSpPr>
          <p:cNvPr id="23" name="TextBox 22"/>
          <p:cNvSpPr txBox="1"/>
          <p:nvPr/>
        </p:nvSpPr>
        <p:spPr>
          <a:xfrm>
            <a:off x="8138160" y="3566160"/>
            <a:ext cx="3200400" cy="2286000"/>
          </a:xfrm>
          <a:prstGeom prst="rect">
            <a:avLst/>
          </a:prstGeom>
          <a:noFill/>
        </p:spPr>
        <p:txBody>
          <a:bodyPr wrap="square">
            <a:spAutoFit/>
          </a:bodyPr>
          <a:lstStyle/>
          <a:p>
            <a:pPr algn="l"/>
            <a:r>
              <a:rPr sz="1000" b="0">
                <a:solidFill>
                  <a:srgbClr val="475569"/>
                </a:solidFill>
                <a:latin typeface="Calibri"/>
              </a:rPr>
              <a:t>Each pilot: 8 weeks, defined KPIs, go/no-go gate. You only scale what proves ROI.</a:t>
            </a:r>
          </a:p>
        </p:txBody>
      </p:sp>
      <p:sp>
        <p:nvSpPr>
          <p:cNvPr id="24" name="Rectangle 23"/>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26" name="TextBox 25"/>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04 / 20 · CONFIDENTIAL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THE MODEL</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How It Works  작동 방식</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Pod Composition</a:t>
            </a:r>
          </a:p>
        </p:txBody>
      </p:sp>
      <p:sp>
        <p:nvSpPr>
          <p:cNvPr id="7" name="TextBox 6"/>
          <p:cNvSpPr txBox="1"/>
          <p:nvPr/>
        </p:nvSpPr>
        <p:spPr>
          <a:xfrm>
            <a:off x="457200" y="1097280"/>
            <a:ext cx="10972800" cy="365760"/>
          </a:xfrm>
          <a:prstGeom prst="rect">
            <a:avLst/>
          </a:prstGeom>
          <a:noFill/>
        </p:spPr>
        <p:txBody>
          <a:bodyPr wrap="square">
            <a:spAutoFit/>
          </a:bodyPr>
          <a:lstStyle/>
          <a:p>
            <a:pPr algn="l"/>
            <a:r>
              <a:rPr sz="1300" b="0">
                <a:solidFill>
                  <a:srgbClr val="475569"/>
                </a:solidFill>
                <a:latin typeface="Calibri"/>
              </a:rPr>
              <a:t>Our engineering pods use AI pair-programming, automated testing, and intelligent deployment pipelines.</a:t>
            </a:r>
          </a:p>
        </p:txBody>
      </p:sp>
      <p:sp>
        <p:nvSpPr>
          <p:cNvPr id="8" name="Rectangle 7"/>
          <p:cNvSpPr/>
          <p:nvPr/>
        </p:nvSpPr>
        <p:spPr>
          <a:xfrm>
            <a:off x="457200" y="1645920"/>
            <a:ext cx="5486400" cy="45715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45920"/>
            <a:ext cx="5486400" cy="73152"/>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828800"/>
            <a:ext cx="5120640" cy="274320"/>
          </a:xfrm>
          <a:prstGeom prst="rect">
            <a:avLst/>
          </a:prstGeom>
          <a:noFill/>
        </p:spPr>
        <p:txBody>
          <a:bodyPr wrap="square">
            <a:spAutoFit/>
          </a:bodyPr>
          <a:lstStyle/>
          <a:p>
            <a:pPr algn="l"/>
            <a:r>
              <a:rPr sz="1100" b="1">
                <a:solidFill>
                  <a:srgbClr val="DC2626"/>
                </a:solidFill>
                <a:latin typeface="Calibri"/>
              </a:rPr>
              <a:t>TRADITIONAL SI</a:t>
            </a:r>
          </a:p>
        </p:txBody>
      </p:sp>
      <p:sp>
        <p:nvSpPr>
          <p:cNvPr id="11" name="TextBox 10"/>
          <p:cNvSpPr txBox="1"/>
          <p:nvPr/>
        </p:nvSpPr>
        <p:spPr>
          <a:xfrm>
            <a:off x="640080" y="2194560"/>
            <a:ext cx="5120640" cy="457200"/>
          </a:xfrm>
          <a:prstGeom prst="rect">
            <a:avLst/>
          </a:prstGeom>
          <a:noFill/>
        </p:spPr>
        <p:txBody>
          <a:bodyPr wrap="square">
            <a:spAutoFit/>
          </a:bodyPr>
          <a:lstStyle/>
          <a:p>
            <a:pPr algn="l"/>
            <a:r>
              <a:rPr sz="2400" b="1">
                <a:solidFill>
                  <a:srgbClr val="1A2754"/>
                </a:solidFill>
                <a:latin typeface="Calibri"/>
              </a:rPr>
              <a:t>10 people</a:t>
            </a:r>
          </a:p>
        </p:txBody>
      </p:sp>
      <p:sp>
        <p:nvSpPr>
          <p:cNvPr id="12" name="TextBox 11"/>
          <p:cNvSpPr txBox="1"/>
          <p:nvPr/>
        </p:nvSpPr>
        <p:spPr>
          <a:xfrm>
            <a:off x="640080" y="2651760"/>
            <a:ext cx="5120640" cy="274320"/>
          </a:xfrm>
          <a:prstGeom prst="rect">
            <a:avLst/>
          </a:prstGeom>
          <a:noFill/>
        </p:spPr>
        <p:txBody>
          <a:bodyPr wrap="square">
            <a:spAutoFit/>
          </a:bodyPr>
          <a:lstStyle/>
          <a:p>
            <a:pPr algn="l"/>
            <a:r>
              <a:rPr sz="1500" b="0">
                <a:solidFill>
                  <a:srgbClr val="64748B"/>
                </a:solidFill>
                <a:latin typeface="Calibri"/>
              </a:rPr>
              <a:t>6+ months</a:t>
            </a:r>
          </a:p>
        </p:txBody>
      </p:sp>
      <p:sp>
        <p:nvSpPr>
          <p:cNvPr id="13" name="TextBox 12"/>
          <p:cNvSpPr txBox="1"/>
          <p:nvPr/>
        </p:nvSpPr>
        <p:spPr>
          <a:xfrm>
            <a:off x="640080" y="3063240"/>
            <a:ext cx="5120640" cy="2880360"/>
          </a:xfrm>
          <a:prstGeom prst="rect">
            <a:avLst/>
          </a:prstGeom>
          <a:noFill/>
        </p:spPr>
        <p:txBody>
          <a:bodyPr wrap="square">
            <a:spAutoFit/>
          </a:bodyPr>
          <a:lstStyle/>
          <a:p>
            <a:pPr>
              <a:spcBef>
                <a:spcPts val="200"/>
              </a:spcBef>
              <a:spcAft>
                <a:spcPts val="200"/>
              </a:spcAft>
            </a:pPr>
            <a:r>
              <a:rPr sz="950" b="0">
                <a:solidFill>
                  <a:srgbClr val="1E293B"/>
                </a:solidFill>
                <a:latin typeface="Calibri"/>
              </a:rPr>
              <a:t>→  Project Manager</a:t>
            </a:r>
          </a:p>
          <a:p>
            <a:pPr>
              <a:spcBef>
                <a:spcPts val="200"/>
              </a:spcBef>
              <a:spcAft>
                <a:spcPts val="200"/>
              </a:spcAft>
            </a:pPr>
            <a:r>
              <a:rPr sz="950" b="0">
                <a:solidFill>
                  <a:srgbClr val="1E293B"/>
                </a:solidFill>
                <a:latin typeface="Calibri"/>
              </a:rPr>
              <a:t>→  Solution Architect</a:t>
            </a:r>
          </a:p>
          <a:p>
            <a:pPr>
              <a:spcBef>
                <a:spcPts val="200"/>
              </a:spcBef>
              <a:spcAft>
                <a:spcPts val="200"/>
              </a:spcAft>
            </a:pPr>
            <a:r>
              <a:rPr sz="950" b="0">
                <a:solidFill>
                  <a:srgbClr val="1E293B"/>
                </a:solidFill>
                <a:latin typeface="Calibri"/>
              </a:rPr>
              <a:t>→  2× Data Scientists</a:t>
            </a:r>
          </a:p>
          <a:p>
            <a:pPr>
              <a:spcBef>
                <a:spcPts val="200"/>
              </a:spcBef>
              <a:spcAft>
                <a:spcPts val="200"/>
              </a:spcAft>
            </a:pPr>
            <a:r>
              <a:rPr sz="950" b="0">
                <a:solidFill>
                  <a:srgbClr val="1E293B"/>
                </a:solidFill>
                <a:latin typeface="Calibri"/>
              </a:rPr>
              <a:t>→  2× ML Engineers</a:t>
            </a:r>
          </a:p>
          <a:p>
            <a:pPr>
              <a:spcBef>
                <a:spcPts val="200"/>
              </a:spcBef>
              <a:spcAft>
                <a:spcPts val="200"/>
              </a:spcAft>
            </a:pPr>
            <a:r>
              <a:rPr sz="950" b="0">
                <a:solidFill>
                  <a:srgbClr val="1E293B"/>
                </a:solidFill>
                <a:latin typeface="Calibri"/>
              </a:rPr>
              <a:t>→  DevOps Engineer</a:t>
            </a:r>
          </a:p>
          <a:p>
            <a:pPr>
              <a:spcBef>
                <a:spcPts val="200"/>
              </a:spcBef>
              <a:spcAft>
                <a:spcPts val="200"/>
              </a:spcAft>
            </a:pPr>
            <a:r>
              <a:rPr sz="950" b="0">
                <a:solidFill>
                  <a:srgbClr val="1E293B"/>
                </a:solidFill>
                <a:latin typeface="Calibri"/>
              </a:rPr>
              <a:t>→  Integration Engineer</a:t>
            </a:r>
          </a:p>
          <a:p>
            <a:pPr>
              <a:spcBef>
                <a:spcPts val="200"/>
              </a:spcBef>
              <a:spcAft>
                <a:spcPts val="200"/>
              </a:spcAft>
            </a:pPr>
            <a:r>
              <a:rPr sz="950" b="0">
                <a:solidFill>
                  <a:srgbClr val="1E293B"/>
                </a:solidFill>
                <a:latin typeface="Calibri"/>
              </a:rPr>
              <a:t>→  QA Engineer</a:t>
            </a:r>
          </a:p>
          <a:p>
            <a:pPr>
              <a:spcBef>
                <a:spcPts val="200"/>
              </a:spcBef>
              <a:spcAft>
                <a:spcPts val="200"/>
              </a:spcAft>
            </a:pPr>
            <a:r>
              <a:rPr sz="950" b="0">
                <a:solidFill>
                  <a:srgbClr val="1E293B"/>
                </a:solidFill>
                <a:latin typeface="Calibri"/>
              </a:rPr>
              <a:t>→  Business Analyst</a:t>
            </a:r>
          </a:p>
        </p:txBody>
      </p:sp>
      <p:sp>
        <p:nvSpPr>
          <p:cNvPr id="14" name="Rectangle 13"/>
          <p:cNvSpPr/>
          <p:nvPr/>
        </p:nvSpPr>
        <p:spPr>
          <a:xfrm>
            <a:off x="6309360" y="1645920"/>
            <a:ext cx="5486400" cy="45715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6309360" y="1645920"/>
            <a:ext cx="5486400" cy="73152"/>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492240" y="1828800"/>
            <a:ext cx="5120640" cy="274320"/>
          </a:xfrm>
          <a:prstGeom prst="rect">
            <a:avLst/>
          </a:prstGeom>
          <a:noFill/>
        </p:spPr>
        <p:txBody>
          <a:bodyPr wrap="square">
            <a:spAutoFit/>
          </a:bodyPr>
          <a:lstStyle/>
          <a:p>
            <a:pPr algn="l"/>
            <a:r>
              <a:rPr sz="1100" b="1">
                <a:solidFill>
                  <a:srgbClr val="00AAD4"/>
                </a:solidFill>
                <a:latin typeface="Calibri"/>
              </a:rPr>
              <a:t>AI ENGINEERING TEAM</a:t>
            </a:r>
          </a:p>
        </p:txBody>
      </p:sp>
      <p:sp>
        <p:nvSpPr>
          <p:cNvPr id="17" name="TextBox 16"/>
          <p:cNvSpPr txBox="1"/>
          <p:nvPr/>
        </p:nvSpPr>
        <p:spPr>
          <a:xfrm>
            <a:off x="6492240" y="2194560"/>
            <a:ext cx="5120640" cy="457200"/>
          </a:xfrm>
          <a:prstGeom prst="rect">
            <a:avLst/>
          </a:prstGeom>
          <a:noFill/>
        </p:spPr>
        <p:txBody>
          <a:bodyPr wrap="square">
            <a:spAutoFit/>
          </a:bodyPr>
          <a:lstStyle/>
          <a:p>
            <a:pPr algn="l"/>
            <a:r>
              <a:rPr sz="2400" b="1">
                <a:solidFill>
                  <a:srgbClr val="1A2754"/>
                </a:solidFill>
                <a:latin typeface="Calibri"/>
              </a:rPr>
              <a:t>3 people + AI</a:t>
            </a:r>
          </a:p>
        </p:txBody>
      </p:sp>
      <p:sp>
        <p:nvSpPr>
          <p:cNvPr id="18" name="TextBox 17"/>
          <p:cNvSpPr txBox="1"/>
          <p:nvPr/>
        </p:nvSpPr>
        <p:spPr>
          <a:xfrm>
            <a:off x="6492240" y="2651760"/>
            <a:ext cx="5120640" cy="274320"/>
          </a:xfrm>
          <a:prstGeom prst="rect">
            <a:avLst/>
          </a:prstGeom>
          <a:noFill/>
        </p:spPr>
        <p:txBody>
          <a:bodyPr wrap="square">
            <a:spAutoFit/>
          </a:bodyPr>
          <a:lstStyle/>
          <a:p>
            <a:pPr algn="l"/>
            <a:r>
              <a:rPr sz="1500" b="0">
                <a:solidFill>
                  <a:srgbClr val="64748B"/>
                </a:solidFill>
                <a:latin typeface="Calibri"/>
              </a:rPr>
              <a:t>8 weeks</a:t>
            </a:r>
          </a:p>
        </p:txBody>
      </p:sp>
      <p:sp>
        <p:nvSpPr>
          <p:cNvPr id="19" name="TextBox 18"/>
          <p:cNvSpPr txBox="1"/>
          <p:nvPr/>
        </p:nvSpPr>
        <p:spPr>
          <a:xfrm>
            <a:off x="6492240" y="3063240"/>
            <a:ext cx="5120640" cy="2880360"/>
          </a:xfrm>
          <a:prstGeom prst="rect">
            <a:avLst/>
          </a:prstGeom>
          <a:noFill/>
        </p:spPr>
        <p:txBody>
          <a:bodyPr wrap="square">
            <a:spAutoFit/>
          </a:bodyPr>
          <a:lstStyle/>
          <a:p>
            <a:pPr>
              <a:spcBef>
                <a:spcPts val="200"/>
              </a:spcBef>
              <a:spcAft>
                <a:spcPts val="200"/>
              </a:spcAft>
            </a:pPr>
            <a:r>
              <a:rPr sz="950" b="0">
                <a:solidFill>
                  <a:srgbClr val="1E293B"/>
                </a:solidFill>
                <a:latin typeface="Calibri"/>
              </a:rPr>
              <a:t>→  Solution Architect — System design, stakeholder interface</a:t>
            </a:r>
          </a:p>
          <a:p>
            <a:pPr>
              <a:spcBef>
                <a:spcPts val="200"/>
              </a:spcBef>
              <a:spcAft>
                <a:spcPts val="200"/>
              </a:spcAft>
            </a:pPr>
            <a:r>
              <a:rPr sz="950" b="0">
                <a:solidFill>
                  <a:srgbClr val="1E293B"/>
                </a:solidFill>
                <a:latin typeface="Calibri"/>
              </a:rPr>
              <a:t>→  ML/Vision Engineer — Model training, edge deployment</a:t>
            </a:r>
          </a:p>
          <a:p>
            <a:pPr>
              <a:spcBef>
                <a:spcPts val="200"/>
              </a:spcBef>
              <a:spcAft>
                <a:spcPts val="200"/>
              </a:spcAft>
            </a:pPr>
            <a:r>
              <a:rPr sz="950" b="0">
                <a:solidFill>
                  <a:srgbClr val="1E293B"/>
                </a:solidFill>
                <a:latin typeface="Calibri"/>
              </a:rPr>
              <a:t>→  Integration Engineer — Plant-floor, OPC-UA, MES, DevOps</a:t>
            </a:r>
          </a:p>
          <a:p>
            <a:pPr>
              <a:spcBef>
                <a:spcPts val="200"/>
              </a:spcBef>
              <a:spcAft>
                <a:spcPts val="200"/>
              </a:spcAft>
            </a:pPr>
            <a:r>
              <a:rPr sz="950" b="0">
                <a:solidFill>
                  <a:srgbClr val="1E293B"/>
                </a:solidFill>
                <a:latin typeface="Calibri"/>
              </a:rPr>
              <a:t>→  + AI pair-programming &amp; automated pipelines 24/7</a:t>
            </a:r>
          </a:p>
        </p:txBody>
      </p:sp>
      <p:sp>
        <p:nvSpPr>
          <p:cNvPr id="20" name="Rectangle 19"/>
          <p:cNvSpPr/>
          <p:nvPr/>
        </p:nvSpPr>
        <p:spPr>
          <a:xfrm>
            <a:off x="457200" y="6217920"/>
            <a:ext cx="11247120" cy="914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57200" y="5943600"/>
            <a:ext cx="11247120" cy="274320"/>
          </a:xfrm>
          <a:prstGeom prst="rect">
            <a:avLst/>
          </a:prstGeom>
          <a:noFill/>
        </p:spPr>
        <p:txBody>
          <a:bodyPr wrap="square">
            <a:spAutoFit/>
          </a:bodyPr>
          <a:lstStyle/>
          <a:p>
            <a:pPr algn="ctr"/>
            <a:r>
              <a:rPr sz="1100" b="1">
                <a:solidFill>
                  <a:srgbClr val="14A085"/>
                </a:solidFill>
                <a:latin typeface="Calibri"/>
              </a:rPr>
              <a:t>Human-led, AI-accelerated. Significantly fewer resources, significantly faster delivery.</a:t>
            </a:r>
          </a:p>
        </p:txBody>
      </p:sp>
      <p:sp>
        <p:nvSpPr>
          <p:cNvPr id="22" name="Rectangle 21"/>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24" name="TextBox 23"/>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05 / 20 · CONFIDENTIAL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USE CASES</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8 AI Use Cases  8개 AI 활용 사례</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Hyundai Plant Operations</a:t>
            </a:r>
          </a:p>
        </p:txBody>
      </p:sp>
      <p:sp>
        <p:nvSpPr>
          <p:cNvPr id="7" name="Rectangle 6"/>
          <p:cNvSpPr/>
          <p:nvPr/>
        </p:nvSpPr>
        <p:spPr>
          <a:xfrm>
            <a:off x="457200" y="100584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18872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594360" y="1078992"/>
            <a:ext cx="457200" cy="274320"/>
          </a:xfrm>
          <a:prstGeom prst="rect">
            <a:avLst/>
          </a:prstGeom>
          <a:noFill/>
        </p:spPr>
        <p:txBody>
          <a:bodyPr wrap="square">
            <a:spAutoFit/>
          </a:bodyPr>
          <a:lstStyle/>
          <a:p>
            <a:pPr algn="l"/>
            <a:r>
              <a:rPr sz="1500" b="1">
                <a:solidFill>
                  <a:srgbClr val="DC2626"/>
                </a:solidFill>
                <a:latin typeface="Calibri"/>
              </a:rPr>
              <a:t>01</a:t>
            </a:r>
          </a:p>
        </p:txBody>
      </p:sp>
      <p:sp>
        <p:nvSpPr>
          <p:cNvPr id="10" name="TextBox 9"/>
          <p:cNvSpPr txBox="1"/>
          <p:nvPr/>
        </p:nvSpPr>
        <p:spPr>
          <a:xfrm>
            <a:off x="1051560" y="1078992"/>
            <a:ext cx="2743200" cy="274320"/>
          </a:xfrm>
          <a:prstGeom prst="rect">
            <a:avLst/>
          </a:prstGeom>
          <a:noFill/>
        </p:spPr>
        <p:txBody>
          <a:bodyPr wrap="square">
            <a:spAutoFit/>
          </a:bodyPr>
          <a:lstStyle/>
          <a:p>
            <a:pPr algn="l"/>
            <a:r>
              <a:rPr sz="1200" b="1">
                <a:solidFill>
                  <a:srgbClr val="1A2754"/>
                </a:solidFill>
                <a:latin typeface="Calibri"/>
              </a:rPr>
              <a:t>비전 검사</a:t>
            </a:r>
          </a:p>
        </p:txBody>
      </p:sp>
      <p:sp>
        <p:nvSpPr>
          <p:cNvPr id="11" name="TextBox 10"/>
          <p:cNvSpPr txBox="1"/>
          <p:nvPr/>
        </p:nvSpPr>
        <p:spPr>
          <a:xfrm>
            <a:off x="1051560" y="1371600"/>
            <a:ext cx="2743200" cy="228600"/>
          </a:xfrm>
          <a:prstGeom prst="rect">
            <a:avLst/>
          </a:prstGeom>
          <a:noFill/>
        </p:spPr>
        <p:txBody>
          <a:bodyPr wrap="square">
            <a:spAutoFit/>
          </a:bodyPr>
          <a:lstStyle/>
          <a:p>
            <a:pPr algn="l"/>
            <a:r>
              <a:rPr sz="950" b="0">
                <a:solidFill>
                  <a:srgbClr val="64748B"/>
                </a:solidFill>
                <a:latin typeface="Calibri"/>
              </a:rPr>
              <a:t>Visual Inspection</a:t>
            </a:r>
          </a:p>
        </p:txBody>
      </p:sp>
      <p:sp>
        <p:nvSpPr>
          <p:cNvPr id="12" name="TextBox 11"/>
          <p:cNvSpPr txBox="1"/>
          <p:nvPr/>
        </p:nvSpPr>
        <p:spPr>
          <a:xfrm>
            <a:off x="1051560" y="1645920"/>
            <a:ext cx="2743200" cy="228600"/>
          </a:xfrm>
          <a:prstGeom prst="rect">
            <a:avLst/>
          </a:prstGeom>
          <a:noFill/>
        </p:spPr>
        <p:txBody>
          <a:bodyPr wrap="square">
            <a:spAutoFit/>
          </a:bodyPr>
          <a:lstStyle/>
          <a:p>
            <a:pPr algn="l"/>
            <a:r>
              <a:rPr sz="1100" b="1">
                <a:solidFill>
                  <a:srgbClr val="DC2626"/>
                </a:solidFill>
                <a:latin typeface="Calibri"/>
              </a:rPr>
              <a:t>-45% rework</a:t>
            </a:r>
          </a:p>
        </p:txBody>
      </p:sp>
      <p:sp>
        <p:nvSpPr>
          <p:cNvPr id="13" name="TextBox 12"/>
          <p:cNvSpPr txBox="1"/>
          <p:nvPr/>
        </p:nvSpPr>
        <p:spPr>
          <a:xfrm>
            <a:off x="1051560" y="1874520"/>
            <a:ext cx="2743200" cy="228600"/>
          </a:xfrm>
          <a:prstGeom prst="rect">
            <a:avLst/>
          </a:prstGeom>
          <a:noFill/>
        </p:spPr>
        <p:txBody>
          <a:bodyPr wrap="square">
            <a:spAutoFit/>
          </a:bodyPr>
          <a:lstStyle/>
          <a:p>
            <a:pPr algn="l"/>
            <a:r>
              <a:rPr sz="850" b="0">
                <a:solidFill>
                  <a:srgbClr val="475569"/>
                </a:solidFill>
                <a:latin typeface="Calibri"/>
              </a:rPr>
              <a:t>HMGMA Paint</a:t>
            </a:r>
          </a:p>
        </p:txBody>
      </p:sp>
      <p:sp>
        <p:nvSpPr>
          <p:cNvPr id="14" name="Rectangle 13"/>
          <p:cNvSpPr/>
          <p:nvPr/>
        </p:nvSpPr>
        <p:spPr>
          <a:xfrm>
            <a:off x="4389120" y="1078992"/>
            <a:ext cx="1371600" cy="320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4389120" y="1078992"/>
            <a:ext cx="1371600" cy="320040"/>
          </a:xfrm>
          <a:prstGeom prst="rect">
            <a:avLst/>
          </a:prstGeom>
          <a:noFill/>
        </p:spPr>
        <p:txBody>
          <a:bodyPr wrap="square">
            <a:spAutoFit/>
          </a:bodyPr>
          <a:lstStyle/>
          <a:p>
            <a:pPr algn="ctr"/>
            <a:r>
              <a:rPr sz="900" b="1">
                <a:solidFill>
                  <a:srgbClr val="FFFFFF"/>
                </a:solidFill>
                <a:latin typeface="Calibri"/>
              </a:rPr>
              <a:t>PILOT 1</a:t>
            </a:r>
          </a:p>
        </p:txBody>
      </p:sp>
      <p:sp>
        <p:nvSpPr>
          <p:cNvPr id="16" name="Rectangle 15"/>
          <p:cNvSpPr/>
          <p:nvPr/>
        </p:nvSpPr>
        <p:spPr>
          <a:xfrm>
            <a:off x="6126480" y="100584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6126480" y="1005840"/>
            <a:ext cx="54864" cy="11887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263640" y="1078992"/>
            <a:ext cx="457200" cy="274320"/>
          </a:xfrm>
          <a:prstGeom prst="rect">
            <a:avLst/>
          </a:prstGeom>
          <a:noFill/>
        </p:spPr>
        <p:txBody>
          <a:bodyPr wrap="square">
            <a:spAutoFit/>
          </a:bodyPr>
          <a:lstStyle/>
          <a:p>
            <a:pPr algn="l"/>
            <a:r>
              <a:rPr sz="1500" b="1">
                <a:solidFill>
                  <a:srgbClr val="D97706"/>
                </a:solidFill>
                <a:latin typeface="Calibri"/>
              </a:rPr>
              <a:t>02</a:t>
            </a:r>
          </a:p>
        </p:txBody>
      </p:sp>
      <p:sp>
        <p:nvSpPr>
          <p:cNvPr id="19" name="TextBox 18"/>
          <p:cNvSpPr txBox="1"/>
          <p:nvPr/>
        </p:nvSpPr>
        <p:spPr>
          <a:xfrm>
            <a:off x="6720840" y="1078992"/>
            <a:ext cx="2743200" cy="274320"/>
          </a:xfrm>
          <a:prstGeom prst="rect">
            <a:avLst/>
          </a:prstGeom>
          <a:noFill/>
        </p:spPr>
        <p:txBody>
          <a:bodyPr wrap="square">
            <a:spAutoFit/>
          </a:bodyPr>
          <a:lstStyle/>
          <a:p>
            <a:pPr algn="l"/>
            <a:r>
              <a:rPr sz="1200" b="1">
                <a:solidFill>
                  <a:srgbClr val="1A2754"/>
                </a:solidFill>
                <a:latin typeface="Calibri"/>
              </a:rPr>
              <a:t>변종 확인</a:t>
            </a:r>
          </a:p>
        </p:txBody>
      </p:sp>
      <p:sp>
        <p:nvSpPr>
          <p:cNvPr id="20" name="TextBox 19"/>
          <p:cNvSpPr txBox="1"/>
          <p:nvPr/>
        </p:nvSpPr>
        <p:spPr>
          <a:xfrm>
            <a:off x="6720840" y="1371600"/>
            <a:ext cx="2743200" cy="228600"/>
          </a:xfrm>
          <a:prstGeom prst="rect">
            <a:avLst/>
          </a:prstGeom>
          <a:noFill/>
        </p:spPr>
        <p:txBody>
          <a:bodyPr wrap="square">
            <a:spAutoFit/>
          </a:bodyPr>
          <a:lstStyle/>
          <a:p>
            <a:pPr algn="l"/>
            <a:r>
              <a:rPr sz="950" b="0">
                <a:solidFill>
                  <a:srgbClr val="64748B"/>
                </a:solidFill>
                <a:latin typeface="Calibri"/>
              </a:rPr>
              <a:t>Variant Confirmation</a:t>
            </a:r>
          </a:p>
        </p:txBody>
      </p:sp>
      <p:sp>
        <p:nvSpPr>
          <p:cNvPr id="21" name="TextBox 20"/>
          <p:cNvSpPr txBox="1"/>
          <p:nvPr/>
        </p:nvSpPr>
        <p:spPr>
          <a:xfrm>
            <a:off x="6720840" y="1645920"/>
            <a:ext cx="2743200" cy="228600"/>
          </a:xfrm>
          <a:prstGeom prst="rect">
            <a:avLst/>
          </a:prstGeom>
          <a:noFill/>
        </p:spPr>
        <p:txBody>
          <a:bodyPr wrap="square">
            <a:spAutoFit/>
          </a:bodyPr>
          <a:lstStyle/>
          <a:p>
            <a:pPr algn="l"/>
            <a:r>
              <a:rPr sz="1100" b="1">
                <a:solidFill>
                  <a:srgbClr val="D97706"/>
                </a:solidFill>
                <a:latin typeface="Calibri"/>
              </a:rPr>
              <a:t>-90% wrong variants</a:t>
            </a:r>
          </a:p>
        </p:txBody>
      </p:sp>
      <p:sp>
        <p:nvSpPr>
          <p:cNvPr id="22" name="TextBox 21"/>
          <p:cNvSpPr txBox="1"/>
          <p:nvPr/>
        </p:nvSpPr>
        <p:spPr>
          <a:xfrm>
            <a:off x="6720840" y="1874520"/>
            <a:ext cx="2743200" cy="228600"/>
          </a:xfrm>
          <a:prstGeom prst="rect">
            <a:avLst/>
          </a:prstGeom>
          <a:noFill/>
        </p:spPr>
        <p:txBody>
          <a:bodyPr wrap="square">
            <a:spAutoFit/>
          </a:bodyPr>
          <a:lstStyle/>
          <a:p>
            <a:pPr algn="l"/>
            <a:r>
              <a:rPr sz="850" b="0">
                <a:solidFill>
                  <a:srgbClr val="475569"/>
                </a:solidFill>
                <a:latin typeface="Calibri"/>
              </a:rPr>
              <a:t>Assembly Lines</a:t>
            </a:r>
          </a:p>
        </p:txBody>
      </p:sp>
      <p:sp>
        <p:nvSpPr>
          <p:cNvPr id="23" name="Rectangle 22"/>
          <p:cNvSpPr/>
          <p:nvPr/>
        </p:nvSpPr>
        <p:spPr>
          <a:xfrm>
            <a:off x="10058400" y="1078992"/>
            <a:ext cx="1371600" cy="3200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10058400" y="1078992"/>
            <a:ext cx="1371600" cy="320040"/>
          </a:xfrm>
          <a:prstGeom prst="rect">
            <a:avLst/>
          </a:prstGeom>
          <a:noFill/>
        </p:spPr>
        <p:txBody>
          <a:bodyPr wrap="square">
            <a:spAutoFit/>
          </a:bodyPr>
          <a:lstStyle/>
          <a:p>
            <a:pPr algn="ctr"/>
            <a:r>
              <a:rPr sz="900" b="1">
                <a:solidFill>
                  <a:srgbClr val="FFFFFF"/>
                </a:solidFill>
                <a:latin typeface="Calibri"/>
              </a:rPr>
              <a:t>PHASE 2</a:t>
            </a:r>
          </a:p>
        </p:txBody>
      </p:sp>
      <p:sp>
        <p:nvSpPr>
          <p:cNvPr id="25" name="Rectangle 24"/>
          <p:cNvSpPr/>
          <p:nvPr/>
        </p:nvSpPr>
        <p:spPr>
          <a:xfrm>
            <a:off x="457200" y="233172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Rectangle 25"/>
          <p:cNvSpPr/>
          <p:nvPr/>
        </p:nvSpPr>
        <p:spPr>
          <a:xfrm>
            <a:off x="457200" y="2331720"/>
            <a:ext cx="54864" cy="11887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594360" y="2404872"/>
            <a:ext cx="457200" cy="274320"/>
          </a:xfrm>
          <a:prstGeom prst="rect">
            <a:avLst/>
          </a:prstGeom>
          <a:noFill/>
        </p:spPr>
        <p:txBody>
          <a:bodyPr wrap="square">
            <a:spAutoFit/>
          </a:bodyPr>
          <a:lstStyle/>
          <a:p>
            <a:pPr algn="l"/>
            <a:r>
              <a:rPr sz="1500" b="1">
                <a:solidFill>
                  <a:srgbClr val="7C3AED"/>
                </a:solidFill>
                <a:latin typeface="Calibri"/>
              </a:rPr>
              <a:t>03</a:t>
            </a:r>
          </a:p>
        </p:txBody>
      </p:sp>
      <p:sp>
        <p:nvSpPr>
          <p:cNvPr id="28" name="TextBox 27"/>
          <p:cNvSpPr txBox="1"/>
          <p:nvPr/>
        </p:nvSpPr>
        <p:spPr>
          <a:xfrm>
            <a:off x="1051560" y="2404872"/>
            <a:ext cx="2743200" cy="274320"/>
          </a:xfrm>
          <a:prstGeom prst="rect">
            <a:avLst/>
          </a:prstGeom>
          <a:noFill/>
        </p:spPr>
        <p:txBody>
          <a:bodyPr wrap="square">
            <a:spAutoFit/>
          </a:bodyPr>
          <a:lstStyle/>
          <a:p>
            <a:pPr algn="l"/>
            <a:r>
              <a:rPr sz="1200" b="1">
                <a:solidFill>
                  <a:srgbClr val="1A2754"/>
                </a:solidFill>
                <a:latin typeface="Calibri"/>
              </a:rPr>
              <a:t>좌석 검증</a:t>
            </a:r>
          </a:p>
        </p:txBody>
      </p:sp>
      <p:sp>
        <p:nvSpPr>
          <p:cNvPr id="29" name="TextBox 28"/>
          <p:cNvSpPr txBox="1"/>
          <p:nvPr/>
        </p:nvSpPr>
        <p:spPr>
          <a:xfrm>
            <a:off x="1051560" y="2697480"/>
            <a:ext cx="2743200" cy="228600"/>
          </a:xfrm>
          <a:prstGeom prst="rect">
            <a:avLst/>
          </a:prstGeom>
          <a:noFill/>
        </p:spPr>
        <p:txBody>
          <a:bodyPr wrap="square">
            <a:spAutoFit/>
          </a:bodyPr>
          <a:lstStyle/>
          <a:p>
            <a:pPr algn="l"/>
            <a:r>
              <a:rPr sz="950" b="0">
                <a:solidFill>
                  <a:srgbClr val="64748B"/>
                </a:solidFill>
                <a:latin typeface="Calibri"/>
              </a:rPr>
              <a:t>Seating Validation</a:t>
            </a:r>
          </a:p>
        </p:txBody>
      </p:sp>
      <p:sp>
        <p:nvSpPr>
          <p:cNvPr id="30" name="TextBox 29"/>
          <p:cNvSpPr txBox="1"/>
          <p:nvPr/>
        </p:nvSpPr>
        <p:spPr>
          <a:xfrm>
            <a:off x="1051560" y="2971800"/>
            <a:ext cx="2743200" cy="228600"/>
          </a:xfrm>
          <a:prstGeom prst="rect">
            <a:avLst/>
          </a:prstGeom>
          <a:noFill/>
        </p:spPr>
        <p:txBody>
          <a:bodyPr wrap="square">
            <a:spAutoFit/>
          </a:bodyPr>
          <a:lstStyle/>
          <a:p>
            <a:pPr algn="l"/>
            <a:r>
              <a:rPr sz="1100" b="1">
                <a:solidFill>
                  <a:srgbClr val="7C3AED"/>
                </a:solidFill>
                <a:latin typeface="Calibri"/>
              </a:rPr>
              <a:t>-85% fitment errors</a:t>
            </a:r>
          </a:p>
        </p:txBody>
      </p:sp>
      <p:sp>
        <p:nvSpPr>
          <p:cNvPr id="31" name="TextBox 30"/>
          <p:cNvSpPr txBox="1"/>
          <p:nvPr/>
        </p:nvSpPr>
        <p:spPr>
          <a:xfrm>
            <a:off x="1051560" y="3200400"/>
            <a:ext cx="2743200" cy="228600"/>
          </a:xfrm>
          <a:prstGeom prst="rect">
            <a:avLst/>
          </a:prstGeom>
          <a:noFill/>
        </p:spPr>
        <p:txBody>
          <a:bodyPr wrap="square">
            <a:spAutoFit/>
          </a:bodyPr>
          <a:lstStyle/>
          <a:p>
            <a:pPr algn="l"/>
            <a:r>
              <a:rPr sz="850" b="0">
                <a:solidFill>
                  <a:srgbClr val="475569"/>
                </a:solidFill>
                <a:latin typeface="Calibri"/>
              </a:rPr>
              <a:t>Trim &amp; Final</a:t>
            </a:r>
          </a:p>
        </p:txBody>
      </p:sp>
      <p:sp>
        <p:nvSpPr>
          <p:cNvPr id="32" name="Rectangle 31"/>
          <p:cNvSpPr/>
          <p:nvPr/>
        </p:nvSpPr>
        <p:spPr>
          <a:xfrm>
            <a:off x="4389120" y="2404872"/>
            <a:ext cx="1371600" cy="3200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4389120" y="2404872"/>
            <a:ext cx="1371600" cy="320040"/>
          </a:xfrm>
          <a:prstGeom prst="rect">
            <a:avLst/>
          </a:prstGeom>
          <a:noFill/>
        </p:spPr>
        <p:txBody>
          <a:bodyPr wrap="square">
            <a:spAutoFit/>
          </a:bodyPr>
          <a:lstStyle/>
          <a:p>
            <a:pPr algn="ctr"/>
            <a:r>
              <a:rPr sz="900" b="1">
                <a:solidFill>
                  <a:srgbClr val="FFFFFF"/>
                </a:solidFill>
                <a:latin typeface="Calibri"/>
              </a:rPr>
              <a:t>PHASE 2</a:t>
            </a:r>
          </a:p>
        </p:txBody>
      </p:sp>
      <p:sp>
        <p:nvSpPr>
          <p:cNvPr id="34" name="Rectangle 33"/>
          <p:cNvSpPr/>
          <p:nvPr/>
        </p:nvSpPr>
        <p:spPr>
          <a:xfrm>
            <a:off x="6126480" y="233172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26480" y="2331720"/>
            <a:ext cx="54864" cy="1188720"/>
          </a:xfrm>
          <a:prstGeom prst="rect">
            <a:avLst/>
          </a:prstGeom>
          <a:solidFill>
            <a:srgbClr val="0E7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263640" y="2404872"/>
            <a:ext cx="457200" cy="274320"/>
          </a:xfrm>
          <a:prstGeom prst="rect">
            <a:avLst/>
          </a:prstGeom>
          <a:noFill/>
        </p:spPr>
        <p:txBody>
          <a:bodyPr wrap="square">
            <a:spAutoFit/>
          </a:bodyPr>
          <a:lstStyle/>
          <a:p>
            <a:pPr algn="l"/>
            <a:r>
              <a:rPr sz="1500" b="1">
                <a:solidFill>
                  <a:srgbClr val="0E7B6A"/>
                </a:solidFill>
                <a:latin typeface="Calibri"/>
              </a:rPr>
              <a:t>04</a:t>
            </a:r>
          </a:p>
        </p:txBody>
      </p:sp>
      <p:sp>
        <p:nvSpPr>
          <p:cNvPr id="37" name="TextBox 36"/>
          <p:cNvSpPr txBox="1"/>
          <p:nvPr/>
        </p:nvSpPr>
        <p:spPr>
          <a:xfrm>
            <a:off x="6720840" y="2404872"/>
            <a:ext cx="2743200" cy="274320"/>
          </a:xfrm>
          <a:prstGeom prst="rect">
            <a:avLst/>
          </a:prstGeom>
          <a:noFill/>
        </p:spPr>
        <p:txBody>
          <a:bodyPr wrap="square">
            <a:spAutoFit/>
          </a:bodyPr>
          <a:lstStyle/>
          <a:p>
            <a:pPr algn="l"/>
            <a:r>
              <a:rPr sz="1200" b="1">
                <a:solidFill>
                  <a:srgbClr val="1A2754"/>
                </a:solidFill>
                <a:latin typeface="Calibri"/>
              </a:rPr>
              <a:t>SOP 준수</a:t>
            </a:r>
          </a:p>
        </p:txBody>
      </p:sp>
      <p:sp>
        <p:nvSpPr>
          <p:cNvPr id="38" name="TextBox 37"/>
          <p:cNvSpPr txBox="1"/>
          <p:nvPr/>
        </p:nvSpPr>
        <p:spPr>
          <a:xfrm>
            <a:off x="6720840" y="2697480"/>
            <a:ext cx="2743200" cy="228600"/>
          </a:xfrm>
          <a:prstGeom prst="rect">
            <a:avLst/>
          </a:prstGeom>
          <a:noFill/>
        </p:spPr>
        <p:txBody>
          <a:bodyPr wrap="square">
            <a:spAutoFit/>
          </a:bodyPr>
          <a:lstStyle/>
          <a:p>
            <a:pPr algn="l"/>
            <a:r>
              <a:rPr sz="950" b="0">
                <a:solidFill>
                  <a:srgbClr val="64748B"/>
                </a:solidFill>
                <a:latin typeface="Calibri"/>
              </a:rPr>
              <a:t>SOP Compliance</a:t>
            </a:r>
          </a:p>
        </p:txBody>
      </p:sp>
      <p:sp>
        <p:nvSpPr>
          <p:cNvPr id="39" name="TextBox 38"/>
          <p:cNvSpPr txBox="1"/>
          <p:nvPr/>
        </p:nvSpPr>
        <p:spPr>
          <a:xfrm>
            <a:off x="6720840" y="2971800"/>
            <a:ext cx="2743200" cy="228600"/>
          </a:xfrm>
          <a:prstGeom prst="rect">
            <a:avLst/>
          </a:prstGeom>
          <a:noFill/>
        </p:spPr>
        <p:txBody>
          <a:bodyPr wrap="square">
            <a:spAutoFit/>
          </a:bodyPr>
          <a:lstStyle/>
          <a:p>
            <a:pPr algn="l"/>
            <a:r>
              <a:rPr sz="1100" b="1">
                <a:solidFill>
                  <a:srgbClr val="0E7B6A"/>
                </a:solidFill>
                <a:latin typeface="Calibri"/>
              </a:rPr>
              <a:t>-65% deviations</a:t>
            </a:r>
          </a:p>
        </p:txBody>
      </p:sp>
      <p:sp>
        <p:nvSpPr>
          <p:cNvPr id="40" name="TextBox 39"/>
          <p:cNvSpPr txBox="1"/>
          <p:nvPr/>
        </p:nvSpPr>
        <p:spPr>
          <a:xfrm>
            <a:off x="6720840" y="3200400"/>
            <a:ext cx="2743200" cy="228600"/>
          </a:xfrm>
          <a:prstGeom prst="rect">
            <a:avLst/>
          </a:prstGeom>
          <a:noFill/>
        </p:spPr>
        <p:txBody>
          <a:bodyPr wrap="square">
            <a:spAutoFit/>
          </a:bodyPr>
          <a:lstStyle/>
          <a:p>
            <a:pPr algn="l"/>
            <a:r>
              <a:rPr sz="850" b="0">
                <a:solidFill>
                  <a:srgbClr val="475569"/>
                </a:solidFill>
                <a:latin typeface="Calibri"/>
              </a:rPr>
              <a:t>All Plants</a:t>
            </a:r>
          </a:p>
        </p:txBody>
      </p:sp>
      <p:sp>
        <p:nvSpPr>
          <p:cNvPr id="41" name="Rectangle 40"/>
          <p:cNvSpPr/>
          <p:nvPr/>
        </p:nvSpPr>
        <p:spPr>
          <a:xfrm>
            <a:off x="10058400" y="2404872"/>
            <a:ext cx="1371600" cy="32004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10058400" y="2404872"/>
            <a:ext cx="1371600" cy="320040"/>
          </a:xfrm>
          <a:prstGeom prst="rect">
            <a:avLst/>
          </a:prstGeom>
          <a:noFill/>
        </p:spPr>
        <p:txBody>
          <a:bodyPr wrap="square">
            <a:spAutoFit/>
          </a:bodyPr>
          <a:lstStyle/>
          <a:p>
            <a:pPr algn="ctr"/>
            <a:r>
              <a:rPr sz="900" b="1">
                <a:solidFill>
                  <a:srgbClr val="FFFFFF"/>
                </a:solidFill>
                <a:latin typeface="Calibri"/>
              </a:rPr>
              <a:t>PHASE 2</a:t>
            </a:r>
          </a:p>
        </p:txBody>
      </p:sp>
      <p:sp>
        <p:nvSpPr>
          <p:cNvPr id="43" name="Rectangle 42"/>
          <p:cNvSpPr/>
          <p:nvPr/>
        </p:nvSpPr>
        <p:spPr>
          <a:xfrm>
            <a:off x="457200" y="365760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Rectangle 43"/>
          <p:cNvSpPr/>
          <p:nvPr/>
        </p:nvSpPr>
        <p:spPr>
          <a:xfrm>
            <a:off x="457200" y="3657600"/>
            <a:ext cx="54864" cy="11887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TextBox 44"/>
          <p:cNvSpPr txBox="1"/>
          <p:nvPr/>
        </p:nvSpPr>
        <p:spPr>
          <a:xfrm>
            <a:off x="594360" y="3730752"/>
            <a:ext cx="457200" cy="274320"/>
          </a:xfrm>
          <a:prstGeom prst="rect">
            <a:avLst/>
          </a:prstGeom>
          <a:noFill/>
        </p:spPr>
        <p:txBody>
          <a:bodyPr wrap="square">
            <a:spAutoFit/>
          </a:bodyPr>
          <a:lstStyle/>
          <a:p>
            <a:pPr algn="l"/>
            <a:r>
              <a:rPr sz="1500" b="1">
                <a:solidFill>
                  <a:srgbClr val="2563EB"/>
                </a:solidFill>
                <a:latin typeface="Calibri"/>
              </a:rPr>
              <a:t>05</a:t>
            </a:r>
          </a:p>
        </p:txBody>
      </p:sp>
      <p:sp>
        <p:nvSpPr>
          <p:cNvPr id="46" name="TextBox 45"/>
          <p:cNvSpPr txBox="1"/>
          <p:nvPr/>
        </p:nvSpPr>
        <p:spPr>
          <a:xfrm>
            <a:off x="1051560" y="3730752"/>
            <a:ext cx="2743200" cy="274320"/>
          </a:xfrm>
          <a:prstGeom prst="rect">
            <a:avLst/>
          </a:prstGeom>
          <a:noFill/>
        </p:spPr>
        <p:txBody>
          <a:bodyPr wrap="square">
            <a:spAutoFit/>
          </a:bodyPr>
          <a:lstStyle/>
          <a:p>
            <a:pPr algn="l"/>
            <a:r>
              <a:rPr sz="1200" b="1">
                <a:solidFill>
                  <a:srgbClr val="1A2754"/>
                </a:solidFill>
                <a:latin typeface="Calibri"/>
              </a:rPr>
              <a:t>품질 분석</a:t>
            </a:r>
          </a:p>
        </p:txBody>
      </p:sp>
      <p:sp>
        <p:nvSpPr>
          <p:cNvPr id="47" name="TextBox 46"/>
          <p:cNvSpPr txBox="1"/>
          <p:nvPr/>
        </p:nvSpPr>
        <p:spPr>
          <a:xfrm>
            <a:off x="1051560" y="4023360"/>
            <a:ext cx="2743200" cy="228600"/>
          </a:xfrm>
          <a:prstGeom prst="rect">
            <a:avLst/>
          </a:prstGeom>
          <a:noFill/>
        </p:spPr>
        <p:txBody>
          <a:bodyPr wrap="square">
            <a:spAutoFit/>
          </a:bodyPr>
          <a:lstStyle/>
          <a:p>
            <a:pPr algn="l"/>
            <a:r>
              <a:rPr sz="950" b="0">
                <a:solidFill>
                  <a:srgbClr val="64748B"/>
                </a:solidFill>
                <a:latin typeface="Calibri"/>
              </a:rPr>
              <a:t>Predictive Quality</a:t>
            </a:r>
          </a:p>
        </p:txBody>
      </p:sp>
      <p:sp>
        <p:nvSpPr>
          <p:cNvPr id="48" name="TextBox 47"/>
          <p:cNvSpPr txBox="1"/>
          <p:nvPr/>
        </p:nvSpPr>
        <p:spPr>
          <a:xfrm>
            <a:off x="1051560" y="4297680"/>
            <a:ext cx="2743200" cy="228600"/>
          </a:xfrm>
          <a:prstGeom prst="rect">
            <a:avLst/>
          </a:prstGeom>
          <a:noFill/>
        </p:spPr>
        <p:txBody>
          <a:bodyPr wrap="square">
            <a:spAutoFit/>
          </a:bodyPr>
          <a:lstStyle/>
          <a:p>
            <a:pPr algn="l"/>
            <a:r>
              <a:rPr sz="1100" b="1">
                <a:solidFill>
                  <a:srgbClr val="2563EB"/>
                </a:solidFill>
                <a:latin typeface="Calibri"/>
              </a:rPr>
              <a:t>-50% field defects</a:t>
            </a:r>
          </a:p>
        </p:txBody>
      </p:sp>
      <p:sp>
        <p:nvSpPr>
          <p:cNvPr id="49" name="TextBox 48"/>
          <p:cNvSpPr txBox="1"/>
          <p:nvPr/>
        </p:nvSpPr>
        <p:spPr>
          <a:xfrm>
            <a:off x="1051560" y="4526280"/>
            <a:ext cx="2743200" cy="228600"/>
          </a:xfrm>
          <a:prstGeom prst="rect">
            <a:avLst/>
          </a:prstGeom>
          <a:noFill/>
        </p:spPr>
        <p:txBody>
          <a:bodyPr wrap="square">
            <a:spAutoFit/>
          </a:bodyPr>
          <a:lstStyle/>
          <a:p>
            <a:pPr algn="l"/>
            <a:r>
              <a:rPr sz="850" b="0">
                <a:solidFill>
                  <a:srgbClr val="475569"/>
                </a:solidFill>
                <a:latin typeface="Calibri"/>
              </a:rPr>
              <a:t>Ulsan / Asan</a:t>
            </a:r>
          </a:p>
        </p:txBody>
      </p:sp>
      <p:sp>
        <p:nvSpPr>
          <p:cNvPr id="50" name="Rectangle 49"/>
          <p:cNvSpPr/>
          <p:nvPr/>
        </p:nvSpPr>
        <p:spPr>
          <a:xfrm>
            <a:off x="4389120" y="3730752"/>
            <a:ext cx="1371600" cy="3200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1" name="TextBox 50"/>
          <p:cNvSpPr txBox="1"/>
          <p:nvPr/>
        </p:nvSpPr>
        <p:spPr>
          <a:xfrm>
            <a:off x="4389120" y="3730752"/>
            <a:ext cx="1371600" cy="320040"/>
          </a:xfrm>
          <a:prstGeom prst="rect">
            <a:avLst/>
          </a:prstGeom>
          <a:noFill/>
        </p:spPr>
        <p:txBody>
          <a:bodyPr wrap="square">
            <a:spAutoFit/>
          </a:bodyPr>
          <a:lstStyle/>
          <a:p>
            <a:pPr algn="ctr"/>
            <a:r>
              <a:rPr sz="900" b="1">
                <a:solidFill>
                  <a:srgbClr val="FFFFFF"/>
                </a:solidFill>
                <a:latin typeface="Calibri"/>
              </a:rPr>
              <a:t>PHASE 3</a:t>
            </a:r>
          </a:p>
        </p:txBody>
      </p:sp>
      <p:sp>
        <p:nvSpPr>
          <p:cNvPr id="52" name="Rectangle 51"/>
          <p:cNvSpPr/>
          <p:nvPr/>
        </p:nvSpPr>
        <p:spPr>
          <a:xfrm>
            <a:off x="6126480" y="365760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Rectangle 52"/>
          <p:cNvSpPr/>
          <p:nvPr/>
        </p:nvSpPr>
        <p:spPr>
          <a:xfrm>
            <a:off x="6126480" y="3657600"/>
            <a:ext cx="54864" cy="118872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6263640" y="3730752"/>
            <a:ext cx="457200" cy="274320"/>
          </a:xfrm>
          <a:prstGeom prst="rect">
            <a:avLst/>
          </a:prstGeom>
          <a:noFill/>
        </p:spPr>
        <p:txBody>
          <a:bodyPr wrap="square">
            <a:spAutoFit/>
          </a:bodyPr>
          <a:lstStyle/>
          <a:p>
            <a:pPr algn="l"/>
            <a:r>
              <a:rPr sz="1500" b="1">
                <a:solidFill>
                  <a:srgbClr val="14A085"/>
                </a:solidFill>
                <a:latin typeface="Calibri"/>
              </a:rPr>
              <a:t>06</a:t>
            </a:r>
          </a:p>
        </p:txBody>
      </p:sp>
      <p:sp>
        <p:nvSpPr>
          <p:cNvPr id="55" name="TextBox 54"/>
          <p:cNvSpPr txBox="1"/>
          <p:nvPr/>
        </p:nvSpPr>
        <p:spPr>
          <a:xfrm>
            <a:off x="6720840" y="3730752"/>
            <a:ext cx="2743200" cy="274320"/>
          </a:xfrm>
          <a:prstGeom prst="rect">
            <a:avLst/>
          </a:prstGeom>
          <a:noFill/>
        </p:spPr>
        <p:txBody>
          <a:bodyPr wrap="square">
            <a:spAutoFit/>
          </a:bodyPr>
          <a:lstStyle/>
          <a:p>
            <a:pPr algn="l"/>
            <a:r>
              <a:rPr sz="1200" b="1">
                <a:solidFill>
                  <a:srgbClr val="1A2754"/>
                </a:solidFill>
                <a:latin typeface="Calibri"/>
              </a:rPr>
              <a:t>예측 정비</a:t>
            </a:r>
          </a:p>
        </p:txBody>
      </p:sp>
      <p:sp>
        <p:nvSpPr>
          <p:cNvPr id="56" name="TextBox 55"/>
          <p:cNvSpPr txBox="1"/>
          <p:nvPr/>
        </p:nvSpPr>
        <p:spPr>
          <a:xfrm>
            <a:off x="6720840" y="4023360"/>
            <a:ext cx="2743200" cy="228600"/>
          </a:xfrm>
          <a:prstGeom prst="rect">
            <a:avLst/>
          </a:prstGeom>
          <a:noFill/>
        </p:spPr>
        <p:txBody>
          <a:bodyPr wrap="square">
            <a:spAutoFit/>
          </a:bodyPr>
          <a:lstStyle/>
          <a:p>
            <a:pPr algn="l"/>
            <a:r>
              <a:rPr sz="950" b="0">
                <a:solidFill>
                  <a:srgbClr val="64748B"/>
                </a:solidFill>
                <a:latin typeface="Calibri"/>
              </a:rPr>
              <a:t>Predictive Maintenance</a:t>
            </a:r>
          </a:p>
        </p:txBody>
      </p:sp>
      <p:sp>
        <p:nvSpPr>
          <p:cNvPr id="57" name="TextBox 56"/>
          <p:cNvSpPr txBox="1"/>
          <p:nvPr/>
        </p:nvSpPr>
        <p:spPr>
          <a:xfrm>
            <a:off x="6720840" y="4297680"/>
            <a:ext cx="2743200" cy="228600"/>
          </a:xfrm>
          <a:prstGeom prst="rect">
            <a:avLst/>
          </a:prstGeom>
          <a:noFill/>
        </p:spPr>
        <p:txBody>
          <a:bodyPr wrap="square">
            <a:spAutoFit/>
          </a:bodyPr>
          <a:lstStyle/>
          <a:p>
            <a:pPr algn="l"/>
            <a:r>
              <a:rPr sz="1100" b="1">
                <a:solidFill>
                  <a:srgbClr val="14A085"/>
                </a:solidFill>
                <a:latin typeface="Calibri"/>
              </a:rPr>
              <a:t>-40% downtime</a:t>
            </a:r>
          </a:p>
        </p:txBody>
      </p:sp>
      <p:sp>
        <p:nvSpPr>
          <p:cNvPr id="58" name="TextBox 57"/>
          <p:cNvSpPr txBox="1"/>
          <p:nvPr/>
        </p:nvSpPr>
        <p:spPr>
          <a:xfrm>
            <a:off x="6720840" y="4526280"/>
            <a:ext cx="2743200" cy="228600"/>
          </a:xfrm>
          <a:prstGeom prst="rect">
            <a:avLst/>
          </a:prstGeom>
          <a:noFill/>
        </p:spPr>
        <p:txBody>
          <a:bodyPr wrap="square">
            <a:spAutoFit/>
          </a:bodyPr>
          <a:lstStyle/>
          <a:p>
            <a:pPr algn="l"/>
            <a:r>
              <a:rPr sz="850" b="0">
                <a:solidFill>
                  <a:srgbClr val="475569"/>
                </a:solidFill>
                <a:latin typeface="Calibri"/>
              </a:rPr>
              <a:t>Ulsan Stamping</a:t>
            </a:r>
          </a:p>
        </p:txBody>
      </p:sp>
      <p:sp>
        <p:nvSpPr>
          <p:cNvPr id="59" name="Rectangle 58"/>
          <p:cNvSpPr/>
          <p:nvPr/>
        </p:nvSpPr>
        <p:spPr>
          <a:xfrm>
            <a:off x="10058400" y="3730752"/>
            <a:ext cx="1371600" cy="32004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10058400" y="3730752"/>
            <a:ext cx="1371600" cy="320040"/>
          </a:xfrm>
          <a:prstGeom prst="rect">
            <a:avLst/>
          </a:prstGeom>
          <a:noFill/>
        </p:spPr>
        <p:txBody>
          <a:bodyPr wrap="square">
            <a:spAutoFit/>
          </a:bodyPr>
          <a:lstStyle/>
          <a:p>
            <a:pPr algn="ctr"/>
            <a:r>
              <a:rPr sz="900" b="1">
                <a:solidFill>
                  <a:srgbClr val="FFFFFF"/>
                </a:solidFill>
                <a:latin typeface="Calibri"/>
              </a:rPr>
              <a:t>PILOT 2</a:t>
            </a:r>
          </a:p>
        </p:txBody>
      </p:sp>
      <p:sp>
        <p:nvSpPr>
          <p:cNvPr id="61" name="Rectangle 60"/>
          <p:cNvSpPr/>
          <p:nvPr/>
        </p:nvSpPr>
        <p:spPr>
          <a:xfrm>
            <a:off x="457200" y="498348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Rectangle 61"/>
          <p:cNvSpPr/>
          <p:nvPr/>
        </p:nvSpPr>
        <p:spPr>
          <a:xfrm>
            <a:off x="457200" y="4983480"/>
            <a:ext cx="54864" cy="11887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594360" y="5056632"/>
            <a:ext cx="457200" cy="274320"/>
          </a:xfrm>
          <a:prstGeom prst="rect">
            <a:avLst/>
          </a:prstGeom>
          <a:noFill/>
        </p:spPr>
        <p:txBody>
          <a:bodyPr wrap="square">
            <a:spAutoFit/>
          </a:bodyPr>
          <a:lstStyle/>
          <a:p>
            <a:pPr algn="l"/>
            <a:r>
              <a:rPr sz="1500" b="1">
                <a:solidFill>
                  <a:srgbClr val="FF6B35"/>
                </a:solidFill>
                <a:latin typeface="Calibri"/>
              </a:rPr>
              <a:t>07</a:t>
            </a:r>
          </a:p>
        </p:txBody>
      </p:sp>
      <p:sp>
        <p:nvSpPr>
          <p:cNvPr id="64" name="TextBox 63"/>
          <p:cNvSpPr txBox="1"/>
          <p:nvPr/>
        </p:nvSpPr>
        <p:spPr>
          <a:xfrm>
            <a:off x="1051560" y="5056632"/>
            <a:ext cx="2743200" cy="274320"/>
          </a:xfrm>
          <a:prstGeom prst="rect">
            <a:avLst/>
          </a:prstGeom>
          <a:noFill/>
        </p:spPr>
        <p:txBody>
          <a:bodyPr wrap="square">
            <a:spAutoFit/>
          </a:bodyPr>
          <a:lstStyle/>
          <a:p>
            <a:pPr algn="l"/>
            <a:r>
              <a:rPr sz="1200" b="1">
                <a:solidFill>
                  <a:srgbClr val="1A2754"/>
                </a:solidFill>
                <a:latin typeface="Calibri"/>
              </a:rPr>
              <a:t>안전 모니터링</a:t>
            </a:r>
          </a:p>
        </p:txBody>
      </p:sp>
      <p:sp>
        <p:nvSpPr>
          <p:cNvPr id="65" name="TextBox 64"/>
          <p:cNvSpPr txBox="1"/>
          <p:nvPr/>
        </p:nvSpPr>
        <p:spPr>
          <a:xfrm>
            <a:off x="1051560" y="5349240"/>
            <a:ext cx="2743200" cy="228600"/>
          </a:xfrm>
          <a:prstGeom prst="rect">
            <a:avLst/>
          </a:prstGeom>
          <a:noFill/>
        </p:spPr>
        <p:txBody>
          <a:bodyPr wrap="square">
            <a:spAutoFit/>
          </a:bodyPr>
          <a:lstStyle/>
          <a:p>
            <a:pPr algn="l"/>
            <a:r>
              <a:rPr sz="950" b="0">
                <a:solidFill>
                  <a:srgbClr val="64748B"/>
                </a:solidFill>
                <a:latin typeface="Calibri"/>
              </a:rPr>
              <a:t>Safety Monitoring</a:t>
            </a:r>
          </a:p>
        </p:txBody>
      </p:sp>
      <p:sp>
        <p:nvSpPr>
          <p:cNvPr id="66" name="TextBox 65"/>
          <p:cNvSpPr txBox="1"/>
          <p:nvPr/>
        </p:nvSpPr>
        <p:spPr>
          <a:xfrm>
            <a:off x="1051560" y="5623560"/>
            <a:ext cx="2743200" cy="228600"/>
          </a:xfrm>
          <a:prstGeom prst="rect">
            <a:avLst/>
          </a:prstGeom>
          <a:noFill/>
        </p:spPr>
        <p:txBody>
          <a:bodyPr wrap="square">
            <a:spAutoFit/>
          </a:bodyPr>
          <a:lstStyle/>
          <a:p>
            <a:pPr algn="l"/>
            <a:r>
              <a:rPr sz="1100" b="1">
                <a:solidFill>
                  <a:srgbClr val="FF6B35"/>
                </a:solidFill>
                <a:latin typeface="Calibri"/>
              </a:rPr>
              <a:t>-70% incidents</a:t>
            </a:r>
          </a:p>
        </p:txBody>
      </p:sp>
      <p:sp>
        <p:nvSpPr>
          <p:cNvPr id="67" name="TextBox 66"/>
          <p:cNvSpPr txBox="1"/>
          <p:nvPr/>
        </p:nvSpPr>
        <p:spPr>
          <a:xfrm>
            <a:off x="1051560" y="5852160"/>
            <a:ext cx="2743200" cy="228600"/>
          </a:xfrm>
          <a:prstGeom prst="rect">
            <a:avLst/>
          </a:prstGeom>
          <a:noFill/>
        </p:spPr>
        <p:txBody>
          <a:bodyPr wrap="square">
            <a:spAutoFit/>
          </a:bodyPr>
          <a:lstStyle/>
          <a:p>
            <a:pPr algn="l"/>
            <a:r>
              <a:rPr sz="850" b="0">
                <a:solidFill>
                  <a:srgbClr val="475569"/>
                </a:solidFill>
                <a:latin typeface="Calibri"/>
              </a:rPr>
              <a:t>All Plants</a:t>
            </a:r>
          </a:p>
        </p:txBody>
      </p:sp>
      <p:sp>
        <p:nvSpPr>
          <p:cNvPr id="68" name="Rectangle 67"/>
          <p:cNvSpPr/>
          <p:nvPr/>
        </p:nvSpPr>
        <p:spPr>
          <a:xfrm>
            <a:off x="4389120" y="5056632"/>
            <a:ext cx="1371600" cy="3200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9" name="TextBox 68"/>
          <p:cNvSpPr txBox="1"/>
          <p:nvPr/>
        </p:nvSpPr>
        <p:spPr>
          <a:xfrm>
            <a:off x="4389120" y="5056632"/>
            <a:ext cx="1371600" cy="320040"/>
          </a:xfrm>
          <a:prstGeom prst="rect">
            <a:avLst/>
          </a:prstGeom>
          <a:noFill/>
        </p:spPr>
        <p:txBody>
          <a:bodyPr wrap="square">
            <a:spAutoFit/>
          </a:bodyPr>
          <a:lstStyle/>
          <a:p>
            <a:pPr algn="ctr"/>
            <a:r>
              <a:rPr sz="900" b="1">
                <a:solidFill>
                  <a:srgbClr val="FFFFFF"/>
                </a:solidFill>
                <a:latin typeface="Calibri"/>
              </a:rPr>
              <a:t>PHASE 3</a:t>
            </a:r>
          </a:p>
        </p:txBody>
      </p:sp>
      <p:sp>
        <p:nvSpPr>
          <p:cNvPr id="70" name="Rectangle 69"/>
          <p:cNvSpPr/>
          <p:nvPr/>
        </p:nvSpPr>
        <p:spPr>
          <a:xfrm>
            <a:off x="6126480" y="4983480"/>
            <a:ext cx="5486400" cy="11887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1" name="Rectangle 70"/>
          <p:cNvSpPr/>
          <p:nvPr/>
        </p:nvSpPr>
        <p:spPr>
          <a:xfrm>
            <a:off x="6126480" y="4983480"/>
            <a:ext cx="54864" cy="118872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TextBox 71"/>
          <p:cNvSpPr txBox="1"/>
          <p:nvPr/>
        </p:nvSpPr>
        <p:spPr>
          <a:xfrm>
            <a:off x="6263640" y="5056632"/>
            <a:ext cx="457200" cy="274320"/>
          </a:xfrm>
          <a:prstGeom prst="rect">
            <a:avLst/>
          </a:prstGeom>
          <a:noFill/>
        </p:spPr>
        <p:txBody>
          <a:bodyPr wrap="square">
            <a:spAutoFit/>
          </a:bodyPr>
          <a:lstStyle/>
          <a:p>
            <a:pPr algn="l"/>
            <a:r>
              <a:rPr sz="1500" b="1">
                <a:solidFill>
                  <a:srgbClr val="00AAD4"/>
                </a:solidFill>
                <a:latin typeface="Calibri"/>
              </a:rPr>
              <a:t>08</a:t>
            </a:r>
          </a:p>
        </p:txBody>
      </p:sp>
      <p:sp>
        <p:nvSpPr>
          <p:cNvPr id="73" name="TextBox 72"/>
          <p:cNvSpPr txBox="1"/>
          <p:nvPr/>
        </p:nvSpPr>
        <p:spPr>
          <a:xfrm>
            <a:off x="6720840" y="5056632"/>
            <a:ext cx="2743200" cy="274320"/>
          </a:xfrm>
          <a:prstGeom prst="rect">
            <a:avLst/>
          </a:prstGeom>
          <a:noFill/>
        </p:spPr>
        <p:txBody>
          <a:bodyPr wrap="square">
            <a:spAutoFit/>
          </a:bodyPr>
          <a:lstStyle/>
          <a:p>
            <a:pPr algn="l"/>
            <a:r>
              <a:rPr sz="1200" b="1">
                <a:solidFill>
                  <a:srgbClr val="1A2754"/>
                </a:solidFill>
                <a:latin typeface="Calibri"/>
              </a:rPr>
              <a:t>디지털 추적성</a:t>
            </a:r>
          </a:p>
        </p:txBody>
      </p:sp>
      <p:sp>
        <p:nvSpPr>
          <p:cNvPr id="74" name="TextBox 73"/>
          <p:cNvSpPr txBox="1"/>
          <p:nvPr/>
        </p:nvSpPr>
        <p:spPr>
          <a:xfrm>
            <a:off x="6720840" y="5349240"/>
            <a:ext cx="2743200" cy="228600"/>
          </a:xfrm>
          <a:prstGeom prst="rect">
            <a:avLst/>
          </a:prstGeom>
          <a:noFill/>
        </p:spPr>
        <p:txBody>
          <a:bodyPr wrap="square">
            <a:spAutoFit/>
          </a:bodyPr>
          <a:lstStyle/>
          <a:p>
            <a:pPr algn="l"/>
            <a:r>
              <a:rPr sz="950" b="0">
                <a:solidFill>
                  <a:srgbClr val="64748B"/>
                </a:solidFill>
                <a:latin typeface="Calibri"/>
              </a:rPr>
              <a:t>Digital Traceability</a:t>
            </a:r>
          </a:p>
        </p:txBody>
      </p:sp>
      <p:sp>
        <p:nvSpPr>
          <p:cNvPr id="75" name="TextBox 74"/>
          <p:cNvSpPr txBox="1"/>
          <p:nvPr/>
        </p:nvSpPr>
        <p:spPr>
          <a:xfrm>
            <a:off x="6720840" y="5623560"/>
            <a:ext cx="2743200" cy="228600"/>
          </a:xfrm>
          <a:prstGeom prst="rect">
            <a:avLst/>
          </a:prstGeom>
          <a:noFill/>
        </p:spPr>
        <p:txBody>
          <a:bodyPr wrap="square">
            <a:spAutoFit/>
          </a:bodyPr>
          <a:lstStyle/>
          <a:p>
            <a:pPr algn="l"/>
            <a:r>
              <a:rPr sz="1100" b="1">
                <a:solidFill>
                  <a:srgbClr val="00AAD4"/>
                </a:solidFill>
                <a:latin typeface="Calibri"/>
              </a:rPr>
              <a:t>100% coverage</a:t>
            </a:r>
          </a:p>
        </p:txBody>
      </p:sp>
      <p:sp>
        <p:nvSpPr>
          <p:cNvPr id="76" name="TextBox 75"/>
          <p:cNvSpPr txBox="1"/>
          <p:nvPr/>
        </p:nvSpPr>
        <p:spPr>
          <a:xfrm>
            <a:off x="6720840" y="5852160"/>
            <a:ext cx="2743200" cy="228600"/>
          </a:xfrm>
          <a:prstGeom prst="rect">
            <a:avLst/>
          </a:prstGeom>
          <a:noFill/>
        </p:spPr>
        <p:txBody>
          <a:bodyPr wrap="square">
            <a:spAutoFit/>
          </a:bodyPr>
          <a:lstStyle/>
          <a:p>
            <a:pPr algn="l"/>
            <a:r>
              <a:rPr sz="850" b="0">
                <a:solidFill>
                  <a:srgbClr val="475569"/>
                </a:solidFill>
                <a:latin typeface="Calibri"/>
              </a:rPr>
              <a:t>Supply Chain</a:t>
            </a:r>
          </a:p>
        </p:txBody>
      </p:sp>
      <p:sp>
        <p:nvSpPr>
          <p:cNvPr id="77" name="Rectangle 76"/>
          <p:cNvSpPr/>
          <p:nvPr/>
        </p:nvSpPr>
        <p:spPr>
          <a:xfrm>
            <a:off x="10058400" y="5056632"/>
            <a:ext cx="1371600" cy="3200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8" name="TextBox 77"/>
          <p:cNvSpPr txBox="1"/>
          <p:nvPr/>
        </p:nvSpPr>
        <p:spPr>
          <a:xfrm>
            <a:off x="10058400" y="5056632"/>
            <a:ext cx="1371600" cy="320040"/>
          </a:xfrm>
          <a:prstGeom prst="rect">
            <a:avLst/>
          </a:prstGeom>
          <a:noFill/>
        </p:spPr>
        <p:txBody>
          <a:bodyPr wrap="square">
            <a:spAutoFit/>
          </a:bodyPr>
          <a:lstStyle/>
          <a:p>
            <a:pPr algn="ctr"/>
            <a:r>
              <a:rPr sz="900" b="1">
                <a:solidFill>
                  <a:srgbClr val="FFFFFF"/>
                </a:solidFill>
                <a:latin typeface="Calibri"/>
              </a:rPr>
              <a:t>PHASE 3</a:t>
            </a:r>
          </a:p>
        </p:txBody>
      </p:sp>
      <p:sp>
        <p:nvSpPr>
          <p:cNvPr id="79" name="Rectangle 78"/>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0" name="TextBox 79"/>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81" name="TextBox 80"/>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06 / 20 · CONFIDENTIAL</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01</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AI-based Visual Inspection  비전 검사</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Computer Vision + Deep Learning</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Paint defects, scratches, dents, welding inconsistencies, and panel misalignments escape manual inspection. Human inspectors miss 15-25% of surface defects at line speed, leading to costly rework, warranty claims, and potential recalls.</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14A085"/>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High-resolution AI cameras inspect vehicle surfaces in real time. CNN models compare images against golden-sample quality standards and flag anomalies instantly. Defective units are auto-held before advancing to the next station.</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14A085"/>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Real-time surface defect detection across paint, welds, and panel gaps</a:t>
            </a:r>
          </a:p>
          <a:p>
            <a:pPr>
              <a:spcBef>
                <a:spcPts val="200"/>
              </a:spcBef>
              <a:spcAft>
                <a:spcPts val="200"/>
              </a:spcAft>
            </a:pPr>
            <a:r>
              <a:rPr sz="1000" b="0">
                <a:solidFill>
                  <a:srgbClr val="1E293B"/>
                </a:solidFill>
                <a:latin typeface="Calibri"/>
              </a:rPr>
              <a:t>•  CNN-based anomaly scoring against golden-sample quality standards</a:t>
            </a:r>
          </a:p>
          <a:p>
            <a:pPr>
              <a:spcBef>
                <a:spcPts val="200"/>
              </a:spcBef>
              <a:spcAft>
                <a:spcPts val="200"/>
              </a:spcAft>
            </a:pPr>
            <a:r>
              <a:rPr sz="1000" b="0">
                <a:solidFill>
                  <a:srgbClr val="1E293B"/>
                </a:solidFill>
                <a:latin typeface="Calibri"/>
              </a:rPr>
              <a:t>•  Auto-triggered downstream hold for flagged vehicles</a:t>
            </a:r>
          </a:p>
          <a:p>
            <a:pPr>
              <a:spcBef>
                <a:spcPts val="200"/>
              </a:spcBef>
              <a:spcAft>
                <a:spcPts val="200"/>
              </a:spcAft>
            </a:pPr>
            <a:r>
              <a:rPr sz="1000" b="0">
                <a:solidFill>
                  <a:srgbClr val="1E293B"/>
                </a:solidFill>
                <a:latin typeface="Calibri"/>
              </a:rPr>
              <a:t>•  Defect traceability linked to production station, shift, and operator</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-45%</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Rework Costs</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-60%</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Escape Defects</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&lt;2s</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Detection Latency</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+35%</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Line Throughput</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Edge AI cameras · AWS Rekognition / Azure Custom Vision · MES · Defect DB · Quality Dashboard</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Quality Engineers · Line Supervisors · Plant Managers</a:t>
            </a:r>
          </a:p>
        </p:txBody>
      </p:sp>
      <p:sp>
        <p:nvSpPr>
          <p:cNvPr id="40" name="Rectangle 39"/>
          <p:cNvSpPr/>
          <p:nvPr/>
        </p:nvSpPr>
        <p:spPr>
          <a:xfrm>
            <a:off x="7040880" y="4800600"/>
            <a:ext cx="4663440" cy="411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40880" y="4800600"/>
            <a:ext cx="54864" cy="41148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78040" y="4818888"/>
            <a:ext cx="4434840" cy="164592"/>
          </a:xfrm>
          <a:prstGeom prst="rect">
            <a:avLst/>
          </a:prstGeom>
          <a:noFill/>
        </p:spPr>
        <p:txBody>
          <a:bodyPr wrap="square">
            <a:spAutoFit/>
          </a:bodyPr>
          <a:lstStyle/>
          <a:p>
            <a:pPr algn="l"/>
            <a:r>
              <a:rPr sz="800" b="1">
                <a:solidFill>
                  <a:srgbClr val="14A085"/>
                </a:solidFill>
                <a:latin typeface="Calibri"/>
              </a:rPr>
              <a:t>RECOMMENDED HYUNDAI START</a:t>
            </a:r>
          </a:p>
        </p:txBody>
      </p:sp>
      <p:sp>
        <p:nvSpPr>
          <p:cNvPr id="43" name="TextBox 42"/>
          <p:cNvSpPr txBox="1"/>
          <p:nvPr/>
        </p:nvSpPr>
        <p:spPr>
          <a:xfrm>
            <a:off x="7178040" y="4946904"/>
            <a:ext cx="4434840" cy="246888"/>
          </a:xfrm>
          <a:prstGeom prst="rect">
            <a:avLst/>
          </a:prstGeom>
          <a:noFill/>
        </p:spPr>
        <p:txBody>
          <a:bodyPr wrap="square">
            <a:spAutoFit/>
          </a:bodyPr>
          <a:lstStyle/>
          <a:p>
            <a:pPr algn="l"/>
            <a:r>
              <a:rPr sz="850" b="0">
                <a:solidFill>
                  <a:srgbClr val="1E293B"/>
                </a:solidFill>
                <a:latin typeface="Calibri"/>
              </a:rPr>
              <a:t>Paint shop · IONIQ 5 / IONIQ 9 line at Metaplant America (HMGMA) — newest line, highest variant complexity. 8-week pilot.</a:t>
            </a:r>
          </a:p>
        </p:txBody>
      </p:sp>
      <p:sp>
        <p:nvSpPr>
          <p:cNvPr id="44" name="Rectangle 43"/>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5257800"/>
            <a:ext cx="11247120" cy="36576"/>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7" name="TextBox 46"/>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8" name="TextBox 47"/>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Industrial high-res cameras (Cognex / Basler) · LED light tunnels · NVIDIA Jetson edge inference</a:t>
            </a:r>
          </a:p>
        </p:txBody>
      </p:sp>
      <p:sp>
        <p:nvSpPr>
          <p:cNvPr id="49" name="TextBox 48"/>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50" name="TextBox 49"/>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CNN anomaly models (ResNet50, EfficientNet) · AWS Rekognition Custom Labels / Azure Custom Vision · Transfer learning</a:t>
            </a:r>
          </a:p>
        </p:txBody>
      </p:sp>
      <p:sp>
        <p:nvSpPr>
          <p:cNvPr id="51" name="TextBox 50"/>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52" name="TextBox 51"/>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MES connector · OPC-UA bus · Defect database (PostgreSQL) · Kafka event stream</a:t>
            </a:r>
          </a:p>
        </p:txBody>
      </p:sp>
      <p:sp>
        <p:nvSpPr>
          <p:cNvPr id="53" name="TextBox 52"/>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4" name="TextBox 53"/>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Real-time quality dashboard · Operator hold-station UI · Defect drill-down portal · Slack/Teams alerts</a:t>
            </a:r>
          </a:p>
        </p:txBody>
      </p:sp>
      <p:sp>
        <p:nvSpPr>
          <p:cNvPr id="55" name="Rectangle 54"/>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7" name="TextBox 56"/>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07 / 20 · CONFIDENTIAL</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02</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Model &amp; Variant Confirmation  변종 확인</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AI Variant Verification</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Wrong variant assembly — mismatched trim, components, or accessories — costs millions in rework and recall risk. With 50+ IONIQ variants per line, manual checks miss configuration errors at production speed.</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D97706"/>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Computer vision and VIN/barcode recognition validate vehicle model, trim level, and installed components against the BOM in real time. Mismatches trigger automatic line holds before the vehicle advances.</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D97706"/>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VIN + barcode scanning for model and variant identification</a:t>
            </a:r>
          </a:p>
          <a:p>
            <a:pPr>
              <a:spcBef>
                <a:spcPts val="200"/>
              </a:spcBef>
              <a:spcAft>
                <a:spcPts val="200"/>
              </a:spcAft>
            </a:pPr>
            <a:r>
              <a:rPr sz="1000" b="0">
                <a:solidFill>
                  <a:srgbClr val="1E293B"/>
                </a:solidFill>
                <a:latin typeface="Calibri"/>
              </a:rPr>
              <a:t>•  Vision-based BOM comparison against installed components</a:t>
            </a:r>
          </a:p>
          <a:p>
            <a:pPr>
              <a:spcBef>
                <a:spcPts val="200"/>
              </a:spcBef>
              <a:spcAft>
                <a:spcPts val="200"/>
              </a:spcAft>
            </a:pPr>
            <a:r>
              <a:rPr sz="1000" b="0">
                <a:solidFill>
                  <a:srgbClr val="1E293B"/>
                </a:solidFill>
                <a:latin typeface="Calibri"/>
              </a:rPr>
              <a:t>•  Real-time mismatch alerts before vehicle advances to next stage</a:t>
            </a:r>
          </a:p>
          <a:p>
            <a:pPr>
              <a:spcBef>
                <a:spcPts val="200"/>
              </a:spcBef>
              <a:spcAft>
                <a:spcPts val="200"/>
              </a:spcAft>
            </a:pPr>
            <a:r>
              <a:rPr sz="1000" b="0">
                <a:solidFill>
                  <a:srgbClr val="1E293B"/>
                </a:solidFill>
                <a:latin typeface="Calibri"/>
              </a:rPr>
              <a:t>•  MES integration to block line progression on confirmation failure</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-90%</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Wrong Variants</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-70%</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Rework Events</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99.8%</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Verification Accuracy</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&lt;1s</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Check Latency</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Vision cameras · VIN/barcode scanners · SAP MES · BOM database · Line controllers</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Assembly Operators · Quality Control · Production Supervisors</a:t>
            </a:r>
          </a:p>
        </p:txBody>
      </p:sp>
      <p:sp>
        <p:nvSpPr>
          <p:cNvPr id="40" name="Rectangle 39"/>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257800"/>
            <a:ext cx="11247120" cy="36576"/>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3" name="TextBox 42"/>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4" name="TextBox 43"/>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Vision cameras · VIN/barcode scanners (Datalogic, Cognex DataMan) · Edge gateway with local cache</a:t>
            </a:r>
          </a:p>
        </p:txBody>
      </p:sp>
      <p:sp>
        <p:nvSpPr>
          <p:cNvPr id="45" name="TextBox 44"/>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46" name="TextBox 45"/>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OCR + object detection (YOLOv8, PaddleOCR) · BOM-match rules engine · Hybrid edge/cloud inference</a:t>
            </a:r>
          </a:p>
        </p:txBody>
      </p:sp>
      <p:sp>
        <p:nvSpPr>
          <p:cNvPr id="47" name="TextBox 46"/>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48" name="TextBox 47"/>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SAP MES API · BOM database · PLC / line-controller signal-out · Variant configuration service</a:t>
            </a:r>
          </a:p>
        </p:txBody>
      </p:sp>
      <p:sp>
        <p:nvSpPr>
          <p:cNvPr id="49" name="TextBox 48"/>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0" name="TextBox 49"/>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Station mismatch console · Auto-line-hold trigger · Supervisor mobile alert · Variant audit report</a:t>
            </a:r>
          </a:p>
        </p:txBody>
      </p:sp>
      <p:sp>
        <p:nvSpPr>
          <p:cNvPr id="51" name="Rectangle 50"/>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3" name="TextBox 52"/>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08 / 20 · CONFIDENTIAL</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03</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Seating &amp; Component Validation  좌석 검증</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Vision AI Fitment Checks</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Incorrect seat type, orientation, or mounting errors pass undetected during assembly and cause safety recalls. With multiple trim levels and configurations, manual inspection cannot verify every fitment point at line speed.</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7C3AED"/>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AI cameras verify seat type, orientation, mounting alignment, fastening completion, and fitment accuracy against the vehicle's variant configuration. Any deviation triggers an immediate alert before the vehicle proceeds.</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7C3AED"/>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Seat type and orientation verification via vision AI</a:t>
            </a:r>
          </a:p>
          <a:p>
            <a:pPr>
              <a:spcBef>
                <a:spcPts val="200"/>
              </a:spcBef>
              <a:spcAft>
                <a:spcPts val="200"/>
              </a:spcAft>
            </a:pPr>
            <a:r>
              <a:rPr sz="1000" b="0">
                <a:solidFill>
                  <a:srgbClr val="1E293B"/>
                </a:solidFill>
                <a:latin typeface="Calibri"/>
              </a:rPr>
              <a:t>•  Torque and fastening completion detection</a:t>
            </a:r>
          </a:p>
          <a:p>
            <a:pPr>
              <a:spcBef>
                <a:spcPts val="200"/>
              </a:spcBef>
              <a:spcAft>
                <a:spcPts val="200"/>
              </a:spcAft>
            </a:pPr>
            <a:r>
              <a:rPr sz="1000" b="0">
                <a:solidFill>
                  <a:srgbClr val="1E293B"/>
                </a:solidFill>
                <a:latin typeface="Calibri"/>
              </a:rPr>
              <a:t>•  Variant-matched fitment checks against vehicle configuration</a:t>
            </a:r>
          </a:p>
          <a:p>
            <a:pPr>
              <a:spcBef>
                <a:spcPts val="200"/>
              </a:spcBef>
              <a:spcAft>
                <a:spcPts val="200"/>
              </a:spcAft>
            </a:pPr>
            <a:r>
              <a:rPr sz="1000" b="0">
                <a:solidFill>
                  <a:srgbClr val="1E293B"/>
                </a:solidFill>
                <a:latin typeface="Calibri"/>
              </a:rPr>
              <a:t>•  Alert generation before vehicle moves to next assembly station</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-85%</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Fitment Errors</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Zero</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Seat Recalls</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+30%</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Inspection Speed</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100%</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Vehicle Coverage</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Vision cameras · Torque tool integration · MES · Variant configuration DB</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Assembly Operators · Quality Inspectors · Plant Engineers</a:t>
            </a:r>
          </a:p>
        </p:txBody>
      </p:sp>
      <p:sp>
        <p:nvSpPr>
          <p:cNvPr id="40" name="Rectangle 39"/>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257800"/>
            <a:ext cx="11247120" cy="36576"/>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3" name="TextBox 42"/>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4" name="TextBox 43"/>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Multi-angle station cameras · Smart torque wrenches with IIoT telemetry · Edge inference (Jetson Orin)</a:t>
            </a:r>
          </a:p>
        </p:txBody>
      </p:sp>
      <p:sp>
        <p:nvSpPr>
          <p:cNvPr id="45" name="TextBox 44"/>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46" name="TextBox 45"/>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Object detection &amp; pose estimation (YOLOv8 + keypoint) · Fitment classifier · Variant rule engine</a:t>
            </a:r>
          </a:p>
        </p:txBody>
      </p:sp>
      <p:sp>
        <p:nvSpPr>
          <p:cNvPr id="47" name="TextBox 46"/>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48" name="TextBox 47"/>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MES · Variant configuration DB · Torque tool gateway · Quality event bus</a:t>
            </a:r>
          </a:p>
        </p:txBody>
      </p:sp>
      <p:sp>
        <p:nvSpPr>
          <p:cNvPr id="49" name="TextBox 48"/>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0" name="TextBox 49"/>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Operator station tablet · Pass/fail visual cue · Engineer review queue · Post-shift fitment report</a:t>
            </a:r>
          </a:p>
        </p:txBody>
      </p:sp>
      <p:sp>
        <p:nvSpPr>
          <p:cNvPr id="51" name="Rectangle 50"/>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3" name="TextBox 52"/>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09 / 20 · CONFIDENTIAL</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0E7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04</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SOP Compliance Monitoring  SOP 준수</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Vision + Pose Estimation</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Operators skipping steps or deviating from defined procedures introduce assembly defects that only surface at end-of-line or in the field. Current auditing is sample-based and retrospective — missing deviations in real time.</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0E7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0E7B6A"/>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AI monitors operator activities against SOP workflows using video analytics and pose estimation. Skipped steps, wrong tool usage, and sequence deviations are detected in real time and escalated to supervisors.</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0E7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0E7B6A"/>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Pose estimation to detect operator step sequences and ergonomics</a:t>
            </a:r>
          </a:p>
          <a:p>
            <a:pPr>
              <a:spcBef>
                <a:spcPts val="200"/>
              </a:spcBef>
              <a:spcAft>
                <a:spcPts val="200"/>
              </a:spcAft>
            </a:pPr>
            <a:r>
              <a:rPr sz="1000" b="0">
                <a:solidFill>
                  <a:srgbClr val="1E293B"/>
                </a:solidFill>
                <a:latin typeface="Calibri"/>
              </a:rPr>
              <a:t>•  SOP workflow comparison with real-time deviation alerts</a:t>
            </a:r>
          </a:p>
          <a:p>
            <a:pPr>
              <a:spcBef>
                <a:spcPts val="200"/>
              </a:spcBef>
              <a:spcAft>
                <a:spcPts val="200"/>
              </a:spcAft>
            </a:pPr>
            <a:r>
              <a:rPr sz="1000" b="0">
                <a:solidFill>
                  <a:srgbClr val="1E293B"/>
                </a:solidFill>
                <a:latin typeface="Calibri"/>
              </a:rPr>
              <a:t>•  Incorrect tool usage detection via object recognition</a:t>
            </a:r>
          </a:p>
          <a:p>
            <a:pPr>
              <a:spcBef>
                <a:spcPts val="200"/>
              </a:spcBef>
              <a:spcAft>
                <a:spcPts val="200"/>
              </a:spcAft>
            </a:pPr>
            <a:r>
              <a:rPr sz="1000" b="0">
                <a:solidFill>
                  <a:srgbClr val="1E293B"/>
                </a:solidFill>
                <a:latin typeface="Calibri"/>
              </a:rPr>
              <a:t>•  Compliance reporting by operator, station, and shift</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-65%</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SOP Deviations</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-40%</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Final Defects</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+90%</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Compliance Rate</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Real-time</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Deviation Alerts</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Video analytics platform · Pose estimation models · MES · EHS compliance system</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Shift Supervisors · Quality Managers · EHS Officers · Process Engineers</a:t>
            </a:r>
          </a:p>
        </p:txBody>
      </p:sp>
      <p:sp>
        <p:nvSpPr>
          <p:cNvPr id="40" name="Rectangle 39"/>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257800"/>
            <a:ext cx="11247120" cy="36576"/>
          </a:xfrm>
          <a:prstGeom prst="rect">
            <a:avLst/>
          </a:prstGeom>
          <a:solidFill>
            <a:srgbClr val="0E7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3" name="TextBox 42"/>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4" name="TextBox 43"/>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Station-mounted cameras · Depth sensors · Smart tool telemetry · Edge compute (Jetson AGX)</a:t>
            </a:r>
          </a:p>
        </p:txBody>
      </p:sp>
      <p:sp>
        <p:nvSpPr>
          <p:cNvPr id="45" name="TextBox 44"/>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46" name="TextBox 45"/>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Pose estimation (MediaPipe / OpenPose) · Action recognition · Tool detection (YOLOv8) · Sequence model</a:t>
            </a:r>
          </a:p>
        </p:txBody>
      </p:sp>
      <p:sp>
        <p:nvSpPr>
          <p:cNvPr id="47" name="TextBox 46"/>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48" name="TextBox 47"/>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MES SOP definition API · EHS compliance DB · Shift scheduling system · Kafka alerts</a:t>
            </a:r>
          </a:p>
        </p:txBody>
      </p:sp>
      <p:sp>
        <p:nvSpPr>
          <p:cNvPr id="49" name="TextBox 48"/>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0" name="TextBox 49"/>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Supervisor dashboard · Real-time deviation overlay · Operator coaching screen · Compliance report</a:t>
            </a:r>
          </a:p>
        </p:txBody>
      </p:sp>
      <p:sp>
        <p:nvSpPr>
          <p:cNvPr id="51" name="Rectangle 50"/>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3" name="TextBox 52"/>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10 / 20 · CONFIDENTIAL</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05</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Predictive Quality Analytics  품질 분석</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ML + Statistical Process Control</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Quality issues detected at end-of-line or in the field are the most expensive to fix. Reactive quality control catches defects after they're built, not before. Root-cause analysis takes days of manual investigation.</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2563EB"/>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Machine learning models analyze process parameters, sensor data, and historical defect patterns to predict quality excursions before they occur. Early warnings allow process corrections in real time, preventing defects at source.</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2563EB"/>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Multivariate SPC with ML-driven control limits</a:t>
            </a:r>
          </a:p>
          <a:p>
            <a:pPr>
              <a:spcBef>
                <a:spcPts val="200"/>
              </a:spcBef>
              <a:spcAft>
                <a:spcPts val="200"/>
              </a:spcAft>
            </a:pPr>
            <a:r>
              <a:rPr sz="1000" b="0">
                <a:solidFill>
                  <a:srgbClr val="1E293B"/>
                </a:solidFill>
                <a:latin typeface="Calibri"/>
              </a:rPr>
              <a:t>•  Process parameter correlation to defect outcomes</a:t>
            </a:r>
          </a:p>
          <a:p>
            <a:pPr>
              <a:spcBef>
                <a:spcPts val="200"/>
              </a:spcBef>
              <a:spcAft>
                <a:spcPts val="200"/>
              </a:spcAft>
            </a:pPr>
            <a:r>
              <a:rPr sz="1000" b="0">
                <a:solidFill>
                  <a:srgbClr val="1E293B"/>
                </a:solidFill>
                <a:latin typeface="Calibri"/>
              </a:rPr>
              <a:t>•  Early warning alerts before quality excursion events</a:t>
            </a:r>
          </a:p>
          <a:p>
            <a:pPr>
              <a:spcBef>
                <a:spcPts val="200"/>
              </a:spcBef>
              <a:spcAft>
                <a:spcPts val="200"/>
              </a:spcAft>
            </a:pPr>
            <a:r>
              <a:rPr sz="1000" b="0">
                <a:solidFill>
                  <a:srgbClr val="1E293B"/>
                </a:solidFill>
                <a:latin typeface="Calibri"/>
              </a:rPr>
              <a:t>•  Automated root-cause analysis with contributing factor ranking</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-50%</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Field Defects</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-35%</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Scrap Rate</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+40%</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First-Pass Yield</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2hr</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Early Warning Lead</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MES process data · Sensor historians · Quality management system · SPC platforms</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Quality Engineers · Process Engineers · Plant Managers · Supplier Quality</a:t>
            </a:r>
          </a:p>
        </p:txBody>
      </p:sp>
      <p:sp>
        <p:nvSpPr>
          <p:cNvPr id="40" name="Rectangle 39"/>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257800"/>
            <a:ext cx="11247120" cy="36576"/>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3" name="TextBox 42"/>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4" name="TextBox 43"/>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Process sensors · SPC data streams · MES quality events · Historian (OSIsoft PI / AVEVA)</a:t>
            </a:r>
          </a:p>
        </p:txBody>
      </p:sp>
      <p:sp>
        <p:nvSpPr>
          <p:cNvPr id="45" name="TextBox 44"/>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46" name="TextBox 45"/>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Gradient boosting (XGBoost) · LSTM time-series · Bayesian root-cause · Anomaly detection ensemble</a:t>
            </a:r>
          </a:p>
        </p:txBody>
      </p:sp>
      <p:sp>
        <p:nvSpPr>
          <p:cNvPr id="47" name="TextBox 46"/>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48" name="TextBox 47"/>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MES process API · Quality DB · Supplier quality portal · SPC platform integration</a:t>
            </a:r>
          </a:p>
        </p:txBody>
      </p:sp>
      <p:sp>
        <p:nvSpPr>
          <p:cNvPr id="49" name="TextBox 48"/>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0" name="TextBox 49"/>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Quality prediction dashboard · Process adjustment alerts · Root-cause drill-down · Shift quality report</a:t>
            </a:r>
          </a:p>
        </p:txBody>
      </p:sp>
      <p:sp>
        <p:nvSpPr>
          <p:cNvPr id="51" name="Rectangle 50"/>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3" name="TextBox 52"/>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11 / 20 · CONFIDENTIAL</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06</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Predictive Maintenance  예측 정비</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IoT + ML Failure Prediction</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Unplanned equipment failures halt production lines at $22,000/minute. Current maintenance is either reactive (fix when it breaks) or calendar-based (replace too early or too late). Neither optimizes uptime or cost.</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14A085"/>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IoT sensors continuously monitor equipment health (vibration, temperature, current, pressure). ML models detect degradation patterns weeks before failure, enabling planned maintenance during scheduled downtime windows.</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14A085"/>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Continuous equipment health monitoring via IoT sensors</a:t>
            </a:r>
          </a:p>
          <a:p>
            <a:pPr>
              <a:spcBef>
                <a:spcPts val="200"/>
              </a:spcBef>
              <a:spcAft>
                <a:spcPts val="200"/>
              </a:spcAft>
            </a:pPr>
            <a:r>
              <a:rPr sz="1000" b="0">
                <a:solidFill>
                  <a:srgbClr val="1E293B"/>
                </a:solidFill>
                <a:latin typeface="Calibri"/>
              </a:rPr>
              <a:t>•  ML-based remaining useful life (RUL) prediction</a:t>
            </a:r>
          </a:p>
          <a:p>
            <a:pPr>
              <a:spcBef>
                <a:spcPts val="200"/>
              </a:spcBef>
              <a:spcAft>
                <a:spcPts val="200"/>
              </a:spcAft>
            </a:pPr>
            <a:r>
              <a:rPr sz="1000" b="0">
                <a:solidFill>
                  <a:srgbClr val="1E293B"/>
                </a:solidFill>
                <a:latin typeface="Calibri"/>
              </a:rPr>
              <a:t>•  Maintenance window optimization aligned to production schedule</a:t>
            </a:r>
          </a:p>
          <a:p>
            <a:pPr>
              <a:spcBef>
                <a:spcPts val="200"/>
              </a:spcBef>
              <a:spcAft>
                <a:spcPts val="200"/>
              </a:spcAft>
            </a:pPr>
            <a:r>
              <a:rPr sz="1000" b="0">
                <a:solidFill>
                  <a:srgbClr val="1E293B"/>
                </a:solidFill>
                <a:latin typeface="Calibri"/>
              </a:rPr>
              <a:t>•  Integration with CMMS for automated work order generation</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-40%</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Unplanned Downtime</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-30%</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Maintenance Cost</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+25%</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Asset Lifespan</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5:1</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ROI Ratio</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IoT sensors · SCADA/PLC · CMMS · SAP PM · Edge gateways · Cloud ML platform</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Maintenance Engineers · Reliability Engineers · Plant Managers · Operations Directors</a:t>
            </a:r>
          </a:p>
        </p:txBody>
      </p:sp>
      <p:sp>
        <p:nvSpPr>
          <p:cNvPr id="40" name="Rectangle 39"/>
          <p:cNvSpPr/>
          <p:nvPr/>
        </p:nvSpPr>
        <p:spPr>
          <a:xfrm>
            <a:off x="7040880" y="4800600"/>
            <a:ext cx="4663440" cy="4114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7040880" y="4800600"/>
            <a:ext cx="54864" cy="41148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7178040" y="4818888"/>
            <a:ext cx="4434840" cy="164592"/>
          </a:xfrm>
          <a:prstGeom prst="rect">
            <a:avLst/>
          </a:prstGeom>
          <a:noFill/>
        </p:spPr>
        <p:txBody>
          <a:bodyPr wrap="square">
            <a:spAutoFit/>
          </a:bodyPr>
          <a:lstStyle/>
          <a:p>
            <a:pPr algn="l"/>
            <a:r>
              <a:rPr sz="800" b="1">
                <a:solidFill>
                  <a:srgbClr val="14A085"/>
                </a:solidFill>
                <a:latin typeface="Calibri"/>
              </a:rPr>
              <a:t>RECOMMENDED HYUNDAI START</a:t>
            </a:r>
          </a:p>
        </p:txBody>
      </p:sp>
      <p:sp>
        <p:nvSpPr>
          <p:cNvPr id="43" name="TextBox 42"/>
          <p:cNvSpPr txBox="1"/>
          <p:nvPr/>
        </p:nvSpPr>
        <p:spPr>
          <a:xfrm>
            <a:off x="7178040" y="4946904"/>
            <a:ext cx="4434840" cy="246888"/>
          </a:xfrm>
          <a:prstGeom prst="rect">
            <a:avLst/>
          </a:prstGeom>
          <a:noFill/>
        </p:spPr>
        <p:txBody>
          <a:bodyPr wrap="square">
            <a:spAutoFit/>
          </a:bodyPr>
          <a:lstStyle/>
          <a:p>
            <a:pPr algn="l"/>
            <a:r>
              <a:rPr sz="850" b="0">
                <a:solidFill>
                  <a:srgbClr val="1E293B"/>
                </a:solidFill>
                <a:latin typeface="Calibri"/>
              </a:rPr>
              <a:t>Ulsan stamping presses / Asan welding robots — highest downtime cost per minute. 8-week pilot.</a:t>
            </a:r>
          </a:p>
        </p:txBody>
      </p:sp>
      <p:sp>
        <p:nvSpPr>
          <p:cNvPr id="44" name="Rectangle 43"/>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5257800"/>
            <a:ext cx="11247120" cy="36576"/>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7" name="TextBox 46"/>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8" name="TextBox 47"/>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Vibration/temp/current sensors · SCADA/PLC interfaces · IoT gateways (Siemens/Rockwell) · Edge compute</a:t>
            </a:r>
          </a:p>
        </p:txBody>
      </p:sp>
      <p:sp>
        <p:nvSpPr>
          <p:cNvPr id="49" name="TextBox 48"/>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50" name="TextBox 49"/>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Time-series anomaly detection · RUL prediction (LSTM/Transformer) · Degradation classifiers · AutoML</a:t>
            </a:r>
          </a:p>
        </p:txBody>
      </p:sp>
      <p:sp>
        <p:nvSpPr>
          <p:cNvPr id="51" name="TextBox 50"/>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52" name="TextBox 51"/>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OPC-UA historian · CMMS API (SAP PM/Maximo) · IoT platform (AWS IoT/Azure IoT Hub) · Kafka</a:t>
            </a:r>
          </a:p>
        </p:txBody>
      </p:sp>
      <p:sp>
        <p:nvSpPr>
          <p:cNvPr id="53" name="TextBox 52"/>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4" name="TextBox 53"/>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Equipment health dashboard · Maintenance planner UI · Mobile technician alerts · Asset performance report</a:t>
            </a:r>
          </a:p>
        </p:txBody>
      </p:sp>
      <p:sp>
        <p:nvSpPr>
          <p:cNvPr id="55" name="Rectangle 54"/>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7" name="TextBox 56"/>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12 / 20 · CONFIDENTIAL</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07</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Safety Monitoring  안전 모니터링</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Vision AI + Zone Analytics</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Safety incidents in plant environments cause injury, production stoppage, and regulatory penalties. Current safety monitoring relies on periodic audits and post-incident investigation. Near-misses go unreported.</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FF6B35"/>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AI-powered cameras monitor plant floors for PPE compliance, restricted zone violations, unsafe behaviors, and near-miss events in real time. Automated alerts enable immediate intervention before incidents escalate.</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FF6B35"/>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PPE detection (helmets, vests, gloves, safety glasses)</a:t>
            </a:r>
          </a:p>
          <a:p>
            <a:pPr>
              <a:spcBef>
                <a:spcPts val="200"/>
              </a:spcBef>
              <a:spcAft>
                <a:spcPts val="200"/>
              </a:spcAft>
            </a:pPr>
            <a:r>
              <a:rPr sz="1000" b="0">
                <a:solidFill>
                  <a:srgbClr val="1E293B"/>
                </a:solidFill>
                <a:latin typeface="Calibri"/>
              </a:rPr>
              <a:t>•  Restricted zone and exclusion area monitoring</a:t>
            </a:r>
          </a:p>
          <a:p>
            <a:pPr>
              <a:spcBef>
                <a:spcPts val="200"/>
              </a:spcBef>
              <a:spcAft>
                <a:spcPts val="200"/>
              </a:spcAft>
            </a:pPr>
            <a:r>
              <a:rPr sz="1000" b="0">
                <a:solidFill>
                  <a:srgbClr val="1E293B"/>
                </a:solidFill>
                <a:latin typeface="Calibri"/>
              </a:rPr>
              <a:t>•  Unsafe behavior detection (running, lifting posture)</a:t>
            </a:r>
          </a:p>
          <a:p>
            <a:pPr>
              <a:spcBef>
                <a:spcPts val="200"/>
              </a:spcBef>
              <a:spcAft>
                <a:spcPts val="200"/>
              </a:spcAft>
            </a:pPr>
            <a:r>
              <a:rPr sz="1000" b="0">
                <a:solidFill>
                  <a:srgbClr val="1E293B"/>
                </a:solidFill>
                <a:latin typeface="Calibri"/>
              </a:rPr>
              <a:t>•  Near-miss event capture and trending analytics</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-70%</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Safety Incidents</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100%</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PPE Compliance</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&lt;3s</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Alert Latency</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-50%</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OSHA Recordables</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IP cameras · Edge AI · EHS management system · Access control · Alarm systems</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EHS Managers · Plant Safety Officers · Shift Supervisors · Operations Directors</a:t>
            </a:r>
          </a:p>
        </p:txBody>
      </p:sp>
      <p:sp>
        <p:nvSpPr>
          <p:cNvPr id="40" name="Rectangle 39"/>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257800"/>
            <a:ext cx="11247120" cy="36576"/>
          </a:xfrm>
          <a:prstGeom prst="rect">
            <a:avLst/>
          </a:prstGeom>
          <a:solidFill>
            <a:srgbClr val="FF6B3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3" name="TextBox 42"/>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4" name="TextBox 43"/>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IP cameras (Axis / Hikvision) · Depth sensors · Edge AI boxes · Existing CCTV infrastructure</a:t>
            </a:r>
          </a:p>
        </p:txBody>
      </p:sp>
      <p:sp>
        <p:nvSpPr>
          <p:cNvPr id="45" name="TextBox 44"/>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46" name="TextBox 45"/>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Object detection (YOLOv8) · PPE classifier · Zone intrusion model · Behavior recognition · Anomaly detection</a:t>
            </a:r>
          </a:p>
        </p:txBody>
      </p:sp>
      <p:sp>
        <p:nvSpPr>
          <p:cNvPr id="47" name="TextBox 46"/>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48" name="TextBox 47"/>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EHS compliance DB · Access control integration · Alarm system API · Incident management (SAP EHS)</a:t>
            </a:r>
          </a:p>
        </p:txBody>
      </p:sp>
      <p:sp>
        <p:nvSpPr>
          <p:cNvPr id="49" name="TextBox 48"/>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0" name="TextBox 49"/>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Real-time safety dashboard · Zone violation alerts · PPE compliance report · Incident investigation portal</a:t>
            </a:r>
          </a:p>
        </p:txBody>
      </p:sp>
      <p:sp>
        <p:nvSpPr>
          <p:cNvPr id="51" name="Rectangle 50"/>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3" name="TextBox 52"/>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13 / 20 · CONFIDENTIAL</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100" b="1">
                <a:solidFill>
                  <a:srgbClr val="FFFFFF"/>
                </a:solidFill>
                <a:latin typeface="Calibri"/>
              </a:rPr>
              <a:t>USE CASE 08</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Digital Traceability  디지털 추적성</a:t>
            </a:r>
          </a:p>
        </p:txBody>
      </p:sp>
      <p:sp>
        <p:nvSpPr>
          <p:cNvPr id="6" name="TextBox 5"/>
          <p:cNvSpPr txBox="1"/>
          <p:nvPr/>
        </p:nvSpPr>
        <p:spPr>
          <a:xfrm>
            <a:off x="9144000" y="0"/>
            <a:ext cx="2560320" cy="822960"/>
          </a:xfrm>
          <a:prstGeom prst="rect">
            <a:avLst/>
          </a:prstGeom>
          <a:noFill/>
        </p:spPr>
        <p:txBody>
          <a:bodyPr wrap="square">
            <a:spAutoFit/>
          </a:bodyPr>
          <a:lstStyle/>
          <a:p>
            <a:pPr algn="l"/>
            <a:r>
              <a:rPr sz="1100" b="0">
                <a:solidFill>
                  <a:srgbClr val="FFFFFF"/>
                </a:solidFill>
                <a:latin typeface="Calibri"/>
              </a:rPr>
              <a:t>Graph DB + IoT + Blockchain</a:t>
            </a:r>
          </a:p>
        </p:txBody>
      </p:sp>
      <p:sp>
        <p:nvSpPr>
          <p:cNvPr id="7" name="Rectangle 6"/>
          <p:cNvSpPr/>
          <p:nvPr/>
        </p:nvSpPr>
        <p:spPr>
          <a:xfrm>
            <a:off x="457200" y="100584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Rectangle 7"/>
          <p:cNvSpPr/>
          <p:nvPr/>
        </p:nvSpPr>
        <p:spPr>
          <a:xfrm>
            <a:off x="457200" y="1005840"/>
            <a:ext cx="54864" cy="1097280"/>
          </a:xfrm>
          <a:prstGeom prst="rect">
            <a:avLst/>
          </a:prstGeom>
          <a:solidFill>
            <a:srgbClr val="DC262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21792" y="1097280"/>
            <a:ext cx="6172200" cy="228600"/>
          </a:xfrm>
          <a:prstGeom prst="rect">
            <a:avLst/>
          </a:prstGeom>
          <a:noFill/>
        </p:spPr>
        <p:txBody>
          <a:bodyPr wrap="square">
            <a:spAutoFit/>
          </a:bodyPr>
          <a:lstStyle/>
          <a:p>
            <a:pPr algn="l"/>
            <a:r>
              <a:rPr sz="900" b="1">
                <a:solidFill>
                  <a:srgbClr val="DC2626"/>
                </a:solidFill>
                <a:latin typeface="Calibri"/>
              </a:rPr>
              <a:t>CHALLENGE</a:t>
            </a:r>
          </a:p>
        </p:txBody>
      </p:sp>
      <p:sp>
        <p:nvSpPr>
          <p:cNvPr id="10" name="TextBox 9"/>
          <p:cNvSpPr txBox="1"/>
          <p:nvPr/>
        </p:nvSpPr>
        <p:spPr>
          <a:xfrm>
            <a:off x="621792" y="1371600"/>
            <a:ext cx="6172200" cy="685800"/>
          </a:xfrm>
          <a:prstGeom prst="rect">
            <a:avLst/>
          </a:prstGeom>
          <a:noFill/>
        </p:spPr>
        <p:txBody>
          <a:bodyPr wrap="square">
            <a:spAutoFit/>
          </a:bodyPr>
          <a:lstStyle/>
          <a:p>
            <a:pPr algn="l"/>
            <a:r>
              <a:rPr sz="1100" b="0">
                <a:solidFill>
                  <a:srgbClr val="1E293B"/>
                </a:solidFill>
                <a:latin typeface="Calibri"/>
              </a:rPr>
              <a:t>Traceability data lives in fragmented silos — MES, ERP, supplier portals, paper logs. When a recall hits, root-cause investigation takes weeks of manual data assembly. Regulatory audits are painful and incomplete.</a:t>
            </a:r>
          </a:p>
        </p:txBody>
      </p:sp>
      <p:sp>
        <p:nvSpPr>
          <p:cNvPr id="11" name="Rectangle 10"/>
          <p:cNvSpPr/>
          <p:nvPr/>
        </p:nvSpPr>
        <p:spPr>
          <a:xfrm>
            <a:off x="457200" y="2240280"/>
            <a:ext cx="6400800" cy="1097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Rectangle 11"/>
          <p:cNvSpPr/>
          <p:nvPr/>
        </p:nvSpPr>
        <p:spPr>
          <a:xfrm>
            <a:off x="457200" y="2240280"/>
            <a:ext cx="54864" cy="109728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21792" y="2331720"/>
            <a:ext cx="6172200" cy="228600"/>
          </a:xfrm>
          <a:prstGeom prst="rect">
            <a:avLst/>
          </a:prstGeom>
          <a:noFill/>
        </p:spPr>
        <p:txBody>
          <a:bodyPr wrap="square">
            <a:spAutoFit/>
          </a:bodyPr>
          <a:lstStyle/>
          <a:p>
            <a:pPr algn="l"/>
            <a:r>
              <a:rPr sz="900" b="1">
                <a:solidFill>
                  <a:srgbClr val="00AAD4"/>
                </a:solidFill>
                <a:latin typeface="Calibri"/>
              </a:rPr>
              <a:t>SOLUTION</a:t>
            </a:r>
          </a:p>
        </p:txBody>
      </p:sp>
      <p:sp>
        <p:nvSpPr>
          <p:cNvPr id="14" name="TextBox 13"/>
          <p:cNvSpPr txBox="1"/>
          <p:nvPr/>
        </p:nvSpPr>
        <p:spPr>
          <a:xfrm>
            <a:off x="621792" y="2606040"/>
            <a:ext cx="6172200" cy="685800"/>
          </a:xfrm>
          <a:prstGeom prst="rect">
            <a:avLst/>
          </a:prstGeom>
          <a:noFill/>
        </p:spPr>
        <p:txBody>
          <a:bodyPr wrap="square">
            <a:spAutoFit/>
          </a:bodyPr>
          <a:lstStyle/>
          <a:p>
            <a:pPr algn="l"/>
            <a:r>
              <a:rPr sz="1100" b="0">
                <a:solidFill>
                  <a:srgbClr val="1E293B"/>
                </a:solidFill>
                <a:latin typeface="Calibri"/>
              </a:rPr>
              <a:t>A unified traceability graph connects every component, process step, operator, and quality event from supplier to customer. Any part can be traced in seconds. Recall scope is instantly calculated and minimized.</a:t>
            </a:r>
          </a:p>
        </p:txBody>
      </p:sp>
      <p:sp>
        <p:nvSpPr>
          <p:cNvPr id="15" name="Rectangle 14"/>
          <p:cNvSpPr/>
          <p:nvPr/>
        </p:nvSpPr>
        <p:spPr>
          <a:xfrm>
            <a:off x="457200" y="3474720"/>
            <a:ext cx="6400800" cy="164592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457200" y="3474720"/>
            <a:ext cx="54864" cy="164592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21792" y="3566160"/>
            <a:ext cx="6172200" cy="228600"/>
          </a:xfrm>
          <a:prstGeom prst="rect">
            <a:avLst/>
          </a:prstGeom>
          <a:noFill/>
        </p:spPr>
        <p:txBody>
          <a:bodyPr wrap="square">
            <a:spAutoFit/>
          </a:bodyPr>
          <a:lstStyle/>
          <a:p>
            <a:pPr algn="l"/>
            <a:r>
              <a:rPr sz="900" b="1">
                <a:solidFill>
                  <a:srgbClr val="00AAD4"/>
                </a:solidFill>
                <a:latin typeface="Calibri"/>
              </a:rPr>
              <a:t>CAPABILITIES</a:t>
            </a:r>
          </a:p>
        </p:txBody>
      </p:sp>
      <p:sp>
        <p:nvSpPr>
          <p:cNvPr id="18" name="TextBox 17"/>
          <p:cNvSpPr txBox="1"/>
          <p:nvPr/>
        </p:nvSpPr>
        <p:spPr>
          <a:xfrm>
            <a:off x="621792" y="3840480"/>
            <a:ext cx="6172200" cy="1234440"/>
          </a:xfrm>
          <a:prstGeom prst="rect">
            <a:avLst/>
          </a:prstGeom>
          <a:noFill/>
        </p:spPr>
        <p:txBody>
          <a:bodyPr wrap="square">
            <a:spAutoFit/>
          </a:bodyPr>
          <a:lstStyle/>
          <a:p>
            <a:pPr>
              <a:spcBef>
                <a:spcPts val="200"/>
              </a:spcBef>
              <a:spcAft>
                <a:spcPts val="200"/>
              </a:spcAft>
            </a:pPr>
            <a:r>
              <a:rPr sz="1000" b="0">
                <a:solidFill>
                  <a:srgbClr val="1E293B"/>
                </a:solidFill>
                <a:latin typeface="Calibri"/>
              </a:rPr>
              <a:t>•  End-to-end part genealogy from supplier to end customer</a:t>
            </a:r>
          </a:p>
          <a:p>
            <a:pPr>
              <a:spcBef>
                <a:spcPts val="200"/>
              </a:spcBef>
              <a:spcAft>
                <a:spcPts val="200"/>
              </a:spcAft>
            </a:pPr>
            <a:r>
              <a:rPr sz="1000" b="0">
                <a:solidFill>
                  <a:srgbClr val="1E293B"/>
                </a:solidFill>
                <a:latin typeface="Calibri"/>
              </a:rPr>
              <a:t>•  Process step linkage with operator, station, and timestamp</a:t>
            </a:r>
          </a:p>
          <a:p>
            <a:pPr>
              <a:spcBef>
                <a:spcPts val="200"/>
              </a:spcBef>
              <a:spcAft>
                <a:spcPts val="200"/>
              </a:spcAft>
            </a:pPr>
            <a:r>
              <a:rPr sz="1000" b="0">
                <a:solidFill>
                  <a:srgbClr val="1E293B"/>
                </a:solidFill>
                <a:latin typeface="Calibri"/>
              </a:rPr>
              <a:t>•  Instant recall scope calculation with affected unit identification</a:t>
            </a:r>
          </a:p>
          <a:p>
            <a:pPr>
              <a:spcBef>
                <a:spcPts val="200"/>
              </a:spcBef>
              <a:spcAft>
                <a:spcPts val="200"/>
              </a:spcAft>
            </a:pPr>
            <a:r>
              <a:rPr sz="1000" b="0">
                <a:solidFill>
                  <a:srgbClr val="1E293B"/>
                </a:solidFill>
                <a:latin typeface="Calibri"/>
              </a:rPr>
              <a:t>•  Regulatory audit readiness with automated compliance reports</a:t>
            </a:r>
          </a:p>
        </p:txBody>
      </p:sp>
      <p:sp>
        <p:nvSpPr>
          <p:cNvPr id="19" name="TextBox 18"/>
          <p:cNvSpPr txBox="1"/>
          <p:nvPr/>
        </p:nvSpPr>
        <p:spPr>
          <a:xfrm>
            <a:off x="7040880" y="1005840"/>
            <a:ext cx="4663440" cy="228600"/>
          </a:xfrm>
          <a:prstGeom prst="rect">
            <a:avLst/>
          </a:prstGeom>
          <a:noFill/>
        </p:spPr>
        <p:txBody>
          <a:bodyPr wrap="square">
            <a:spAutoFit/>
          </a:bodyPr>
          <a:lstStyle/>
          <a:p>
            <a:pPr algn="l"/>
            <a:r>
              <a:rPr sz="900" b="1">
                <a:solidFill>
                  <a:srgbClr val="64748B"/>
                </a:solidFill>
                <a:latin typeface="Calibri"/>
              </a:rPr>
              <a:t>BUSINESS VALUE</a:t>
            </a:r>
          </a:p>
        </p:txBody>
      </p:sp>
      <p:sp>
        <p:nvSpPr>
          <p:cNvPr id="20" name="Rectangle 19"/>
          <p:cNvSpPr/>
          <p:nvPr/>
        </p:nvSpPr>
        <p:spPr>
          <a:xfrm>
            <a:off x="7040880" y="1280160"/>
            <a:ext cx="2286000" cy="868680"/>
          </a:xfrm>
          <a:prstGeom prst="rect">
            <a:avLst/>
          </a:prstGeom>
          <a:solidFill>
            <a:srgbClr val="0D8A72"/>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7040880" y="1371600"/>
            <a:ext cx="2286000" cy="502920"/>
          </a:xfrm>
          <a:prstGeom prst="rect">
            <a:avLst/>
          </a:prstGeom>
          <a:noFill/>
        </p:spPr>
        <p:txBody>
          <a:bodyPr wrap="square">
            <a:spAutoFit/>
          </a:bodyPr>
          <a:lstStyle/>
          <a:p>
            <a:pPr algn="ctr"/>
            <a:r>
              <a:rPr sz="2400" b="1">
                <a:solidFill>
                  <a:srgbClr val="FFFFFF"/>
                </a:solidFill>
                <a:latin typeface="Calibri"/>
              </a:rPr>
              <a:t>100%</a:t>
            </a:r>
          </a:p>
        </p:txBody>
      </p:sp>
      <p:sp>
        <p:nvSpPr>
          <p:cNvPr id="22" name="TextBox 21"/>
          <p:cNvSpPr txBox="1"/>
          <p:nvPr/>
        </p:nvSpPr>
        <p:spPr>
          <a:xfrm>
            <a:off x="7040880" y="1874520"/>
            <a:ext cx="2286000" cy="274320"/>
          </a:xfrm>
          <a:prstGeom prst="rect">
            <a:avLst/>
          </a:prstGeom>
          <a:noFill/>
        </p:spPr>
        <p:txBody>
          <a:bodyPr wrap="square">
            <a:spAutoFit/>
          </a:bodyPr>
          <a:lstStyle/>
          <a:p>
            <a:pPr algn="ctr"/>
            <a:r>
              <a:rPr sz="900" b="0">
                <a:solidFill>
                  <a:srgbClr val="FFFFFF"/>
                </a:solidFill>
                <a:latin typeface="Calibri"/>
              </a:rPr>
              <a:t>Traceability Coverage</a:t>
            </a:r>
          </a:p>
        </p:txBody>
      </p:sp>
      <p:sp>
        <p:nvSpPr>
          <p:cNvPr id="23" name="Rectangle 22"/>
          <p:cNvSpPr/>
          <p:nvPr/>
        </p:nvSpPr>
        <p:spPr>
          <a:xfrm>
            <a:off x="9418320" y="1280160"/>
            <a:ext cx="2286000" cy="868680"/>
          </a:xfrm>
          <a:prstGeom prst="rect">
            <a:avLst/>
          </a:prstGeom>
          <a:solidFill>
            <a:srgbClr val="1D4ED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9418320" y="1371600"/>
            <a:ext cx="2286000" cy="502920"/>
          </a:xfrm>
          <a:prstGeom prst="rect">
            <a:avLst/>
          </a:prstGeom>
          <a:noFill/>
        </p:spPr>
        <p:txBody>
          <a:bodyPr wrap="square">
            <a:spAutoFit/>
          </a:bodyPr>
          <a:lstStyle/>
          <a:p>
            <a:pPr algn="ctr"/>
            <a:r>
              <a:rPr sz="2400" b="1">
                <a:solidFill>
                  <a:srgbClr val="FFFFFF"/>
                </a:solidFill>
                <a:latin typeface="Calibri"/>
              </a:rPr>
              <a:t>&lt;30s</a:t>
            </a:r>
          </a:p>
        </p:txBody>
      </p:sp>
      <p:sp>
        <p:nvSpPr>
          <p:cNvPr id="25" name="TextBox 24"/>
          <p:cNvSpPr txBox="1"/>
          <p:nvPr/>
        </p:nvSpPr>
        <p:spPr>
          <a:xfrm>
            <a:off x="9418320" y="1874520"/>
            <a:ext cx="2286000" cy="274320"/>
          </a:xfrm>
          <a:prstGeom prst="rect">
            <a:avLst/>
          </a:prstGeom>
          <a:noFill/>
        </p:spPr>
        <p:txBody>
          <a:bodyPr wrap="square">
            <a:spAutoFit/>
          </a:bodyPr>
          <a:lstStyle/>
          <a:p>
            <a:pPr algn="ctr"/>
            <a:r>
              <a:rPr sz="900" b="0">
                <a:solidFill>
                  <a:srgbClr val="FFFFFF"/>
                </a:solidFill>
                <a:latin typeface="Calibri"/>
              </a:rPr>
              <a:t>Recall Scope Time</a:t>
            </a:r>
          </a:p>
        </p:txBody>
      </p:sp>
      <p:sp>
        <p:nvSpPr>
          <p:cNvPr id="26" name="Rectangle 25"/>
          <p:cNvSpPr/>
          <p:nvPr/>
        </p:nvSpPr>
        <p:spPr>
          <a:xfrm>
            <a:off x="7040880" y="2240280"/>
            <a:ext cx="2286000" cy="868680"/>
          </a:xfrm>
          <a:prstGeom prst="rect">
            <a:avLst/>
          </a:prstGeom>
          <a:solidFill>
            <a:srgbClr val="6D28D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7040880" y="2331720"/>
            <a:ext cx="2286000" cy="502920"/>
          </a:xfrm>
          <a:prstGeom prst="rect">
            <a:avLst/>
          </a:prstGeom>
          <a:noFill/>
        </p:spPr>
        <p:txBody>
          <a:bodyPr wrap="square">
            <a:spAutoFit/>
          </a:bodyPr>
          <a:lstStyle/>
          <a:p>
            <a:pPr algn="ctr"/>
            <a:r>
              <a:rPr sz="2400" b="1">
                <a:solidFill>
                  <a:srgbClr val="FFFFFF"/>
                </a:solidFill>
                <a:latin typeface="Calibri"/>
              </a:rPr>
              <a:t>-80%</a:t>
            </a:r>
          </a:p>
        </p:txBody>
      </p:sp>
      <p:sp>
        <p:nvSpPr>
          <p:cNvPr id="28" name="TextBox 27"/>
          <p:cNvSpPr txBox="1"/>
          <p:nvPr/>
        </p:nvSpPr>
        <p:spPr>
          <a:xfrm>
            <a:off x="7040880" y="2834640"/>
            <a:ext cx="2286000" cy="274320"/>
          </a:xfrm>
          <a:prstGeom prst="rect">
            <a:avLst/>
          </a:prstGeom>
          <a:noFill/>
        </p:spPr>
        <p:txBody>
          <a:bodyPr wrap="square">
            <a:spAutoFit/>
          </a:bodyPr>
          <a:lstStyle/>
          <a:p>
            <a:pPr algn="ctr"/>
            <a:r>
              <a:rPr sz="900" b="0">
                <a:solidFill>
                  <a:srgbClr val="FFFFFF"/>
                </a:solidFill>
                <a:latin typeface="Calibri"/>
              </a:rPr>
              <a:t>Audit Prep Time</a:t>
            </a:r>
          </a:p>
        </p:txBody>
      </p:sp>
      <p:sp>
        <p:nvSpPr>
          <p:cNvPr id="29" name="Rectangle 28"/>
          <p:cNvSpPr/>
          <p:nvPr/>
        </p:nvSpPr>
        <p:spPr>
          <a:xfrm>
            <a:off x="9418320" y="2240280"/>
            <a:ext cx="2286000" cy="868680"/>
          </a:xfrm>
          <a:prstGeom prst="rect">
            <a:avLst/>
          </a:prstGeom>
          <a:solidFill>
            <a:srgbClr val="B45A0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418320" y="2331720"/>
            <a:ext cx="2286000" cy="502920"/>
          </a:xfrm>
          <a:prstGeom prst="rect">
            <a:avLst/>
          </a:prstGeom>
          <a:noFill/>
        </p:spPr>
        <p:txBody>
          <a:bodyPr wrap="square">
            <a:spAutoFit/>
          </a:bodyPr>
          <a:lstStyle/>
          <a:p>
            <a:pPr algn="ctr"/>
            <a:r>
              <a:rPr sz="2400" b="1">
                <a:solidFill>
                  <a:srgbClr val="FFFFFF"/>
                </a:solidFill>
                <a:latin typeface="Calibri"/>
              </a:rPr>
              <a:t>Full</a:t>
            </a:r>
          </a:p>
        </p:txBody>
      </p:sp>
      <p:sp>
        <p:nvSpPr>
          <p:cNvPr id="31" name="TextBox 30"/>
          <p:cNvSpPr txBox="1"/>
          <p:nvPr/>
        </p:nvSpPr>
        <p:spPr>
          <a:xfrm>
            <a:off x="9418320" y="2834640"/>
            <a:ext cx="2286000" cy="274320"/>
          </a:xfrm>
          <a:prstGeom prst="rect">
            <a:avLst/>
          </a:prstGeom>
          <a:noFill/>
        </p:spPr>
        <p:txBody>
          <a:bodyPr wrap="square">
            <a:spAutoFit/>
          </a:bodyPr>
          <a:lstStyle/>
          <a:p>
            <a:pPr algn="ctr"/>
            <a:r>
              <a:rPr sz="900" b="0">
                <a:solidFill>
                  <a:srgbClr val="FFFFFF"/>
                </a:solidFill>
                <a:latin typeface="Calibri"/>
              </a:rPr>
              <a:t>Regulatory Compliance</a:t>
            </a:r>
          </a:p>
        </p:txBody>
      </p:sp>
      <p:sp>
        <p:nvSpPr>
          <p:cNvPr id="32" name="Rectangle 31"/>
          <p:cNvSpPr/>
          <p:nvPr/>
        </p:nvSpPr>
        <p:spPr>
          <a:xfrm>
            <a:off x="7040880" y="3246120"/>
            <a:ext cx="4663440" cy="7772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Rectangle 32"/>
          <p:cNvSpPr/>
          <p:nvPr/>
        </p:nvSpPr>
        <p:spPr>
          <a:xfrm>
            <a:off x="7040880" y="3246120"/>
            <a:ext cx="54864" cy="77724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7205472" y="3319272"/>
            <a:ext cx="4434840" cy="201168"/>
          </a:xfrm>
          <a:prstGeom prst="rect">
            <a:avLst/>
          </a:prstGeom>
          <a:noFill/>
        </p:spPr>
        <p:txBody>
          <a:bodyPr wrap="square">
            <a:spAutoFit/>
          </a:bodyPr>
          <a:lstStyle/>
          <a:p>
            <a:pPr algn="l"/>
            <a:r>
              <a:rPr sz="800" b="1">
                <a:solidFill>
                  <a:srgbClr val="64748B"/>
                </a:solidFill>
                <a:latin typeface="Calibri"/>
              </a:rPr>
              <a:t>SYSTEMS INTEGRATED</a:t>
            </a:r>
          </a:p>
        </p:txBody>
      </p:sp>
      <p:sp>
        <p:nvSpPr>
          <p:cNvPr id="35" name="TextBox 34"/>
          <p:cNvSpPr txBox="1"/>
          <p:nvPr/>
        </p:nvSpPr>
        <p:spPr>
          <a:xfrm>
            <a:off x="7205472" y="3538728"/>
            <a:ext cx="4434840" cy="457200"/>
          </a:xfrm>
          <a:prstGeom prst="rect">
            <a:avLst/>
          </a:prstGeom>
          <a:noFill/>
        </p:spPr>
        <p:txBody>
          <a:bodyPr wrap="square">
            <a:spAutoFit/>
          </a:bodyPr>
          <a:lstStyle/>
          <a:p>
            <a:pPr algn="l"/>
            <a:r>
              <a:rPr sz="1000" b="0">
                <a:solidFill>
                  <a:srgbClr val="1E293B"/>
                </a:solidFill>
                <a:latin typeface="Calibri"/>
              </a:rPr>
              <a:t>MES · ERP (SAP) · Supplier portals · RFID/barcode · Quality DB · Graph database</a:t>
            </a:r>
          </a:p>
        </p:txBody>
      </p:sp>
      <p:sp>
        <p:nvSpPr>
          <p:cNvPr id="36" name="Rectangle 35"/>
          <p:cNvSpPr/>
          <p:nvPr/>
        </p:nvSpPr>
        <p:spPr>
          <a:xfrm>
            <a:off x="7040880" y="4114800"/>
            <a:ext cx="4663440" cy="5943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Rectangle 36"/>
          <p:cNvSpPr/>
          <p:nvPr/>
        </p:nvSpPr>
        <p:spPr>
          <a:xfrm>
            <a:off x="7040880" y="4114800"/>
            <a:ext cx="54864" cy="594360"/>
          </a:xfrm>
          <a:prstGeom prst="rect">
            <a:avLst/>
          </a:prstGeom>
          <a:solidFill>
            <a:srgbClr val="64748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7205472" y="4187952"/>
            <a:ext cx="4434840" cy="201168"/>
          </a:xfrm>
          <a:prstGeom prst="rect">
            <a:avLst/>
          </a:prstGeom>
          <a:noFill/>
        </p:spPr>
        <p:txBody>
          <a:bodyPr wrap="square">
            <a:spAutoFit/>
          </a:bodyPr>
          <a:lstStyle/>
          <a:p>
            <a:pPr algn="l"/>
            <a:r>
              <a:rPr sz="800" b="1">
                <a:solidFill>
                  <a:srgbClr val="64748B"/>
                </a:solidFill>
                <a:latin typeface="Calibri"/>
              </a:rPr>
              <a:t>TARGET USERS</a:t>
            </a:r>
          </a:p>
        </p:txBody>
      </p:sp>
      <p:sp>
        <p:nvSpPr>
          <p:cNvPr id="39" name="TextBox 38"/>
          <p:cNvSpPr txBox="1"/>
          <p:nvPr/>
        </p:nvSpPr>
        <p:spPr>
          <a:xfrm>
            <a:off x="7205472" y="4407408"/>
            <a:ext cx="4434840" cy="274320"/>
          </a:xfrm>
          <a:prstGeom prst="rect">
            <a:avLst/>
          </a:prstGeom>
          <a:noFill/>
        </p:spPr>
        <p:txBody>
          <a:bodyPr wrap="square">
            <a:spAutoFit/>
          </a:bodyPr>
          <a:lstStyle/>
          <a:p>
            <a:pPr algn="l"/>
            <a:r>
              <a:rPr sz="1000" b="0">
                <a:solidFill>
                  <a:srgbClr val="1E293B"/>
                </a:solidFill>
                <a:latin typeface="Calibri"/>
              </a:rPr>
              <a:t>Quality Directors · Supply Chain Managers · Compliance Officers · Recall Coordinators</a:t>
            </a:r>
          </a:p>
        </p:txBody>
      </p:sp>
      <p:sp>
        <p:nvSpPr>
          <p:cNvPr id="40" name="Rectangle 39"/>
          <p:cNvSpPr/>
          <p:nvPr/>
        </p:nvSpPr>
        <p:spPr>
          <a:xfrm>
            <a:off x="457200" y="5257800"/>
            <a:ext cx="11247120" cy="105156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Rectangle 40"/>
          <p:cNvSpPr/>
          <p:nvPr/>
        </p:nvSpPr>
        <p:spPr>
          <a:xfrm>
            <a:off x="457200" y="5257800"/>
            <a:ext cx="11247120" cy="36576"/>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640080" y="5330952"/>
            <a:ext cx="10881360" cy="201168"/>
          </a:xfrm>
          <a:prstGeom prst="rect">
            <a:avLst/>
          </a:prstGeom>
          <a:noFill/>
        </p:spPr>
        <p:txBody>
          <a:bodyPr wrap="square">
            <a:spAutoFit/>
          </a:bodyPr>
          <a:lstStyle/>
          <a:p>
            <a:pPr algn="l"/>
            <a:r>
              <a:rPr sz="900" b="1">
                <a:solidFill>
                  <a:srgbClr val="1A2754"/>
                </a:solidFill>
                <a:latin typeface="Calibri"/>
              </a:rPr>
              <a:t>SOLUTION STACK &amp; ARCHITECTURE</a:t>
            </a:r>
          </a:p>
        </p:txBody>
      </p:sp>
      <p:sp>
        <p:nvSpPr>
          <p:cNvPr id="43" name="TextBox 42"/>
          <p:cNvSpPr txBox="1"/>
          <p:nvPr/>
        </p:nvSpPr>
        <p:spPr>
          <a:xfrm>
            <a:off x="640080" y="5577840"/>
            <a:ext cx="2628900" cy="201168"/>
          </a:xfrm>
          <a:prstGeom prst="rect">
            <a:avLst/>
          </a:prstGeom>
          <a:noFill/>
        </p:spPr>
        <p:txBody>
          <a:bodyPr wrap="square">
            <a:spAutoFit/>
          </a:bodyPr>
          <a:lstStyle/>
          <a:p>
            <a:pPr algn="l"/>
            <a:r>
              <a:rPr sz="900" b="1">
                <a:solidFill>
                  <a:srgbClr val="1A2754"/>
                </a:solidFill>
                <a:latin typeface="Calibri"/>
              </a:rPr>
              <a:t>EDGE / CAPTURE</a:t>
            </a:r>
          </a:p>
        </p:txBody>
      </p:sp>
      <p:sp>
        <p:nvSpPr>
          <p:cNvPr id="44" name="TextBox 43"/>
          <p:cNvSpPr txBox="1"/>
          <p:nvPr/>
        </p:nvSpPr>
        <p:spPr>
          <a:xfrm>
            <a:off x="640080" y="5806440"/>
            <a:ext cx="2628900" cy="457200"/>
          </a:xfrm>
          <a:prstGeom prst="rect">
            <a:avLst/>
          </a:prstGeom>
          <a:noFill/>
        </p:spPr>
        <p:txBody>
          <a:bodyPr wrap="square">
            <a:spAutoFit/>
          </a:bodyPr>
          <a:lstStyle/>
          <a:p>
            <a:pPr algn="l"/>
            <a:r>
              <a:rPr sz="800" b="0">
                <a:solidFill>
                  <a:srgbClr val="475569"/>
                </a:solidFill>
                <a:latin typeface="Calibri"/>
              </a:rPr>
              <a:t>RFID readers · Barcode/QR scanners · IoT sensors at each station · Supplier portal integration</a:t>
            </a:r>
          </a:p>
        </p:txBody>
      </p:sp>
      <p:sp>
        <p:nvSpPr>
          <p:cNvPr id="45" name="TextBox 44"/>
          <p:cNvSpPr txBox="1"/>
          <p:nvPr/>
        </p:nvSpPr>
        <p:spPr>
          <a:xfrm>
            <a:off x="3360420" y="5577840"/>
            <a:ext cx="2628900" cy="201168"/>
          </a:xfrm>
          <a:prstGeom prst="rect">
            <a:avLst/>
          </a:prstGeom>
          <a:noFill/>
        </p:spPr>
        <p:txBody>
          <a:bodyPr wrap="square">
            <a:spAutoFit/>
          </a:bodyPr>
          <a:lstStyle/>
          <a:p>
            <a:pPr algn="l"/>
            <a:r>
              <a:rPr sz="900" b="1">
                <a:solidFill>
                  <a:srgbClr val="1A2754"/>
                </a:solidFill>
                <a:latin typeface="Calibri"/>
              </a:rPr>
              <a:t>COMPUTE / AI MODELS</a:t>
            </a:r>
          </a:p>
        </p:txBody>
      </p:sp>
      <p:sp>
        <p:nvSpPr>
          <p:cNvPr id="46" name="TextBox 45"/>
          <p:cNvSpPr txBox="1"/>
          <p:nvPr/>
        </p:nvSpPr>
        <p:spPr>
          <a:xfrm>
            <a:off x="3360420" y="5806440"/>
            <a:ext cx="2628900" cy="457200"/>
          </a:xfrm>
          <a:prstGeom prst="rect">
            <a:avLst/>
          </a:prstGeom>
          <a:noFill/>
        </p:spPr>
        <p:txBody>
          <a:bodyPr wrap="square">
            <a:spAutoFit/>
          </a:bodyPr>
          <a:lstStyle/>
          <a:p>
            <a:pPr algn="l"/>
            <a:r>
              <a:rPr sz="800" b="0">
                <a:solidFill>
                  <a:srgbClr val="475569"/>
                </a:solidFill>
                <a:latin typeface="Calibri"/>
              </a:rPr>
              <a:t>Graph database (Neo4j/Neptune) · Entity resolution · Lineage algorithms · Compliance rule engine</a:t>
            </a:r>
          </a:p>
        </p:txBody>
      </p:sp>
      <p:sp>
        <p:nvSpPr>
          <p:cNvPr id="47" name="TextBox 46"/>
          <p:cNvSpPr txBox="1"/>
          <p:nvPr/>
        </p:nvSpPr>
        <p:spPr>
          <a:xfrm>
            <a:off x="6080760" y="5577840"/>
            <a:ext cx="2628900" cy="201168"/>
          </a:xfrm>
          <a:prstGeom prst="rect">
            <a:avLst/>
          </a:prstGeom>
          <a:noFill/>
        </p:spPr>
        <p:txBody>
          <a:bodyPr wrap="square">
            <a:spAutoFit/>
          </a:bodyPr>
          <a:lstStyle/>
          <a:p>
            <a:pPr algn="l"/>
            <a:r>
              <a:rPr sz="900" b="1">
                <a:solidFill>
                  <a:srgbClr val="1A2754"/>
                </a:solidFill>
                <a:latin typeface="Calibri"/>
              </a:rPr>
              <a:t>INTEGRATION</a:t>
            </a:r>
          </a:p>
        </p:txBody>
      </p:sp>
      <p:sp>
        <p:nvSpPr>
          <p:cNvPr id="48" name="TextBox 47"/>
          <p:cNvSpPr txBox="1"/>
          <p:nvPr/>
        </p:nvSpPr>
        <p:spPr>
          <a:xfrm>
            <a:off x="6080760" y="5806440"/>
            <a:ext cx="2628900" cy="457200"/>
          </a:xfrm>
          <a:prstGeom prst="rect">
            <a:avLst/>
          </a:prstGeom>
          <a:noFill/>
        </p:spPr>
        <p:txBody>
          <a:bodyPr wrap="square">
            <a:spAutoFit/>
          </a:bodyPr>
          <a:lstStyle/>
          <a:p>
            <a:pPr algn="l"/>
            <a:r>
              <a:rPr sz="800" b="0">
                <a:solidFill>
                  <a:srgbClr val="475569"/>
                </a:solidFill>
                <a:latin typeface="Calibri"/>
              </a:rPr>
              <a:t>MES API · SAP ERP · Supplier EDI/API · RFID middleware · Event streaming (Kafka)</a:t>
            </a:r>
          </a:p>
        </p:txBody>
      </p:sp>
      <p:sp>
        <p:nvSpPr>
          <p:cNvPr id="49" name="TextBox 48"/>
          <p:cNvSpPr txBox="1"/>
          <p:nvPr/>
        </p:nvSpPr>
        <p:spPr>
          <a:xfrm>
            <a:off x="8801100" y="5577840"/>
            <a:ext cx="2628900" cy="201168"/>
          </a:xfrm>
          <a:prstGeom prst="rect">
            <a:avLst/>
          </a:prstGeom>
          <a:noFill/>
        </p:spPr>
        <p:txBody>
          <a:bodyPr wrap="square">
            <a:spAutoFit/>
          </a:bodyPr>
          <a:lstStyle/>
          <a:p>
            <a:pPr algn="l"/>
            <a:r>
              <a:rPr sz="900" b="1">
                <a:solidFill>
                  <a:srgbClr val="1A2754"/>
                </a:solidFill>
                <a:latin typeface="Calibri"/>
              </a:rPr>
              <a:t>UX / DECISION</a:t>
            </a:r>
          </a:p>
        </p:txBody>
      </p:sp>
      <p:sp>
        <p:nvSpPr>
          <p:cNvPr id="50" name="TextBox 49"/>
          <p:cNvSpPr txBox="1"/>
          <p:nvPr/>
        </p:nvSpPr>
        <p:spPr>
          <a:xfrm>
            <a:off x="8801100" y="5806440"/>
            <a:ext cx="2628900" cy="457200"/>
          </a:xfrm>
          <a:prstGeom prst="rect">
            <a:avLst/>
          </a:prstGeom>
          <a:noFill/>
        </p:spPr>
        <p:txBody>
          <a:bodyPr wrap="square">
            <a:spAutoFit/>
          </a:bodyPr>
          <a:lstStyle/>
          <a:p>
            <a:pPr algn="l"/>
            <a:r>
              <a:rPr sz="800" b="0">
                <a:solidFill>
                  <a:srgbClr val="475569"/>
                </a:solidFill>
                <a:latin typeface="Calibri"/>
              </a:rPr>
              <a:t>Traceability explorer UI · Recall simulator · Audit report generator · Supplier scorecard dashboard</a:t>
            </a:r>
          </a:p>
        </p:txBody>
      </p:sp>
      <p:sp>
        <p:nvSpPr>
          <p:cNvPr id="51" name="Rectangle 50"/>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53" name="TextBox 52"/>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14 / 20 · CONFIDENTIAL</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ACCELERATORS</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The Accelerator Stack  가속기</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Cuts Time-to-Pilot by 40-60%</a:t>
            </a:r>
          </a:p>
        </p:txBody>
      </p:sp>
      <p:sp>
        <p:nvSpPr>
          <p:cNvPr id="7" name="TextBox 6"/>
          <p:cNvSpPr txBox="1"/>
          <p:nvPr/>
        </p:nvSpPr>
        <p:spPr>
          <a:xfrm>
            <a:off x="457200" y="1097280"/>
            <a:ext cx="10972800" cy="365760"/>
          </a:xfrm>
          <a:prstGeom prst="rect">
            <a:avLst/>
          </a:prstGeom>
          <a:noFill/>
        </p:spPr>
        <p:txBody>
          <a:bodyPr wrap="square">
            <a:spAutoFit/>
          </a:bodyPr>
          <a:lstStyle/>
          <a:p>
            <a:pPr algn="l"/>
            <a:r>
              <a:rPr sz="1500" b="1">
                <a:solidFill>
                  <a:srgbClr val="1A2754"/>
                </a:solidFill>
                <a:latin typeface="Calibri"/>
              </a:rPr>
              <a:t>"We're not starting from zero. We've done this before."</a:t>
            </a:r>
          </a:p>
        </p:txBody>
      </p:sp>
      <p:sp>
        <p:nvSpPr>
          <p:cNvPr id="8" name="Rectangle 7"/>
          <p:cNvSpPr/>
          <p:nvPr/>
        </p:nvSpPr>
        <p:spPr>
          <a:xfrm>
            <a:off x="457200" y="1645920"/>
            <a:ext cx="548640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45920"/>
            <a:ext cx="54864" cy="137160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37360"/>
            <a:ext cx="5120640" cy="274320"/>
          </a:xfrm>
          <a:prstGeom prst="rect">
            <a:avLst/>
          </a:prstGeom>
          <a:noFill/>
        </p:spPr>
        <p:txBody>
          <a:bodyPr wrap="square">
            <a:spAutoFit/>
          </a:bodyPr>
          <a:lstStyle/>
          <a:p>
            <a:pPr algn="l"/>
            <a:r>
              <a:rPr sz="1300" b="1">
                <a:solidFill>
                  <a:srgbClr val="1A2754"/>
                </a:solidFill>
                <a:latin typeface="Calibri"/>
              </a:rPr>
              <a:t>Vision-AI Starter Kit</a:t>
            </a:r>
          </a:p>
        </p:txBody>
      </p:sp>
      <p:sp>
        <p:nvSpPr>
          <p:cNvPr id="11" name="TextBox 10"/>
          <p:cNvSpPr txBox="1"/>
          <p:nvPr/>
        </p:nvSpPr>
        <p:spPr>
          <a:xfrm>
            <a:off x="640080" y="2011680"/>
            <a:ext cx="5120640" cy="228600"/>
          </a:xfrm>
          <a:prstGeom prst="rect">
            <a:avLst/>
          </a:prstGeom>
          <a:noFill/>
        </p:spPr>
        <p:txBody>
          <a:bodyPr wrap="square">
            <a:spAutoFit/>
          </a:bodyPr>
          <a:lstStyle/>
          <a:p>
            <a:pPr algn="l"/>
            <a:r>
              <a:rPr sz="950" b="1">
                <a:solidFill>
                  <a:srgbClr val="00AAD4"/>
                </a:solidFill>
                <a:latin typeface="Calibri"/>
              </a:rPr>
              <a:t>비전 AI 스타터 킷</a:t>
            </a:r>
          </a:p>
        </p:txBody>
      </p:sp>
      <p:sp>
        <p:nvSpPr>
          <p:cNvPr id="12" name="TextBox 11"/>
          <p:cNvSpPr txBox="1"/>
          <p:nvPr/>
        </p:nvSpPr>
        <p:spPr>
          <a:xfrm>
            <a:off x="640080" y="2286000"/>
            <a:ext cx="5120640" cy="685800"/>
          </a:xfrm>
          <a:prstGeom prst="rect">
            <a:avLst/>
          </a:prstGeom>
          <a:noFill/>
        </p:spPr>
        <p:txBody>
          <a:bodyPr wrap="square">
            <a:spAutoFit/>
          </a:bodyPr>
          <a:lstStyle/>
          <a:p>
            <a:pPr algn="l"/>
            <a:r>
              <a:rPr sz="900" b="0">
                <a:solidFill>
                  <a:srgbClr val="475569"/>
                </a:solidFill>
                <a:latin typeface="Calibri"/>
              </a:rPr>
              <a:t>Pre-trained defect detection models, camera calibration tools, annotation pipeline, transfer learning templates.</a:t>
            </a:r>
          </a:p>
        </p:txBody>
      </p:sp>
      <p:sp>
        <p:nvSpPr>
          <p:cNvPr id="13" name="Rectangle 12"/>
          <p:cNvSpPr/>
          <p:nvPr/>
        </p:nvSpPr>
        <p:spPr>
          <a:xfrm>
            <a:off x="6126480" y="1645920"/>
            <a:ext cx="548640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6126480" y="1645920"/>
            <a:ext cx="54864" cy="137160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309360" y="1737360"/>
            <a:ext cx="5120640" cy="274320"/>
          </a:xfrm>
          <a:prstGeom prst="rect">
            <a:avLst/>
          </a:prstGeom>
          <a:noFill/>
        </p:spPr>
        <p:txBody>
          <a:bodyPr wrap="square">
            <a:spAutoFit/>
          </a:bodyPr>
          <a:lstStyle/>
          <a:p>
            <a:pPr algn="l"/>
            <a:r>
              <a:rPr sz="1300" b="1">
                <a:solidFill>
                  <a:srgbClr val="1A2754"/>
                </a:solidFill>
                <a:latin typeface="Calibri"/>
              </a:rPr>
              <a:t>Industrial IoT Ref Architecture</a:t>
            </a:r>
          </a:p>
        </p:txBody>
      </p:sp>
      <p:sp>
        <p:nvSpPr>
          <p:cNvPr id="16" name="TextBox 15"/>
          <p:cNvSpPr txBox="1"/>
          <p:nvPr/>
        </p:nvSpPr>
        <p:spPr>
          <a:xfrm>
            <a:off x="6309360" y="2011680"/>
            <a:ext cx="5120640" cy="228600"/>
          </a:xfrm>
          <a:prstGeom prst="rect">
            <a:avLst/>
          </a:prstGeom>
          <a:noFill/>
        </p:spPr>
        <p:txBody>
          <a:bodyPr wrap="square">
            <a:spAutoFit/>
          </a:bodyPr>
          <a:lstStyle/>
          <a:p>
            <a:pPr algn="l"/>
            <a:r>
              <a:rPr sz="950" b="1">
                <a:solidFill>
                  <a:srgbClr val="14A085"/>
                </a:solidFill>
                <a:latin typeface="Calibri"/>
              </a:rPr>
              <a:t>IIoT 참조 아키텍처</a:t>
            </a:r>
          </a:p>
        </p:txBody>
      </p:sp>
      <p:sp>
        <p:nvSpPr>
          <p:cNvPr id="17" name="TextBox 16"/>
          <p:cNvSpPr txBox="1"/>
          <p:nvPr/>
        </p:nvSpPr>
        <p:spPr>
          <a:xfrm>
            <a:off x="6309360" y="2286000"/>
            <a:ext cx="5120640" cy="685800"/>
          </a:xfrm>
          <a:prstGeom prst="rect">
            <a:avLst/>
          </a:prstGeom>
          <a:noFill/>
        </p:spPr>
        <p:txBody>
          <a:bodyPr wrap="square">
            <a:spAutoFit/>
          </a:bodyPr>
          <a:lstStyle/>
          <a:p>
            <a:pPr algn="l"/>
            <a:r>
              <a:rPr sz="900" b="0">
                <a:solidFill>
                  <a:srgbClr val="475569"/>
                </a:solidFill>
                <a:latin typeface="Calibri"/>
              </a:rPr>
              <a:t>Sensor onboarding, edge gateway config, SCADA/PLC connectors, time-series ingestion pipeline.</a:t>
            </a:r>
          </a:p>
        </p:txBody>
      </p:sp>
      <p:sp>
        <p:nvSpPr>
          <p:cNvPr id="18" name="Rectangle 17"/>
          <p:cNvSpPr/>
          <p:nvPr/>
        </p:nvSpPr>
        <p:spPr>
          <a:xfrm>
            <a:off x="457200" y="3200400"/>
            <a:ext cx="548640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457200" y="3200400"/>
            <a:ext cx="54864" cy="13716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0080" y="3291840"/>
            <a:ext cx="5120640" cy="274320"/>
          </a:xfrm>
          <a:prstGeom prst="rect">
            <a:avLst/>
          </a:prstGeom>
          <a:noFill/>
        </p:spPr>
        <p:txBody>
          <a:bodyPr wrap="square">
            <a:spAutoFit/>
          </a:bodyPr>
          <a:lstStyle/>
          <a:p>
            <a:pPr algn="l"/>
            <a:r>
              <a:rPr sz="1300" b="1">
                <a:solidFill>
                  <a:srgbClr val="1A2754"/>
                </a:solidFill>
                <a:latin typeface="Calibri"/>
              </a:rPr>
              <a:t>MES/SAP Connector Library</a:t>
            </a:r>
          </a:p>
        </p:txBody>
      </p:sp>
      <p:sp>
        <p:nvSpPr>
          <p:cNvPr id="21" name="TextBox 20"/>
          <p:cNvSpPr txBox="1"/>
          <p:nvPr/>
        </p:nvSpPr>
        <p:spPr>
          <a:xfrm>
            <a:off x="640080" y="3566160"/>
            <a:ext cx="5120640" cy="228600"/>
          </a:xfrm>
          <a:prstGeom prst="rect">
            <a:avLst/>
          </a:prstGeom>
          <a:noFill/>
        </p:spPr>
        <p:txBody>
          <a:bodyPr wrap="square">
            <a:spAutoFit/>
          </a:bodyPr>
          <a:lstStyle/>
          <a:p>
            <a:pPr algn="l"/>
            <a:r>
              <a:rPr sz="950" b="1">
                <a:solidFill>
                  <a:srgbClr val="2563EB"/>
                </a:solidFill>
                <a:latin typeface="Calibri"/>
              </a:rPr>
              <a:t>MES/SAP 커넥터</a:t>
            </a:r>
          </a:p>
        </p:txBody>
      </p:sp>
      <p:sp>
        <p:nvSpPr>
          <p:cNvPr id="22" name="TextBox 21"/>
          <p:cNvSpPr txBox="1"/>
          <p:nvPr/>
        </p:nvSpPr>
        <p:spPr>
          <a:xfrm>
            <a:off x="640080" y="3840480"/>
            <a:ext cx="5120640" cy="685800"/>
          </a:xfrm>
          <a:prstGeom prst="rect">
            <a:avLst/>
          </a:prstGeom>
          <a:noFill/>
        </p:spPr>
        <p:txBody>
          <a:bodyPr wrap="square">
            <a:spAutoFit/>
          </a:bodyPr>
          <a:lstStyle/>
          <a:p>
            <a:pPr algn="l"/>
            <a:r>
              <a:rPr sz="900" b="0">
                <a:solidFill>
                  <a:srgbClr val="475569"/>
                </a:solidFill>
                <a:latin typeface="Calibri"/>
              </a:rPr>
              <a:t>Pre-built adapters for SAP MES, SAP PM, OPC-UA, Siemens MindSphere. Bi-directional data flow.</a:t>
            </a:r>
          </a:p>
        </p:txBody>
      </p:sp>
      <p:sp>
        <p:nvSpPr>
          <p:cNvPr id="23" name="Rectangle 22"/>
          <p:cNvSpPr/>
          <p:nvPr/>
        </p:nvSpPr>
        <p:spPr>
          <a:xfrm>
            <a:off x="6126480" y="3200400"/>
            <a:ext cx="548640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6126480" y="3200400"/>
            <a:ext cx="54864" cy="1371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309360" y="3291840"/>
            <a:ext cx="5120640" cy="274320"/>
          </a:xfrm>
          <a:prstGeom prst="rect">
            <a:avLst/>
          </a:prstGeom>
          <a:noFill/>
        </p:spPr>
        <p:txBody>
          <a:bodyPr wrap="square">
            <a:spAutoFit/>
          </a:bodyPr>
          <a:lstStyle/>
          <a:p>
            <a:pPr algn="l"/>
            <a:r>
              <a:rPr sz="1300" b="1">
                <a:solidFill>
                  <a:srgbClr val="1A2754"/>
                </a:solidFill>
                <a:latin typeface="Calibri"/>
              </a:rPr>
              <a:t>MLOps Blueprint</a:t>
            </a:r>
          </a:p>
        </p:txBody>
      </p:sp>
      <p:sp>
        <p:nvSpPr>
          <p:cNvPr id="26" name="TextBox 25"/>
          <p:cNvSpPr txBox="1"/>
          <p:nvPr/>
        </p:nvSpPr>
        <p:spPr>
          <a:xfrm>
            <a:off x="6309360" y="3566160"/>
            <a:ext cx="5120640" cy="228600"/>
          </a:xfrm>
          <a:prstGeom prst="rect">
            <a:avLst/>
          </a:prstGeom>
          <a:noFill/>
        </p:spPr>
        <p:txBody>
          <a:bodyPr wrap="square">
            <a:spAutoFit/>
          </a:bodyPr>
          <a:lstStyle/>
          <a:p>
            <a:pPr algn="l"/>
            <a:r>
              <a:rPr sz="950" b="1">
                <a:solidFill>
                  <a:srgbClr val="7C3AED"/>
                </a:solidFill>
                <a:latin typeface="Calibri"/>
              </a:rPr>
              <a:t>MLOps 블루프린트</a:t>
            </a:r>
          </a:p>
        </p:txBody>
      </p:sp>
      <p:sp>
        <p:nvSpPr>
          <p:cNvPr id="27" name="TextBox 26"/>
          <p:cNvSpPr txBox="1"/>
          <p:nvPr/>
        </p:nvSpPr>
        <p:spPr>
          <a:xfrm>
            <a:off x="6309360" y="3840480"/>
            <a:ext cx="5120640" cy="685800"/>
          </a:xfrm>
          <a:prstGeom prst="rect">
            <a:avLst/>
          </a:prstGeom>
          <a:noFill/>
        </p:spPr>
        <p:txBody>
          <a:bodyPr wrap="square">
            <a:spAutoFit/>
          </a:bodyPr>
          <a:lstStyle/>
          <a:p>
            <a:pPr algn="l"/>
            <a:r>
              <a:rPr sz="900" b="0">
                <a:solidFill>
                  <a:srgbClr val="475569"/>
                </a:solidFill>
                <a:latin typeface="Calibri"/>
              </a:rPr>
              <a:t>Model registry, training pipelines, A/B deployment, drift detection, auto-retraining. Production-grade from Day 1.</a:t>
            </a:r>
          </a:p>
        </p:txBody>
      </p:sp>
      <p:sp>
        <p:nvSpPr>
          <p:cNvPr id="28" name="Rectangle 27"/>
          <p:cNvSpPr/>
          <p:nvPr/>
        </p:nvSpPr>
        <p:spPr>
          <a:xfrm>
            <a:off x="457200" y="4754880"/>
            <a:ext cx="548640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Rectangle 28"/>
          <p:cNvSpPr/>
          <p:nvPr/>
        </p:nvSpPr>
        <p:spPr>
          <a:xfrm>
            <a:off x="457200" y="4754880"/>
            <a:ext cx="54864" cy="1371600"/>
          </a:xfrm>
          <a:prstGeom prst="rect">
            <a:avLst/>
          </a:prstGeom>
          <a:solidFill>
            <a:srgbClr val="D9770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40080" y="4846320"/>
            <a:ext cx="5120640" cy="274320"/>
          </a:xfrm>
          <a:prstGeom prst="rect">
            <a:avLst/>
          </a:prstGeom>
          <a:noFill/>
        </p:spPr>
        <p:txBody>
          <a:bodyPr wrap="square">
            <a:spAutoFit/>
          </a:bodyPr>
          <a:lstStyle/>
          <a:p>
            <a:pPr algn="l"/>
            <a:r>
              <a:rPr sz="1300" b="1">
                <a:solidFill>
                  <a:srgbClr val="1A2754"/>
                </a:solidFill>
                <a:latin typeface="Calibri"/>
              </a:rPr>
              <a:t>Edge Deployment Toolkit</a:t>
            </a:r>
          </a:p>
        </p:txBody>
      </p:sp>
      <p:sp>
        <p:nvSpPr>
          <p:cNvPr id="31" name="TextBox 30"/>
          <p:cNvSpPr txBox="1"/>
          <p:nvPr/>
        </p:nvSpPr>
        <p:spPr>
          <a:xfrm>
            <a:off x="640080" y="5120640"/>
            <a:ext cx="5120640" cy="228600"/>
          </a:xfrm>
          <a:prstGeom prst="rect">
            <a:avLst/>
          </a:prstGeom>
          <a:noFill/>
        </p:spPr>
        <p:txBody>
          <a:bodyPr wrap="square">
            <a:spAutoFit/>
          </a:bodyPr>
          <a:lstStyle/>
          <a:p>
            <a:pPr algn="l"/>
            <a:r>
              <a:rPr sz="950" b="1">
                <a:solidFill>
                  <a:srgbClr val="D97706"/>
                </a:solidFill>
                <a:latin typeface="Calibri"/>
              </a:rPr>
              <a:t>엣지 배포 툴킷</a:t>
            </a:r>
          </a:p>
        </p:txBody>
      </p:sp>
      <p:sp>
        <p:nvSpPr>
          <p:cNvPr id="32" name="TextBox 31"/>
          <p:cNvSpPr txBox="1"/>
          <p:nvPr/>
        </p:nvSpPr>
        <p:spPr>
          <a:xfrm>
            <a:off x="640080" y="5394960"/>
            <a:ext cx="5120640" cy="685800"/>
          </a:xfrm>
          <a:prstGeom prst="rect">
            <a:avLst/>
          </a:prstGeom>
          <a:noFill/>
        </p:spPr>
        <p:txBody>
          <a:bodyPr wrap="square">
            <a:spAutoFit/>
          </a:bodyPr>
          <a:lstStyle/>
          <a:p>
            <a:pPr algn="l"/>
            <a:r>
              <a:rPr sz="900" b="0">
                <a:solidFill>
                  <a:srgbClr val="475569"/>
                </a:solidFill>
                <a:latin typeface="Calibri"/>
              </a:rPr>
              <a:t>NVIDIA Jetson / TensorRT optimization, OTA model updates, fleet management, &lt;200ms latency guarantee.</a:t>
            </a:r>
          </a:p>
        </p:txBody>
      </p:sp>
      <p:sp>
        <p:nvSpPr>
          <p:cNvPr id="33" name="Rectangle 32"/>
          <p:cNvSpPr/>
          <p:nvPr/>
        </p:nvSpPr>
        <p:spPr>
          <a:xfrm>
            <a:off x="6126480" y="4754880"/>
            <a:ext cx="548640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Rectangle 33"/>
          <p:cNvSpPr/>
          <p:nvPr/>
        </p:nvSpPr>
        <p:spPr>
          <a:xfrm>
            <a:off x="6126480" y="4754880"/>
            <a:ext cx="54864" cy="1371600"/>
          </a:xfrm>
          <a:prstGeom prst="rect">
            <a:avLst/>
          </a:prstGeom>
          <a:solidFill>
            <a:srgbClr val="0E7B6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6309360" y="4846320"/>
            <a:ext cx="5120640" cy="274320"/>
          </a:xfrm>
          <a:prstGeom prst="rect">
            <a:avLst/>
          </a:prstGeom>
          <a:noFill/>
        </p:spPr>
        <p:txBody>
          <a:bodyPr wrap="square">
            <a:spAutoFit/>
          </a:bodyPr>
          <a:lstStyle/>
          <a:p>
            <a:pPr algn="l"/>
            <a:r>
              <a:rPr sz="1300" b="1">
                <a:solidFill>
                  <a:srgbClr val="1A2754"/>
                </a:solidFill>
                <a:latin typeface="Calibri"/>
              </a:rPr>
              <a:t>Traceability Graph Platform</a:t>
            </a:r>
          </a:p>
        </p:txBody>
      </p:sp>
      <p:sp>
        <p:nvSpPr>
          <p:cNvPr id="36" name="TextBox 35"/>
          <p:cNvSpPr txBox="1"/>
          <p:nvPr/>
        </p:nvSpPr>
        <p:spPr>
          <a:xfrm>
            <a:off x="6309360" y="5120640"/>
            <a:ext cx="5120640" cy="228600"/>
          </a:xfrm>
          <a:prstGeom prst="rect">
            <a:avLst/>
          </a:prstGeom>
          <a:noFill/>
        </p:spPr>
        <p:txBody>
          <a:bodyPr wrap="square">
            <a:spAutoFit/>
          </a:bodyPr>
          <a:lstStyle/>
          <a:p>
            <a:pPr algn="l"/>
            <a:r>
              <a:rPr sz="950" b="1">
                <a:solidFill>
                  <a:srgbClr val="0E7B6A"/>
                </a:solidFill>
                <a:latin typeface="Calibri"/>
              </a:rPr>
              <a:t>추적 그래프 플랫폼</a:t>
            </a:r>
          </a:p>
        </p:txBody>
      </p:sp>
      <p:sp>
        <p:nvSpPr>
          <p:cNvPr id="37" name="TextBox 36"/>
          <p:cNvSpPr txBox="1"/>
          <p:nvPr/>
        </p:nvSpPr>
        <p:spPr>
          <a:xfrm>
            <a:off x="6309360" y="5394960"/>
            <a:ext cx="5120640" cy="685800"/>
          </a:xfrm>
          <a:prstGeom prst="rect">
            <a:avLst/>
          </a:prstGeom>
          <a:noFill/>
        </p:spPr>
        <p:txBody>
          <a:bodyPr wrap="square">
            <a:spAutoFit/>
          </a:bodyPr>
          <a:lstStyle/>
          <a:p>
            <a:pPr algn="l"/>
            <a:r>
              <a:rPr sz="900" b="0">
                <a:solidFill>
                  <a:srgbClr val="475569"/>
                </a:solidFill>
                <a:latin typeface="Calibri"/>
              </a:rPr>
              <a:t>Neo4j/Neptune templates, lineage data model, recall simulator, regulatory report generator.</a:t>
            </a:r>
          </a:p>
        </p:txBody>
      </p:sp>
      <p:sp>
        <p:nvSpPr>
          <p:cNvPr id="38" name="Rectangle 37"/>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9" name="TextBox 38"/>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40" name="TextBox 39"/>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15 / 20 · CONFIDENTIAL</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ARCHITECTURE</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Integration Architecture  통합 아키텍처</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Korea-Region · ISMS-P · PIPA</a:t>
            </a:r>
          </a:p>
        </p:txBody>
      </p:sp>
      <p:sp>
        <p:nvSpPr>
          <p:cNvPr id="7" name="TextBox 6"/>
          <p:cNvSpPr txBox="1"/>
          <p:nvPr/>
        </p:nvSpPr>
        <p:spPr>
          <a:xfrm>
            <a:off x="457200" y="1097280"/>
            <a:ext cx="10972800" cy="365760"/>
          </a:xfrm>
          <a:prstGeom prst="rect">
            <a:avLst/>
          </a:prstGeom>
          <a:noFill/>
        </p:spPr>
        <p:txBody>
          <a:bodyPr wrap="square">
            <a:spAutoFit/>
          </a:bodyPr>
          <a:lstStyle/>
          <a:p>
            <a:pPr algn="l"/>
            <a:r>
              <a:rPr sz="1300" b="0">
                <a:solidFill>
                  <a:srgbClr val="475569"/>
                </a:solidFill>
                <a:latin typeface="Calibri"/>
              </a:rPr>
              <a:t>No rip-and-replace. Edge AI + cloud. &lt;200ms latency. Korea data residency.</a:t>
            </a:r>
          </a:p>
        </p:txBody>
      </p:sp>
      <p:sp>
        <p:nvSpPr>
          <p:cNvPr id="8" name="Rectangle 7"/>
          <p:cNvSpPr/>
          <p:nvPr/>
        </p:nvSpPr>
        <p:spPr>
          <a:xfrm>
            <a:off x="457200" y="1645920"/>
            <a:ext cx="11247120" cy="10058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45920"/>
            <a:ext cx="73152" cy="100584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19072"/>
            <a:ext cx="3200400" cy="274320"/>
          </a:xfrm>
          <a:prstGeom prst="rect">
            <a:avLst/>
          </a:prstGeom>
          <a:noFill/>
        </p:spPr>
        <p:txBody>
          <a:bodyPr wrap="square">
            <a:spAutoFit/>
          </a:bodyPr>
          <a:lstStyle/>
          <a:p>
            <a:pPr algn="l"/>
            <a:r>
              <a:rPr sz="1100" b="1">
                <a:solidFill>
                  <a:srgbClr val="00AAD4"/>
                </a:solidFill>
                <a:latin typeface="Calibri"/>
              </a:rPr>
              <a:t>EDGE / PLANT FLOOR (OT)</a:t>
            </a:r>
          </a:p>
        </p:txBody>
      </p:sp>
      <p:sp>
        <p:nvSpPr>
          <p:cNvPr id="11" name="TextBox 10"/>
          <p:cNvSpPr txBox="1"/>
          <p:nvPr/>
        </p:nvSpPr>
        <p:spPr>
          <a:xfrm>
            <a:off x="640080" y="2011680"/>
            <a:ext cx="10881360" cy="594360"/>
          </a:xfrm>
          <a:prstGeom prst="rect">
            <a:avLst/>
          </a:prstGeom>
          <a:noFill/>
        </p:spPr>
        <p:txBody>
          <a:bodyPr wrap="square">
            <a:spAutoFit/>
          </a:bodyPr>
          <a:lstStyle/>
          <a:p>
            <a:pPr algn="l"/>
            <a:r>
              <a:rPr sz="900" b="0">
                <a:solidFill>
                  <a:srgbClr val="475569"/>
                </a:solidFill>
                <a:latin typeface="Calibri"/>
              </a:rPr>
              <a:t>Industrial cameras · IoT sensors · SCADA/PLC · Edge AI (Jetson) · OPC-UA gateway</a:t>
            </a:r>
            <a:br/>
            <a:r>
              <a:t>Air-gapped OT network · ICS cybersecurity · Local inference &lt;50ms</a:t>
            </a:r>
          </a:p>
        </p:txBody>
      </p:sp>
      <p:sp>
        <p:nvSpPr>
          <p:cNvPr id="12" name="Rectangle 11"/>
          <p:cNvSpPr/>
          <p:nvPr/>
        </p:nvSpPr>
        <p:spPr>
          <a:xfrm>
            <a:off x="457200" y="2788920"/>
            <a:ext cx="11247120" cy="10058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ectangle 12"/>
          <p:cNvSpPr/>
          <p:nvPr/>
        </p:nvSpPr>
        <p:spPr>
          <a:xfrm>
            <a:off x="457200" y="2788920"/>
            <a:ext cx="73152" cy="100584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640080" y="2862072"/>
            <a:ext cx="3200400" cy="274320"/>
          </a:xfrm>
          <a:prstGeom prst="rect">
            <a:avLst/>
          </a:prstGeom>
          <a:noFill/>
        </p:spPr>
        <p:txBody>
          <a:bodyPr wrap="square">
            <a:spAutoFit/>
          </a:bodyPr>
          <a:lstStyle/>
          <a:p>
            <a:pPr algn="l"/>
            <a:r>
              <a:rPr sz="1100" b="1">
                <a:solidFill>
                  <a:srgbClr val="14A085"/>
                </a:solidFill>
                <a:latin typeface="Calibri"/>
              </a:rPr>
              <a:t>INTEGRATION / DATA (DMZ)</a:t>
            </a:r>
          </a:p>
        </p:txBody>
      </p:sp>
      <p:sp>
        <p:nvSpPr>
          <p:cNvPr id="15" name="TextBox 14"/>
          <p:cNvSpPr txBox="1"/>
          <p:nvPr/>
        </p:nvSpPr>
        <p:spPr>
          <a:xfrm>
            <a:off x="640080" y="3154680"/>
            <a:ext cx="10881360" cy="594360"/>
          </a:xfrm>
          <a:prstGeom prst="rect">
            <a:avLst/>
          </a:prstGeom>
          <a:noFill/>
        </p:spPr>
        <p:txBody>
          <a:bodyPr wrap="square">
            <a:spAutoFit/>
          </a:bodyPr>
          <a:lstStyle/>
          <a:p>
            <a:pPr algn="l"/>
            <a:r>
              <a:rPr sz="900" b="0">
                <a:solidFill>
                  <a:srgbClr val="475569"/>
                </a:solidFill>
                <a:latin typeface="Calibri"/>
              </a:rPr>
              <a:t>Kafka event streaming · OPC-UA broker · MES/ERP connectors · Data lake (S3/ADLS)</a:t>
            </a:r>
            <a:br/>
            <a:r>
              <a:t>OT/IT network segmentation · Firewall rules · Encrypted data in transit</a:t>
            </a:r>
          </a:p>
        </p:txBody>
      </p:sp>
      <p:sp>
        <p:nvSpPr>
          <p:cNvPr id="16" name="Rectangle 15"/>
          <p:cNvSpPr/>
          <p:nvPr/>
        </p:nvSpPr>
        <p:spPr>
          <a:xfrm>
            <a:off x="457200" y="3931920"/>
            <a:ext cx="11247120" cy="10058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ectangle 16"/>
          <p:cNvSpPr/>
          <p:nvPr/>
        </p:nvSpPr>
        <p:spPr>
          <a:xfrm>
            <a:off x="457200" y="3931920"/>
            <a:ext cx="73152" cy="1005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40080" y="4005072"/>
            <a:ext cx="3200400" cy="274320"/>
          </a:xfrm>
          <a:prstGeom prst="rect">
            <a:avLst/>
          </a:prstGeom>
          <a:noFill/>
        </p:spPr>
        <p:txBody>
          <a:bodyPr wrap="square">
            <a:spAutoFit/>
          </a:bodyPr>
          <a:lstStyle/>
          <a:p>
            <a:pPr algn="l"/>
            <a:r>
              <a:rPr sz="1100" b="1">
                <a:solidFill>
                  <a:srgbClr val="2563EB"/>
                </a:solidFill>
                <a:latin typeface="Calibri"/>
              </a:rPr>
              <a:t>CLOUD / ML PLATFORM (IT)</a:t>
            </a:r>
          </a:p>
        </p:txBody>
      </p:sp>
      <p:sp>
        <p:nvSpPr>
          <p:cNvPr id="19" name="TextBox 18"/>
          <p:cNvSpPr txBox="1"/>
          <p:nvPr/>
        </p:nvSpPr>
        <p:spPr>
          <a:xfrm>
            <a:off x="640080" y="4297680"/>
            <a:ext cx="10881360" cy="594360"/>
          </a:xfrm>
          <a:prstGeom prst="rect">
            <a:avLst/>
          </a:prstGeom>
          <a:noFill/>
        </p:spPr>
        <p:txBody>
          <a:bodyPr wrap="square">
            <a:spAutoFit/>
          </a:bodyPr>
          <a:lstStyle/>
          <a:p>
            <a:pPr algn="l"/>
            <a:r>
              <a:rPr sz="900" b="0">
                <a:solidFill>
                  <a:srgbClr val="475569"/>
                </a:solidFill>
                <a:latin typeface="Calibri"/>
              </a:rPr>
              <a:t>AWS Seoul / Azure Korea Central · MLOps pipeline · Model registry · Training cluster</a:t>
            </a:r>
            <a:br/>
            <a:r>
              <a:t>ISMS-P compliant · PIPA data handling · K-AI Ethics audit trail</a:t>
            </a:r>
          </a:p>
        </p:txBody>
      </p:sp>
      <p:sp>
        <p:nvSpPr>
          <p:cNvPr id="20" name="Rectangle 19"/>
          <p:cNvSpPr/>
          <p:nvPr/>
        </p:nvSpPr>
        <p:spPr>
          <a:xfrm>
            <a:off x="457200" y="5074920"/>
            <a:ext cx="11247120" cy="10058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Rectangle 20"/>
          <p:cNvSpPr/>
          <p:nvPr/>
        </p:nvSpPr>
        <p:spPr>
          <a:xfrm>
            <a:off x="457200" y="5074920"/>
            <a:ext cx="73152" cy="10058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40080" y="5148072"/>
            <a:ext cx="3200400" cy="274320"/>
          </a:xfrm>
          <a:prstGeom prst="rect">
            <a:avLst/>
          </a:prstGeom>
          <a:noFill/>
        </p:spPr>
        <p:txBody>
          <a:bodyPr wrap="square">
            <a:spAutoFit/>
          </a:bodyPr>
          <a:lstStyle/>
          <a:p>
            <a:pPr algn="l"/>
            <a:r>
              <a:rPr sz="1100" b="1">
                <a:solidFill>
                  <a:srgbClr val="7C3AED"/>
                </a:solidFill>
                <a:latin typeface="Calibri"/>
              </a:rPr>
              <a:t>APPLICATION / UX</a:t>
            </a:r>
          </a:p>
        </p:txBody>
      </p:sp>
      <p:sp>
        <p:nvSpPr>
          <p:cNvPr id="23" name="TextBox 22"/>
          <p:cNvSpPr txBox="1"/>
          <p:nvPr/>
        </p:nvSpPr>
        <p:spPr>
          <a:xfrm>
            <a:off x="640080" y="5440680"/>
            <a:ext cx="10881360" cy="594360"/>
          </a:xfrm>
          <a:prstGeom prst="rect">
            <a:avLst/>
          </a:prstGeom>
          <a:noFill/>
        </p:spPr>
        <p:txBody>
          <a:bodyPr wrap="square">
            <a:spAutoFit/>
          </a:bodyPr>
          <a:lstStyle/>
          <a:p>
            <a:pPr algn="l"/>
            <a:r>
              <a:rPr sz="900" b="0">
                <a:solidFill>
                  <a:srgbClr val="475569"/>
                </a:solidFill>
                <a:latin typeface="Calibri"/>
              </a:rPr>
              <a:t>Quality dashboards · Operator UIs · Mobile alerts · Executive reports · API gateway</a:t>
            </a:r>
            <a:br/>
            <a:r>
              <a:t>RBAC · SSO integration · Audit logging · Multi-language (KR/EN)</a:t>
            </a:r>
          </a:p>
        </p:txBody>
      </p:sp>
      <p:sp>
        <p:nvSpPr>
          <p:cNvPr id="24" name="Rectangle 23"/>
          <p:cNvSpPr/>
          <p:nvPr/>
        </p:nvSpPr>
        <p:spPr>
          <a:xfrm>
            <a:off x="457200" y="6126480"/>
            <a:ext cx="11247120" cy="22860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40080" y="6126480"/>
            <a:ext cx="11247120" cy="228600"/>
          </a:xfrm>
          <a:prstGeom prst="rect">
            <a:avLst/>
          </a:prstGeom>
          <a:noFill/>
        </p:spPr>
        <p:txBody>
          <a:bodyPr wrap="square">
            <a:spAutoFit/>
          </a:bodyPr>
          <a:lstStyle/>
          <a:p>
            <a:pPr algn="l"/>
            <a:r>
              <a:rPr sz="900" b="1">
                <a:solidFill>
                  <a:srgbClr val="FFFFFF"/>
                </a:solidFill>
                <a:latin typeface="Calibri"/>
              </a:rPr>
              <a:t>ISMS-P · PIPA · K-AI Ethics Standards · Korea-Region Only · OT/IT Segmentation · ICS Cybersecurity</a:t>
            </a:r>
          </a:p>
        </p:txBody>
      </p:sp>
      <p:sp>
        <p:nvSpPr>
          <p:cNvPr id="26" name="Rectangle 25"/>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TextBox 26"/>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28" name="TextBox 27"/>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16 / 20 · CONFIDENTIAL</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DELIVERY</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Four-Phase Delivery  4단계 전달</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Discovery → Pilot → Scale → Run</a:t>
            </a:r>
          </a:p>
        </p:txBody>
      </p:sp>
      <p:sp>
        <p:nvSpPr>
          <p:cNvPr id="7" name="TextBox 6"/>
          <p:cNvSpPr txBox="1"/>
          <p:nvPr/>
        </p:nvSpPr>
        <p:spPr>
          <a:xfrm>
            <a:off x="457200" y="1097280"/>
            <a:ext cx="10972800" cy="502920"/>
          </a:xfrm>
          <a:prstGeom prst="rect">
            <a:avLst/>
          </a:prstGeom>
          <a:noFill/>
        </p:spPr>
        <p:txBody>
          <a:bodyPr wrap="square">
            <a:spAutoFit/>
          </a:bodyPr>
          <a:lstStyle/>
          <a:p>
            <a:pPr algn="l"/>
            <a:r>
              <a:rPr sz="2200" b="1">
                <a:solidFill>
                  <a:srgbClr val="1A2754"/>
                </a:solidFill>
                <a:latin typeface="Calibri"/>
              </a:rPr>
              <a:t>De-risked path from first use case to plant-wide rollout</a:t>
            </a:r>
          </a:p>
        </p:txBody>
      </p:sp>
      <p:sp>
        <p:nvSpPr>
          <p:cNvPr id="8" name="TextBox 7"/>
          <p:cNvSpPr txBox="1"/>
          <p:nvPr/>
        </p:nvSpPr>
        <p:spPr>
          <a:xfrm>
            <a:off x="457200" y="1691640"/>
            <a:ext cx="10972800" cy="457200"/>
          </a:xfrm>
          <a:prstGeom prst="rect">
            <a:avLst/>
          </a:prstGeom>
          <a:noFill/>
        </p:spPr>
        <p:txBody>
          <a:bodyPr wrap="square">
            <a:spAutoFit/>
          </a:bodyPr>
          <a:lstStyle/>
          <a:p>
            <a:pPr algn="l"/>
            <a:r>
              <a:rPr sz="1100" b="0">
                <a:solidFill>
                  <a:srgbClr val="475569"/>
                </a:solidFill>
                <a:latin typeface="Calibri"/>
              </a:rPr>
              <a:t>We never start with a multi-quarter program. We start by proving one use case end-to-end on a real line, with real data, measured against real KPIs.</a:t>
            </a:r>
          </a:p>
        </p:txBody>
      </p:sp>
      <p:sp>
        <p:nvSpPr>
          <p:cNvPr id="9" name="Rectangle 8"/>
          <p:cNvSpPr/>
          <p:nvPr/>
        </p:nvSpPr>
        <p:spPr>
          <a:xfrm>
            <a:off x="457200" y="2651760"/>
            <a:ext cx="2697480" cy="3383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Rectangle 9"/>
          <p:cNvSpPr/>
          <p:nvPr/>
        </p:nvSpPr>
        <p:spPr>
          <a:xfrm>
            <a:off x="457200" y="2651760"/>
            <a:ext cx="2697480" cy="54864"/>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40080" y="2816352"/>
            <a:ext cx="2423160" cy="228600"/>
          </a:xfrm>
          <a:prstGeom prst="rect">
            <a:avLst/>
          </a:prstGeom>
          <a:noFill/>
        </p:spPr>
        <p:txBody>
          <a:bodyPr wrap="square">
            <a:spAutoFit/>
          </a:bodyPr>
          <a:lstStyle/>
          <a:p>
            <a:pPr algn="l"/>
            <a:r>
              <a:rPr sz="900" b="1">
                <a:solidFill>
                  <a:srgbClr val="64748B"/>
                </a:solidFill>
                <a:latin typeface="Calibri"/>
              </a:rPr>
              <a:t>PHASE 01</a:t>
            </a:r>
          </a:p>
        </p:txBody>
      </p:sp>
      <p:sp>
        <p:nvSpPr>
          <p:cNvPr id="12" name="TextBox 11"/>
          <p:cNvSpPr txBox="1"/>
          <p:nvPr/>
        </p:nvSpPr>
        <p:spPr>
          <a:xfrm>
            <a:off x="640080" y="3063240"/>
            <a:ext cx="2423160" cy="457200"/>
          </a:xfrm>
          <a:prstGeom prst="rect">
            <a:avLst/>
          </a:prstGeom>
          <a:noFill/>
        </p:spPr>
        <p:txBody>
          <a:bodyPr wrap="square">
            <a:spAutoFit/>
          </a:bodyPr>
          <a:lstStyle/>
          <a:p>
            <a:pPr algn="l"/>
            <a:r>
              <a:rPr sz="2000" b="1">
                <a:solidFill>
                  <a:srgbClr val="1A2754"/>
                </a:solidFill>
                <a:latin typeface="Calibri"/>
              </a:rPr>
              <a:t>Discovery</a:t>
            </a:r>
          </a:p>
        </p:txBody>
      </p:sp>
      <p:sp>
        <p:nvSpPr>
          <p:cNvPr id="13" name="TextBox 12"/>
          <p:cNvSpPr txBox="1"/>
          <p:nvPr/>
        </p:nvSpPr>
        <p:spPr>
          <a:xfrm>
            <a:off x="640080" y="3520440"/>
            <a:ext cx="2423160" cy="274320"/>
          </a:xfrm>
          <a:prstGeom prst="rect">
            <a:avLst/>
          </a:prstGeom>
          <a:noFill/>
        </p:spPr>
        <p:txBody>
          <a:bodyPr wrap="square">
            <a:spAutoFit/>
          </a:bodyPr>
          <a:lstStyle/>
          <a:p>
            <a:pPr algn="l"/>
            <a:r>
              <a:rPr sz="900" b="0">
                <a:solidFill>
                  <a:srgbClr val="64748B"/>
                </a:solidFill>
                <a:latin typeface="Calibri"/>
              </a:rPr>
              <a:t>2–3 weeks</a:t>
            </a:r>
          </a:p>
        </p:txBody>
      </p:sp>
      <p:sp>
        <p:nvSpPr>
          <p:cNvPr id="14" name="TextBox 13"/>
          <p:cNvSpPr txBox="1"/>
          <p:nvPr/>
        </p:nvSpPr>
        <p:spPr>
          <a:xfrm>
            <a:off x="640080" y="3840480"/>
            <a:ext cx="2423160" cy="2103120"/>
          </a:xfrm>
          <a:prstGeom prst="rect">
            <a:avLst/>
          </a:prstGeom>
          <a:noFill/>
        </p:spPr>
        <p:txBody>
          <a:bodyPr wrap="square">
            <a:spAutoFit/>
          </a:bodyPr>
          <a:lstStyle/>
          <a:p>
            <a:pPr>
              <a:spcBef>
                <a:spcPts val="200"/>
              </a:spcBef>
              <a:spcAft>
                <a:spcPts val="200"/>
              </a:spcAft>
            </a:pPr>
            <a:r>
              <a:rPr sz="950" b="0">
                <a:solidFill>
                  <a:srgbClr val="1E293B"/>
                </a:solidFill>
                <a:latin typeface="Calibri"/>
              </a:rPr>
              <a:t>→  Plant-floor workshop &amp; line walk-through</a:t>
            </a:r>
          </a:p>
          <a:p>
            <a:pPr>
              <a:spcBef>
                <a:spcPts val="200"/>
              </a:spcBef>
              <a:spcAft>
                <a:spcPts val="200"/>
              </a:spcAft>
            </a:pPr>
            <a:r>
              <a:rPr sz="950" b="0">
                <a:solidFill>
                  <a:srgbClr val="1E293B"/>
                </a:solidFill>
                <a:latin typeface="Calibri"/>
              </a:rPr>
              <a:t>→  Use case prioritization scorecard</a:t>
            </a:r>
          </a:p>
          <a:p>
            <a:pPr>
              <a:spcBef>
                <a:spcPts val="200"/>
              </a:spcBef>
              <a:spcAft>
                <a:spcPts val="200"/>
              </a:spcAft>
            </a:pPr>
            <a:r>
              <a:rPr sz="950" b="0">
                <a:solidFill>
                  <a:srgbClr val="1E293B"/>
                </a:solidFill>
                <a:latin typeface="Calibri"/>
              </a:rPr>
              <a:t>→  Data &amp; systems landscape audit</a:t>
            </a:r>
          </a:p>
          <a:p>
            <a:pPr>
              <a:spcBef>
                <a:spcPts val="200"/>
              </a:spcBef>
              <a:spcAft>
                <a:spcPts val="200"/>
              </a:spcAft>
            </a:pPr>
            <a:r>
              <a:rPr sz="950" b="0">
                <a:solidFill>
                  <a:srgbClr val="1E293B"/>
                </a:solidFill>
                <a:latin typeface="Calibri"/>
              </a:rPr>
              <a:t>→  Pilot scope, KPIs, success criteria</a:t>
            </a:r>
          </a:p>
        </p:txBody>
      </p:sp>
      <p:sp>
        <p:nvSpPr>
          <p:cNvPr id="15" name="Rectangle 14"/>
          <p:cNvSpPr/>
          <p:nvPr/>
        </p:nvSpPr>
        <p:spPr>
          <a:xfrm>
            <a:off x="3319272" y="2651760"/>
            <a:ext cx="2697480" cy="3383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Rectangle 15"/>
          <p:cNvSpPr/>
          <p:nvPr/>
        </p:nvSpPr>
        <p:spPr>
          <a:xfrm>
            <a:off x="3319272" y="2651760"/>
            <a:ext cx="2697480" cy="54864"/>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3502152" y="2816352"/>
            <a:ext cx="2423160" cy="228600"/>
          </a:xfrm>
          <a:prstGeom prst="rect">
            <a:avLst/>
          </a:prstGeom>
          <a:noFill/>
        </p:spPr>
        <p:txBody>
          <a:bodyPr wrap="square">
            <a:spAutoFit/>
          </a:bodyPr>
          <a:lstStyle/>
          <a:p>
            <a:pPr algn="l"/>
            <a:r>
              <a:rPr sz="900" b="1">
                <a:solidFill>
                  <a:srgbClr val="64748B"/>
                </a:solidFill>
                <a:latin typeface="Calibri"/>
              </a:rPr>
              <a:t>PHASE 02</a:t>
            </a:r>
          </a:p>
        </p:txBody>
      </p:sp>
      <p:sp>
        <p:nvSpPr>
          <p:cNvPr id="18" name="TextBox 17"/>
          <p:cNvSpPr txBox="1"/>
          <p:nvPr/>
        </p:nvSpPr>
        <p:spPr>
          <a:xfrm>
            <a:off x="3502152" y="3063240"/>
            <a:ext cx="2423160" cy="457200"/>
          </a:xfrm>
          <a:prstGeom prst="rect">
            <a:avLst/>
          </a:prstGeom>
          <a:noFill/>
        </p:spPr>
        <p:txBody>
          <a:bodyPr wrap="square">
            <a:spAutoFit/>
          </a:bodyPr>
          <a:lstStyle/>
          <a:p>
            <a:pPr algn="l"/>
            <a:r>
              <a:rPr sz="2000" b="1">
                <a:solidFill>
                  <a:srgbClr val="1A2754"/>
                </a:solidFill>
                <a:latin typeface="Calibri"/>
              </a:rPr>
              <a:t>Pilot</a:t>
            </a:r>
          </a:p>
        </p:txBody>
      </p:sp>
      <p:sp>
        <p:nvSpPr>
          <p:cNvPr id="19" name="TextBox 18"/>
          <p:cNvSpPr txBox="1"/>
          <p:nvPr/>
        </p:nvSpPr>
        <p:spPr>
          <a:xfrm>
            <a:off x="3502152" y="3520440"/>
            <a:ext cx="2423160" cy="274320"/>
          </a:xfrm>
          <a:prstGeom prst="rect">
            <a:avLst/>
          </a:prstGeom>
          <a:noFill/>
        </p:spPr>
        <p:txBody>
          <a:bodyPr wrap="square">
            <a:spAutoFit/>
          </a:bodyPr>
          <a:lstStyle/>
          <a:p>
            <a:pPr algn="l"/>
            <a:r>
              <a:rPr sz="900" b="0">
                <a:solidFill>
                  <a:srgbClr val="64748B"/>
                </a:solidFill>
                <a:latin typeface="Calibri"/>
              </a:rPr>
              <a:t>8 weeks</a:t>
            </a:r>
          </a:p>
        </p:txBody>
      </p:sp>
      <p:sp>
        <p:nvSpPr>
          <p:cNvPr id="20" name="TextBox 19"/>
          <p:cNvSpPr txBox="1"/>
          <p:nvPr/>
        </p:nvSpPr>
        <p:spPr>
          <a:xfrm>
            <a:off x="3502152" y="3840480"/>
            <a:ext cx="2423160" cy="2103120"/>
          </a:xfrm>
          <a:prstGeom prst="rect">
            <a:avLst/>
          </a:prstGeom>
          <a:noFill/>
        </p:spPr>
        <p:txBody>
          <a:bodyPr wrap="square">
            <a:spAutoFit/>
          </a:bodyPr>
          <a:lstStyle/>
          <a:p>
            <a:pPr>
              <a:spcBef>
                <a:spcPts val="200"/>
              </a:spcBef>
              <a:spcAft>
                <a:spcPts val="200"/>
              </a:spcAft>
            </a:pPr>
            <a:r>
              <a:rPr sz="950" b="0">
                <a:solidFill>
                  <a:srgbClr val="1E293B"/>
                </a:solidFill>
                <a:latin typeface="Calibri"/>
              </a:rPr>
              <a:t>→  1–2 high-impact use cases on one line</a:t>
            </a:r>
          </a:p>
          <a:p>
            <a:pPr>
              <a:spcBef>
                <a:spcPts val="200"/>
              </a:spcBef>
              <a:spcAft>
                <a:spcPts val="200"/>
              </a:spcAft>
            </a:pPr>
            <a:r>
              <a:rPr sz="950" b="0">
                <a:solidFill>
                  <a:srgbClr val="1E293B"/>
                </a:solidFill>
                <a:latin typeface="Calibri"/>
              </a:rPr>
              <a:t>→  AI Engineering Team: build, train, deploy</a:t>
            </a:r>
          </a:p>
          <a:p>
            <a:pPr>
              <a:spcBef>
                <a:spcPts val="200"/>
              </a:spcBef>
              <a:spcAft>
                <a:spcPts val="200"/>
              </a:spcAft>
            </a:pPr>
            <a:r>
              <a:rPr sz="950" b="0">
                <a:solidFill>
                  <a:srgbClr val="1E293B"/>
                </a:solidFill>
                <a:latin typeface="Calibri"/>
              </a:rPr>
              <a:t>→  MES &amp; dashboard integration</a:t>
            </a:r>
          </a:p>
          <a:p>
            <a:pPr>
              <a:spcBef>
                <a:spcPts val="200"/>
              </a:spcBef>
              <a:spcAft>
                <a:spcPts val="200"/>
              </a:spcAft>
            </a:pPr>
            <a:r>
              <a:rPr sz="950" b="0">
                <a:solidFill>
                  <a:srgbClr val="1E293B"/>
                </a:solidFill>
                <a:latin typeface="Calibri"/>
              </a:rPr>
              <a:t>→  Measured ROI vs. baseline</a:t>
            </a:r>
          </a:p>
        </p:txBody>
      </p:sp>
      <p:sp>
        <p:nvSpPr>
          <p:cNvPr id="21" name="Rectangle 20"/>
          <p:cNvSpPr/>
          <p:nvPr/>
        </p:nvSpPr>
        <p:spPr>
          <a:xfrm>
            <a:off x="6181344" y="2651760"/>
            <a:ext cx="2697480" cy="3383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Rectangle 21"/>
          <p:cNvSpPr/>
          <p:nvPr/>
        </p:nvSpPr>
        <p:spPr>
          <a:xfrm>
            <a:off x="6181344" y="2651760"/>
            <a:ext cx="2697480" cy="54864"/>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364224" y="2816352"/>
            <a:ext cx="2423160" cy="228600"/>
          </a:xfrm>
          <a:prstGeom prst="rect">
            <a:avLst/>
          </a:prstGeom>
          <a:noFill/>
        </p:spPr>
        <p:txBody>
          <a:bodyPr wrap="square">
            <a:spAutoFit/>
          </a:bodyPr>
          <a:lstStyle/>
          <a:p>
            <a:pPr algn="l"/>
            <a:r>
              <a:rPr sz="900" b="1">
                <a:solidFill>
                  <a:srgbClr val="64748B"/>
                </a:solidFill>
                <a:latin typeface="Calibri"/>
              </a:rPr>
              <a:t>PHASE 03</a:t>
            </a:r>
          </a:p>
        </p:txBody>
      </p:sp>
      <p:sp>
        <p:nvSpPr>
          <p:cNvPr id="24" name="TextBox 23"/>
          <p:cNvSpPr txBox="1"/>
          <p:nvPr/>
        </p:nvSpPr>
        <p:spPr>
          <a:xfrm>
            <a:off x="6364224" y="3063240"/>
            <a:ext cx="2423160" cy="457200"/>
          </a:xfrm>
          <a:prstGeom prst="rect">
            <a:avLst/>
          </a:prstGeom>
          <a:noFill/>
        </p:spPr>
        <p:txBody>
          <a:bodyPr wrap="square">
            <a:spAutoFit/>
          </a:bodyPr>
          <a:lstStyle/>
          <a:p>
            <a:pPr algn="l"/>
            <a:r>
              <a:rPr sz="2000" b="1">
                <a:solidFill>
                  <a:srgbClr val="1A2754"/>
                </a:solidFill>
                <a:latin typeface="Calibri"/>
              </a:rPr>
              <a:t>Scale</a:t>
            </a:r>
          </a:p>
        </p:txBody>
      </p:sp>
      <p:sp>
        <p:nvSpPr>
          <p:cNvPr id="25" name="TextBox 24"/>
          <p:cNvSpPr txBox="1"/>
          <p:nvPr/>
        </p:nvSpPr>
        <p:spPr>
          <a:xfrm>
            <a:off x="6364224" y="3520440"/>
            <a:ext cx="2423160" cy="274320"/>
          </a:xfrm>
          <a:prstGeom prst="rect">
            <a:avLst/>
          </a:prstGeom>
          <a:noFill/>
        </p:spPr>
        <p:txBody>
          <a:bodyPr wrap="square">
            <a:spAutoFit/>
          </a:bodyPr>
          <a:lstStyle/>
          <a:p>
            <a:pPr algn="l"/>
            <a:r>
              <a:rPr sz="900" b="0">
                <a:solidFill>
                  <a:srgbClr val="64748B"/>
                </a:solidFill>
                <a:latin typeface="Calibri"/>
              </a:rPr>
              <a:t>3–6 months</a:t>
            </a:r>
          </a:p>
        </p:txBody>
      </p:sp>
      <p:sp>
        <p:nvSpPr>
          <p:cNvPr id="26" name="TextBox 25"/>
          <p:cNvSpPr txBox="1"/>
          <p:nvPr/>
        </p:nvSpPr>
        <p:spPr>
          <a:xfrm>
            <a:off x="6364224" y="3840480"/>
            <a:ext cx="2423160" cy="2103120"/>
          </a:xfrm>
          <a:prstGeom prst="rect">
            <a:avLst/>
          </a:prstGeom>
          <a:noFill/>
        </p:spPr>
        <p:txBody>
          <a:bodyPr wrap="square">
            <a:spAutoFit/>
          </a:bodyPr>
          <a:lstStyle/>
          <a:p>
            <a:pPr>
              <a:spcBef>
                <a:spcPts val="200"/>
              </a:spcBef>
              <a:spcAft>
                <a:spcPts val="200"/>
              </a:spcAft>
            </a:pPr>
            <a:r>
              <a:rPr sz="950" b="0">
                <a:solidFill>
                  <a:srgbClr val="1E293B"/>
                </a:solidFill>
                <a:latin typeface="Calibri"/>
              </a:rPr>
              <a:t>→  Rollout across lines, shifts, and plants</a:t>
            </a:r>
          </a:p>
          <a:p>
            <a:pPr>
              <a:spcBef>
                <a:spcPts val="200"/>
              </a:spcBef>
              <a:spcAft>
                <a:spcPts val="200"/>
              </a:spcAft>
            </a:pPr>
            <a:r>
              <a:rPr sz="950" b="0">
                <a:solidFill>
                  <a:srgbClr val="1E293B"/>
                </a:solidFill>
                <a:latin typeface="Calibri"/>
              </a:rPr>
              <a:t>→  Hardening, retraining, A/B variants</a:t>
            </a:r>
          </a:p>
          <a:p>
            <a:pPr>
              <a:spcBef>
                <a:spcPts val="200"/>
              </a:spcBef>
              <a:spcAft>
                <a:spcPts val="200"/>
              </a:spcAft>
            </a:pPr>
            <a:r>
              <a:rPr sz="950" b="0">
                <a:solidFill>
                  <a:srgbClr val="1E293B"/>
                </a:solidFill>
                <a:latin typeface="Calibri"/>
              </a:rPr>
              <a:t>→  Operator &amp; engineer enablement</a:t>
            </a:r>
          </a:p>
          <a:p>
            <a:pPr>
              <a:spcBef>
                <a:spcPts val="200"/>
              </a:spcBef>
              <a:spcAft>
                <a:spcPts val="200"/>
              </a:spcAft>
            </a:pPr>
            <a:r>
              <a:rPr sz="950" b="0">
                <a:solidFill>
                  <a:srgbClr val="1E293B"/>
                </a:solidFill>
                <a:latin typeface="Calibri"/>
              </a:rPr>
              <a:t>→  Cross-use-case data platform</a:t>
            </a:r>
          </a:p>
        </p:txBody>
      </p:sp>
      <p:sp>
        <p:nvSpPr>
          <p:cNvPr id="27" name="Rectangle 26"/>
          <p:cNvSpPr/>
          <p:nvPr/>
        </p:nvSpPr>
        <p:spPr>
          <a:xfrm>
            <a:off x="9043416" y="2651760"/>
            <a:ext cx="2697480" cy="33832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Rectangle 27"/>
          <p:cNvSpPr/>
          <p:nvPr/>
        </p:nvSpPr>
        <p:spPr>
          <a:xfrm>
            <a:off x="9043416" y="2651760"/>
            <a:ext cx="2697480" cy="54864"/>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9226296" y="2816352"/>
            <a:ext cx="2423160" cy="228600"/>
          </a:xfrm>
          <a:prstGeom prst="rect">
            <a:avLst/>
          </a:prstGeom>
          <a:noFill/>
        </p:spPr>
        <p:txBody>
          <a:bodyPr wrap="square">
            <a:spAutoFit/>
          </a:bodyPr>
          <a:lstStyle/>
          <a:p>
            <a:pPr algn="l"/>
            <a:r>
              <a:rPr sz="900" b="1">
                <a:solidFill>
                  <a:srgbClr val="64748B"/>
                </a:solidFill>
                <a:latin typeface="Calibri"/>
              </a:rPr>
              <a:t>PHASE 04</a:t>
            </a:r>
          </a:p>
        </p:txBody>
      </p:sp>
      <p:sp>
        <p:nvSpPr>
          <p:cNvPr id="30" name="TextBox 29"/>
          <p:cNvSpPr txBox="1"/>
          <p:nvPr/>
        </p:nvSpPr>
        <p:spPr>
          <a:xfrm>
            <a:off x="9226296" y="3063240"/>
            <a:ext cx="2423160" cy="457200"/>
          </a:xfrm>
          <a:prstGeom prst="rect">
            <a:avLst/>
          </a:prstGeom>
          <a:noFill/>
        </p:spPr>
        <p:txBody>
          <a:bodyPr wrap="square">
            <a:spAutoFit/>
          </a:bodyPr>
          <a:lstStyle/>
          <a:p>
            <a:pPr algn="l"/>
            <a:r>
              <a:rPr sz="2000" b="1">
                <a:solidFill>
                  <a:srgbClr val="1A2754"/>
                </a:solidFill>
                <a:latin typeface="Calibri"/>
              </a:rPr>
              <a:t>Run</a:t>
            </a:r>
          </a:p>
        </p:txBody>
      </p:sp>
      <p:sp>
        <p:nvSpPr>
          <p:cNvPr id="31" name="TextBox 30"/>
          <p:cNvSpPr txBox="1"/>
          <p:nvPr/>
        </p:nvSpPr>
        <p:spPr>
          <a:xfrm>
            <a:off x="9226296" y="3520440"/>
            <a:ext cx="2423160" cy="274320"/>
          </a:xfrm>
          <a:prstGeom prst="rect">
            <a:avLst/>
          </a:prstGeom>
          <a:noFill/>
        </p:spPr>
        <p:txBody>
          <a:bodyPr wrap="square">
            <a:spAutoFit/>
          </a:bodyPr>
          <a:lstStyle/>
          <a:p>
            <a:pPr algn="l"/>
            <a:r>
              <a:rPr sz="900" b="0">
                <a:solidFill>
                  <a:srgbClr val="64748B"/>
                </a:solidFill>
                <a:latin typeface="Calibri"/>
              </a:rPr>
              <a:t>Ongoing</a:t>
            </a:r>
          </a:p>
        </p:txBody>
      </p:sp>
      <p:sp>
        <p:nvSpPr>
          <p:cNvPr id="32" name="TextBox 31"/>
          <p:cNvSpPr txBox="1"/>
          <p:nvPr/>
        </p:nvSpPr>
        <p:spPr>
          <a:xfrm>
            <a:off x="9226296" y="3840480"/>
            <a:ext cx="2423160" cy="2103120"/>
          </a:xfrm>
          <a:prstGeom prst="rect">
            <a:avLst/>
          </a:prstGeom>
          <a:noFill/>
        </p:spPr>
        <p:txBody>
          <a:bodyPr wrap="square">
            <a:spAutoFit/>
          </a:bodyPr>
          <a:lstStyle/>
          <a:p>
            <a:pPr>
              <a:spcBef>
                <a:spcPts val="200"/>
              </a:spcBef>
              <a:spcAft>
                <a:spcPts val="200"/>
              </a:spcAft>
            </a:pPr>
            <a:r>
              <a:rPr sz="950" b="0">
                <a:solidFill>
                  <a:srgbClr val="1E293B"/>
                </a:solidFill>
                <a:latin typeface="Calibri"/>
              </a:rPr>
              <a:t>→  Managed services, 24×7 monitoring</a:t>
            </a:r>
          </a:p>
          <a:p>
            <a:pPr>
              <a:spcBef>
                <a:spcPts val="200"/>
              </a:spcBef>
              <a:spcAft>
                <a:spcPts val="200"/>
              </a:spcAft>
            </a:pPr>
            <a:r>
              <a:rPr sz="950" b="0">
                <a:solidFill>
                  <a:srgbClr val="1E293B"/>
                </a:solidFill>
                <a:latin typeface="Calibri"/>
              </a:rPr>
              <a:t>→  Drift detection &amp; auto-retraining</a:t>
            </a:r>
          </a:p>
          <a:p>
            <a:pPr>
              <a:spcBef>
                <a:spcPts val="200"/>
              </a:spcBef>
              <a:spcAft>
                <a:spcPts val="200"/>
              </a:spcAft>
            </a:pPr>
            <a:r>
              <a:rPr sz="950" b="0">
                <a:solidFill>
                  <a:srgbClr val="1E293B"/>
                </a:solidFill>
                <a:latin typeface="Calibri"/>
              </a:rPr>
              <a:t>→  Quarterly value reviews</a:t>
            </a:r>
          </a:p>
          <a:p>
            <a:pPr>
              <a:spcBef>
                <a:spcPts val="200"/>
              </a:spcBef>
              <a:spcAft>
                <a:spcPts val="200"/>
              </a:spcAft>
            </a:pPr>
            <a:r>
              <a:rPr sz="950" b="0">
                <a:solidFill>
                  <a:srgbClr val="1E293B"/>
                </a:solidFill>
                <a:latin typeface="Calibri"/>
              </a:rPr>
              <a:t>→  Roadmap of next use cases</a:t>
            </a:r>
          </a:p>
        </p:txBody>
      </p:sp>
      <p:sp>
        <p:nvSpPr>
          <p:cNvPr id="33" name="Rectangle 32"/>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35" name="TextBox 34"/>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17 / 20 · CONFIDENTIAL</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PROOF POINTS</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Reference Case Studies  레퍼런스</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Prior Projects, Proven Domain Expertise</a:t>
            </a:r>
          </a:p>
        </p:txBody>
      </p:sp>
      <p:sp>
        <p:nvSpPr>
          <p:cNvPr id="7" name="TextBox 6"/>
          <p:cNvSpPr txBox="1"/>
          <p:nvPr/>
        </p:nvSpPr>
        <p:spPr>
          <a:xfrm>
            <a:off x="457200" y="1097280"/>
            <a:ext cx="10972800" cy="457200"/>
          </a:xfrm>
          <a:prstGeom prst="rect">
            <a:avLst/>
          </a:prstGeom>
          <a:noFill/>
        </p:spPr>
        <p:txBody>
          <a:bodyPr wrap="square">
            <a:spAutoFit/>
          </a:bodyPr>
          <a:lstStyle/>
          <a:p>
            <a:pPr algn="l"/>
            <a:r>
              <a:rPr sz="1300" b="0">
                <a:solidFill>
                  <a:srgbClr val="475569"/>
                </a:solidFill>
                <a:latin typeface="Calibri"/>
              </a:rPr>
              <a:t>Our prior projects validated the domain expertise. The AI Engineering Team model accelerates this proven delivery for Hyundai.</a:t>
            </a:r>
          </a:p>
        </p:txBody>
      </p:sp>
      <p:sp>
        <p:nvSpPr>
          <p:cNvPr id="8" name="Rectangle 7"/>
          <p:cNvSpPr/>
          <p:nvPr/>
        </p:nvSpPr>
        <p:spPr>
          <a:xfrm>
            <a:off x="457200" y="1691640"/>
            <a:ext cx="1124712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691640"/>
            <a:ext cx="73152" cy="137160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40080" y="1764792"/>
            <a:ext cx="6400800" cy="228600"/>
          </a:xfrm>
          <a:prstGeom prst="rect">
            <a:avLst/>
          </a:prstGeom>
          <a:noFill/>
        </p:spPr>
        <p:txBody>
          <a:bodyPr wrap="square">
            <a:spAutoFit/>
          </a:bodyPr>
          <a:lstStyle/>
          <a:p>
            <a:pPr algn="l"/>
            <a:r>
              <a:rPr sz="1100" b="1">
                <a:solidFill>
                  <a:srgbClr val="14A085"/>
                </a:solidFill>
                <a:latin typeface="Calibri"/>
              </a:rPr>
              <a:t>Tier-1 Automotive OEM</a:t>
            </a:r>
          </a:p>
        </p:txBody>
      </p:sp>
      <p:sp>
        <p:nvSpPr>
          <p:cNvPr id="11" name="TextBox 10"/>
          <p:cNvSpPr txBox="1"/>
          <p:nvPr/>
        </p:nvSpPr>
        <p:spPr>
          <a:xfrm>
            <a:off x="640080" y="2011680"/>
            <a:ext cx="6400800" cy="274320"/>
          </a:xfrm>
          <a:prstGeom prst="rect">
            <a:avLst/>
          </a:prstGeom>
          <a:noFill/>
        </p:spPr>
        <p:txBody>
          <a:bodyPr wrap="square">
            <a:spAutoFit/>
          </a:bodyPr>
          <a:lstStyle/>
          <a:p>
            <a:pPr algn="l"/>
            <a:r>
              <a:rPr sz="1500" b="1">
                <a:solidFill>
                  <a:srgbClr val="1A2754"/>
                </a:solidFill>
                <a:latin typeface="Calibri"/>
              </a:rPr>
              <a:t>Paint Defect Computer Vision</a:t>
            </a:r>
          </a:p>
        </p:txBody>
      </p:sp>
      <p:sp>
        <p:nvSpPr>
          <p:cNvPr id="12" name="TextBox 11"/>
          <p:cNvSpPr txBox="1"/>
          <p:nvPr/>
        </p:nvSpPr>
        <p:spPr>
          <a:xfrm>
            <a:off x="640080" y="2331720"/>
            <a:ext cx="6400800" cy="685800"/>
          </a:xfrm>
          <a:prstGeom prst="rect">
            <a:avLst/>
          </a:prstGeom>
          <a:noFill/>
        </p:spPr>
        <p:txBody>
          <a:bodyPr wrap="square">
            <a:spAutoFit/>
          </a:bodyPr>
          <a:lstStyle/>
          <a:p>
            <a:pPr algn="l"/>
            <a:r>
              <a:rPr sz="900" b="0">
                <a:solidFill>
                  <a:srgbClr val="475569"/>
                </a:solidFill>
                <a:latin typeface="Calibri"/>
              </a:rPr>
              <a:t>Deployed CNN-based visual inspection across 3 paint lines. Real-time defect detection with MES integration and operator dashboards.</a:t>
            </a:r>
          </a:p>
        </p:txBody>
      </p:sp>
      <p:sp>
        <p:nvSpPr>
          <p:cNvPr id="13" name="Rectangle 12"/>
          <p:cNvSpPr/>
          <p:nvPr/>
        </p:nvSpPr>
        <p:spPr>
          <a:xfrm>
            <a:off x="7040880" y="1764792"/>
            <a:ext cx="1005840" cy="54864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040880" y="1783080"/>
            <a:ext cx="1005840" cy="320040"/>
          </a:xfrm>
          <a:prstGeom prst="rect">
            <a:avLst/>
          </a:prstGeom>
          <a:noFill/>
        </p:spPr>
        <p:txBody>
          <a:bodyPr wrap="square">
            <a:spAutoFit/>
          </a:bodyPr>
          <a:lstStyle/>
          <a:p>
            <a:pPr algn="ctr"/>
            <a:r>
              <a:rPr sz="1500" b="1">
                <a:solidFill>
                  <a:srgbClr val="FFFFFF"/>
                </a:solidFill>
                <a:latin typeface="Calibri"/>
              </a:rPr>
              <a:t>-58%</a:t>
            </a:r>
          </a:p>
        </p:txBody>
      </p:sp>
      <p:sp>
        <p:nvSpPr>
          <p:cNvPr id="15" name="TextBox 14"/>
          <p:cNvSpPr txBox="1"/>
          <p:nvPr/>
        </p:nvSpPr>
        <p:spPr>
          <a:xfrm>
            <a:off x="7040880" y="2103120"/>
            <a:ext cx="1005840" cy="210312"/>
          </a:xfrm>
          <a:prstGeom prst="rect">
            <a:avLst/>
          </a:prstGeom>
          <a:noFill/>
        </p:spPr>
        <p:txBody>
          <a:bodyPr wrap="square">
            <a:spAutoFit/>
          </a:bodyPr>
          <a:lstStyle/>
          <a:p>
            <a:pPr algn="ctr"/>
            <a:r>
              <a:rPr sz="700" b="0">
                <a:solidFill>
                  <a:srgbClr val="FFFFFF"/>
                </a:solidFill>
                <a:latin typeface="Calibri"/>
              </a:rPr>
              <a:t>Escape Defects</a:t>
            </a:r>
          </a:p>
        </p:txBody>
      </p:sp>
      <p:sp>
        <p:nvSpPr>
          <p:cNvPr id="16" name="Rectangle 15"/>
          <p:cNvSpPr/>
          <p:nvPr/>
        </p:nvSpPr>
        <p:spPr>
          <a:xfrm>
            <a:off x="8183880" y="1764792"/>
            <a:ext cx="1005840" cy="54864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8183880" y="1783080"/>
            <a:ext cx="1005840" cy="320040"/>
          </a:xfrm>
          <a:prstGeom prst="rect">
            <a:avLst/>
          </a:prstGeom>
          <a:noFill/>
        </p:spPr>
        <p:txBody>
          <a:bodyPr wrap="square">
            <a:spAutoFit/>
          </a:bodyPr>
          <a:lstStyle/>
          <a:p>
            <a:pPr algn="ctr"/>
            <a:r>
              <a:rPr sz="1500" b="1">
                <a:solidFill>
                  <a:srgbClr val="FFFFFF"/>
                </a:solidFill>
                <a:latin typeface="Calibri"/>
              </a:rPr>
              <a:t>14-month</a:t>
            </a:r>
          </a:p>
        </p:txBody>
      </p:sp>
      <p:sp>
        <p:nvSpPr>
          <p:cNvPr id="18" name="TextBox 17"/>
          <p:cNvSpPr txBox="1"/>
          <p:nvPr/>
        </p:nvSpPr>
        <p:spPr>
          <a:xfrm>
            <a:off x="8183880" y="2103120"/>
            <a:ext cx="1005840" cy="210312"/>
          </a:xfrm>
          <a:prstGeom prst="rect">
            <a:avLst/>
          </a:prstGeom>
          <a:noFill/>
        </p:spPr>
        <p:txBody>
          <a:bodyPr wrap="square">
            <a:spAutoFit/>
          </a:bodyPr>
          <a:lstStyle/>
          <a:p>
            <a:pPr algn="ctr"/>
            <a:r>
              <a:rPr sz="700" b="0">
                <a:solidFill>
                  <a:srgbClr val="FFFFFF"/>
                </a:solidFill>
                <a:latin typeface="Calibri"/>
              </a:rPr>
              <a:t>Payback</a:t>
            </a:r>
          </a:p>
        </p:txBody>
      </p:sp>
      <p:sp>
        <p:nvSpPr>
          <p:cNvPr id="19" name="Rectangle 18"/>
          <p:cNvSpPr/>
          <p:nvPr/>
        </p:nvSpPr>
        <p:spPr>
          <a:xfrm>
            <a:off x="9326880" y="1764792"/>
            <a:ext cx="1005840" cy="54864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9326880" y="1783080"/>
            <a:ext cx="1005840" cy="320040"/>
          </a:xfrm>
          <a:prstGeom prst="rect">
            <a:avLst/>
          </a:prstGeom>
          <a:noFill/>
        </p:spPr>
        <p:txBody>
          <a:bodyPr wrap="square">
            <a:spAutoFit/>
          </a:bodyPr>
          <a:lstStyle/>
          <a:p>
            <a:pPr algn="ctr"/>
            <a:r>
              <a:rPr sz="1500" b="1">
                <a:solidFill>
                  <a:srgbClr val="FFFFFF"/>
                </a:solidFill>
                <a:latin typeface="Calibri"/>
              </a:rPr>
              <a:t>99.2%</a:t>
            </a:r>
          </a:p>
        </p:txBody>
      </p:sp>
      <p:sp>
        <p:nvSpPr>
          <p:cNvPr id="21" name="TextBox 20"/>
          <p:cNvSpPr txBox="1"/>
          <p:nvPr/>
        </p:nvSpPr>
        <p:spPr>
          <a:xfrm>
            <a:off x="9326880" y="2103120"/>
            <a:ext cx="1005840" cy="210312"/>
          </a:xfrm>
          <a:prstGeom prst="rect">
            <a:avLst/>
          </a:prstGeom>
          <a:noFill/>
        </p:spPr>
        <p:txBody>
          <a:bodyPr wrap="square">
            <a:spAutoFit/>
          </a:bodyPr>
          <a:lstStyle/>
          <a:p>
            <a:pPr algn="ctr"/>
            <a:r>
              <a:rPr sz="700" b="0">
                <a:solidFill>
                  <a:srgbClr val="FFFFFF"/>
                </a:solidFill>
                <a:latin typeface="Calibri"/>
              </a:rPr>
              <a:t>Accuracy</a:t>
            </a:r>
          </a:p>
        </p:txBody>
      </p:sp>
      <p:sp>
        <p:nvSpPr>
          <p:cNvPr id="22" name="Rectangle 21"/>
          <p:cNvSpPr/>
          <p:nvPr/>
        </p:nvSpPr>
        <p:spPr>
          <a:xfrm>
            <a:off x="10469880" y="1764792"/>
            <a:ext cx="1005840" cy="54864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10469880" y="1783080"/>
            <a:ext cx="1005840" cy="320040"/>
          </a:xfrm>
          <a:prstGeom prst="rect">
            <a:avLst/>
          </a:prstGeom>
          <a:noFill/>
        </p:spPr>
        <p:txBody>
          <a:bodyPr wrap="square">
            <a:spAutoFit/>
          </a:bodyPr>
          <a:lstStyle/>
          <a:p>
            <a:pPr algn="ctr"/>
            <a:r>
              <a:rPr sz="1500" b="1">
                <a:solidFill>
                  <a:srgbClr val="FFFFFF"/>
                </a:solidFill>
                <a:latin typeface="Calibri"/>
              </a:rPr>
              <a:t>3 lines</a:t>
            </a:r>
          </a:p>
        </p:txBody>
      </p:sp>
      <p:sp>
        <p:nvSpPr>
          <p:cNvPr id="24" name="TextBox 23"/>
          <p:cNvSpPr txBox="1"/>
          <p:nvPr/>
        </p:nvSpPr>
        <p:spPr>
          <a:xfrm>
            <a:off x="10469880" y="2103120"/>
            <a:ext cx="1005840" cy="210312"/>
          </a:xfrm>
          <a:prstGeom prst="rect">
            <a:avLst/>
          </a:prstGeom>
          <a:noFill/>
        </p:spPr>
        <p:txBody>
          <a:bodyPr wrap="square">
            <a:spAutoFit/>
          </a:bodyPr>
          <a:lstStyle/>
          <a:p>
            <a:pPr algn="ctr"/>
            <a:r>
              <a:rPr sz="700" b="0">
                <a:solidFill>
                  <a:srgbClr val="FFFFFF"/>
                </a:solidFill>
                <a:latin typeface="Calibri"/>
              </a:rPr>
              <a:t>Coverage</a:t>
            </a:r>
          </a:p>
        </p:txBody>
      </p:sp>
      <p:sp>
        <p:nvSpPr>
          <p:cNvPr id="25" name="TextBox 24"/>
          <p:cNvSpPr txBox="1"/>
          <p:nvPr/>
        </p:nvSpPr>
        <p:spPr>
          <a:xfrm>
            <a:off x="7040880" y="2423160"/>
            <a:ext cx="4571520" cy="548640"/>
          </a:xfrm>
          <a:prstGeom prst="rect">
            <a:avLst/>
          </a:prstGeom>
          <a:noFill/>
        </p:spPr>
        <p:txBody>
          <a:bodyPr wrap="square">
            <a:spAutoFit/>
          </a:bodyPr>
          <a:lstStyle/>
          <a:p>
            <a:pPr algn="l"/>
            <a:r>
              <a:rPr sz="700" b="0">
                <a:solidFill>
                  <a:srgbClr val="64748B"/>
                </a:solidFill>
                <a:latin typeface="Calibri"/>
              </a:rPr>
              <a:t>Delivered with traditional pod model. AI Engineering Team accelerates this proven approach.</a:t>
            </a:r>
          </a:p>
        </p:txBody>
      </p:sp>
      <p:sp>
        <p:nvSpPr>
          <p:cNvPr id="26" name="Rectangle 25"/>
          <p:cNvSpPr/>
          <p:nvPr/>
        </p:nvSpPr>
        <p:spPr>
          <a:xfrm>
            <a:off x="457200" y="3246120"/>
            <a:ext cx="1124712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457200" y="3246120"/>
            <a:ext cx="73152" cy="137160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0080" y="3319272"/>
            <a:ext cx="6400800" cy="228600"/>
          </a:xfrm>
          <a:prstGeom prst="rect">
            <a:avLst/>
          </a:prstGeom>
          <a:noFill/>
        </p:spPr>
        <p:txBody>
          <a:bodyPr wrap="square">
            <a:spAutoFit/>
          </a:bodyPr>
          <a:lstStyle/>
          <a:p>
            <a:pPr algn="l"/>
            <a:r>
              <a:rPr sz="1100" b="1">
                <a:solidFill>
                  <a:srgbClr val="2563EB"/>
                </a:solidFill>
                <a:latin typeface="Calibri"/>
              </a:rPr>
              <a:t>Global EV Manufacturer</a:t>
            </a:r>
          </a:p>
        </p:txBody>
      </p:sp>
      <p:sp>
        <p:nvSpPr>
          <p:cNvPr id="29" name="TextBox 28"/>
          <p:cNvSpPr txBox="1"/>
          <p:nvPr/>
        </p:nvSpPr>
        <p:spPr>
          <a:xfrm>
            <a:off x="640080" y="3566160"/>
            <a:ext cx="6400800" cy="274320"/>
          </a:xfrm>
          <a:prstGeom prst="rect">
            <a:avLst/>
          </a:prstGeom>
          <a:noFill/>
        </p:spPr>
        <p:txBody>
          <a:bodyPr wrap="square">
            <a:spAutoFit/>
          </a:bodyPr>
          <a:lstStyle/>
          <a:p>
            <a:pPr algn="l"/>
            <a:r>
              <a:rPr sz="1500" b="1">
                <a:solidFill>
                  <a:srgbClr val="1A2754"/>
                </a:solidFill>
                <a:latin typeface="Calibri"/>
              </a:rPr>
              <a:t>Predictive Maintenance Platform</a:t>
            </a:r>
          </a:p>
        </p:txBody>
      </p:sp>
      <p:sp>
        <p:nvSpPr>
          <p:cNvPr id="30" name="TextBox 29"/>
          <p:cNvSpPr txBox="1"/>
          <p:nvPr/>
        </p:nvSpPr>
        <p:spPr>
          <a:xfrm>
            <a:off x="640080" y="3886200"/>
            <a:ext cx="6400800" cy="685800"/>
          </a:xfrm>
          <a:prstGeom prst="rect">
            <a:avLst/>
          </a:prstGeom>
          <a:noFill/>
        </p:spPr>
        <p:txBody>
          <a:bodyPr wrap="square">
            <a:spAutoFit/>
          </a:bodyPr>
          <a:lstStyle/>
          <a:p>
            <a:pPr algn="l"/>
            <a:r>
              <a:rPr sz="900" b="0">
                <a:solidFill>
                  <a:srgbClr val="475569"/>
                </a:solidFill>
                <a:latin typeface="Calibri"/>
              </a:rPr>
              <a:t>IoT sensor network across stamping and welding operations. ML models predicting equipment failure 2-3 weeks before occurrence.</a:t>
            </a:r>
          </a:p>
        </p:txBody>
      </p:sp>
      <p:sp>
        <p:nvSpPr>
          <p:cNvPr id="31" name="Rectangle 30"/>
          <p:cNvSpPr/>
          <p:nvPr/>
        </p:nvSpPr>
        <p:spPr>
          <a:xfrm>
            <a:off x="7040880" y="3319272"/>
            <a:ext cx="100584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040880" y="3337560"/>
            <a:ext cx="1005840" cy="320040"/>
          </a:xfrm>
          <a:prstGeom prst="rect">
            <a:avLst/>
          </a:prstGeom>
          <a:noFill/>
        </p:spPr>
        <p:txBody>
          <a:bodyPr wrap="square">
            <a:spAutoFit/>
          </a:bodyPr>
          <a:lstStyle/>
          <a:p>
            <a:pPr algn="ctr"/>
            <a:r>
              <a:rPr sz="1500" b="1">
                <a:solidFill>
                  <a:srgbClr val="FFFFFF"/>
                </a:solidFill>
                <a:latin typeface="Calibri"/>
              </a:rPr>
              <a:t>-38%</a:t>
            </a:r>
          </a:p>
        </p:txBody>
      </p:sp>
      <p:sp>
        <p:nvSpPr>
          <p:cNvPr id="33" name="TextBox 32"/>
          <p:cNvSpPr txBox="1"/>
          <p:nvPr/>
        </p:nvSpPr>
        <p:spPr>
          <a:xfrm>
            <a:off x="7040880" y="3657600"/>
            <a:ext cx="1005840" cy="210312"/>
          </a:xfrm>
          <a:prstGeom prst="rect">
            <a:avLst/>
          </a:prstGeom>
          <a:noFill/>
        </p:spPr>
        <p:txBody>
          <a:bodyPr wrap="square">
            <a:spAutoFit/>
          </a:bodyPr>
          <a:lstStyle/>
          <a:p>
            <a:pPr algn="ctr"/>
            <a:r>
              <a:rPr sz="700" b="0">
                <a:solidFill>
                  <a:srgbClr val="FFFFFF"/>
                </a:solidFill>
                <a:latin typeface="Calibri"/>
              </a:rPr>
              <a:t>Downtime</a:t>
            </a:r>
          </a:p>
        </p:txBody>
      </p:sp>
      <p:sp>
        <p:nvSpPr>
          <p:cNvPr id="34" name="Rectangle 33"/>
          <p:cNvSpPr/>
          <p:nvPr/>
        </p:nvSpPr>
        <p:spPr>
          <a:xfrm>
            <a:off x="8183880" y="3319272"/>
            <a:ext cx="100584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TextBox 34"/>
          <p:cNvSpPr txBox="1"/>
          <p:nvPr/>
        </p:nvSpPr>
        <p:spPr>
          <a:xfrm>
            <a:off x="8183880" y="3337560"/>
            <a:ext cx="1005840" cy="320040"/>
          </a:xfrm>
          <a:prstGeom prst="rect">
            <a:avLst/>
          </a:prstGeom>
          <a:noFill/>
        </p:spPr>
        <p:txBody>
          <a:bodyPr wrap="square">
            <a:spAutoFit/>
          </a:bodyPr>
          <a:lstStyle/>
          <a:p>
            <a:pPr algn="ctr"/>
            <a:r>
              <a:rPr sz="1500" b="1">
                <a:solidFill>
                  <a:srgbClr val="FFFFFF"/>
                </a:solidFill>
                <a:latin typeface="Calibri"/>
              </a:rPr>
              <a:t>5.2:1</a:t>
            </a:r>
          </a:p>
        </p:txBody>
      </p:sp>
      <p:sp>
        <p:nvSpPr>
          <p:cNvPr id="36" name="TextBox 35"/>
          <p:cNvSpPr txBox="1"/>
          <p:nvPr/>
        </p:nvSpPr>
        <p:spPr>
          <a:xfrm>
            <a:off x="8183880" y="3657600"/>
            <a:ext cx="1005840" cy="210312"/>
          </a:xfrm>
          <a:prstGeom prst="rect">
            <a:avLst/>
          </a:prstGeom>
          <a:noFill/>
        </p:spPr>
        <p:txBody>
          <a:bodyPr wrap="square">
            <a:spAutoFit/>
          </a:bodyPr>
          <a:lstStyle/>
          <a:p>
            <a:pPr algn="ctr"/>
            <a:r>
              <a:rPr sz="700" b="0">
                <a:solidFill>
                  <a:srgbClr val="FFFFFF"/>
                </a:solidFill>
                <a:latin typeface="Calibri"/>
              </a:rPr>
              <a:t>ROI</a:t>
            </a:r>
          </a:p>
        </p:txBody>
      </p:sp>
      <p:sp>
        <p:nvSpPr>
          <p:cNvPr id="37" name="Rectangle 36"/>
          <p:cNvSpPr/>
          <p:nvPr/>
        </p:nvSpPr>
        <p:spPr>
          <a:xfrm>
            <a:off x="9326880" y="3319272"/>
            <a:ext cx="100584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326880" y="3337560"/>
            <a:ext cx="1005840" cy="320040"/>
          </a:xfrm>
          <a:prstGeom prst="rect">
            <a:avLst/>
          </a:prstGeom>
          <a:noFill/>
        </p:spPr>
        <p:txBody>
          <a:bodyPr wrap="square">
            <a:spAutoFit/>
          </a:bodyPr>
          <a:lstStyle/>
          <a:p>
            <a:pPr algn="ctr"/>
            <a:r>
              <a:rPr sz="1500" b="1">
                <a:solidFill>
                  <a:srgbClr val="FFFFFF"/>
                </a:solidFill>
                <a:latin typeface="Calibri"/>
              </a:rPr>
              <a:t>200+</a:t>
            </a:r>
          </a:p>
        </p:txBody>
      </p:sp>
      <p:sp>
        <p:nvSpPr>
          <p:cNvPr id="39" name="TextBox 38"/>
          <p:cNvSpPr txBox="1"/>
          <p:nvPr/>
        </p:nvSpPr>
        <p:spPr>
          <a:xfrm>
            <a:off x="9326880" y="3657600"/>
            <a:ext cx="1005840" cy="210312"/>
          </a:xfrm>
          <a:prstGeom prst="rect">
            <a:avLst/>
          </a:prstGeom>
          <a:noFill/>
        </p:spPr>
        <p:txBody>
          <a:bodyPr wrap="square">
            <a:spAutoFit/>
          </a:bodyPr>
          <a:lstStyle/>
          <a:p>
            <a:pPr algn="ctr"/>
            <a:r>
              <a:rPr sz="700" b="0">
                <a:solidFill>
                  <a:srgbClr val="FFFFFF"/>
                </a:solidFill>
                <a:latin typeface="Calibri"/>
              </a:rPr>
              <a:t>Assets Monitored</a:t>
            </a:r>
          </a:p>
        </p:txBody>
      </p:sp>
      <p:sp>
        <p:nvSpPr>
          <p:cNvPr id="40" name="Rectangle 39"/>
          <p:cNvSpPr/>
          <p:nvPr/>
        </p:nvSpPr>
        <p:spPr>
          <a:xfrm>
            <a:off x="10469880" y="3319272"/>
            <a:ext cx="1005840" cy="5486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1" name="TextBox 40"/>
          <p:cNvSpPr txBox="1"/>
          <p:nvPr/>
        </p:nvSpPr>
        <p:spPr>
          <a:xfrm>
            <a:off x="10469880" y="3337560"/>
            <a:ext cx="1005840" cy="320040"/>
          </a:xfrm>
          <a:prstGeom prst="rect">
            <a:avLst/>
          </a:prstGeom>
          <a:noFill/>
        </p:spPr>
        <p:txBody>
          <a:bodyPr wrap="square">
            <a:spAutoFit/>
          </a:bodyPr>
          <a:lstStyle/>
          <a:p>
            <a:pPr algn="ctr"/>
            <a:r>
              <a:rPr sz="1500" b="1">
                <a:solidFill>
                  <a:srgbClr val="FFFFFF"/>
                </a:solidFill>
                <a:latin typeface="Calibri"/>
              </a:rPr>
              <a:t>2-3 wk</a:t>
            </a:r>
          </a:p>
        </p:txBody>
      </p:sp>
      <p:sp>
        <p:nvSpPr>
          <p:cNvPr id="42" name="TextBox 41"/>
          <p:cNvSpPr txBox="1"/>
          <p:nvPr/>
        </p:nvSpPr>
        <p:spPr>
          <a:xfrm>
            <a:off x="10469880" y="3657600"/>
            <a:ext cx="1005840" cy="210312"/>
          </a:xfrm>
          <a:prstGeom prst="rect">
            <a:avLst/>
          </a:prstGeom>
          <a:noFill/>
        </p:spPr>
        <p:txBody>
          <a:bodyPr wrap="square">
            <a:spAutoFit/>
          </a:bodyPr>
          <a:lstStyle/>
          <a:p>
            <a:pPr algn="ctr"/>
            <a:r>
              <a:rPr sz="700" b="0">
                <a:solidFill>
                  <a:srgbClr val="FFFFFF"/>
                </a:solidFill>
                <a:latin typeface="Calibri"/>
              </a:rPr>
              <a:t>Prediction Lead</a:t>
            </a:r>
          </a:p>
        </p:txBody>
      </p:sp>
      <p:sp>
        <p:nvSpPr>
          <p:cNvPr id="43" name="TextBox 42"/>
          <p:cNvSpPr txBox="1"/>
          <p:nvPr/>
        </p:nvSpPr>
        <p:spPr>
          <a:xfrm>
            <a:off x="7040880" y="3977640"/>
            <a:ext cx="4571520" cy="548640"/>
          </a:xfrm>
          <a:prstGeom prst="rect">
            <a:avLst/>
          </a:prstGeom>
          <a:noFill/>
        </p:spPr>
        <p:txBody>
          <a:bodyPr wrap="square">
            <a:spAutoFit/>
          </a:bodyPr>
          <a:lstStyle/>
          <a:p>
            <a:pPr algn="l"/>
            <a:r>
              <a:rPr sz="700" b="0">
                <a:solidFill>
                  <a:srgbClr val="64748B"/>
                </a:solidFill>
                <a:latin typeface="Calibri"/>
              </a:rPr>
              <a:t>Delivered with traditional pod model. AI Engineering Team accelerates this proven approach.</a:t>
            </a:r>
          </a:p>
        </p:txBody>
      </p:sp>
      <p:sp>
        <p:nvSpPr>
          <p:cNvPr id="44" name="Rectangle 43"/>
          <p:cNvSpPr/>
          <p:nvPr/>
        </p:nvSpPr>
        <p:spPr>
          <a:xfrm>
            <a:off x="457200" y="4800600"/>
            <a:ext cx="11247120" cy="137160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5" name="Rectangle 44"/>
          <p:cNvSpPr/>
          <p:nvPr/>
        </p:nvSpPr>
        <p:spPr>
          <a:xfrm>
            <a:off x="457200" y="4800600"/>
            <a:ext cx="73152" cy="137160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640080" y="4873752"/>
            <a:ext cx="6400800" cy="228600"/>
          </a:xfrm>
          <a:prstGeom prst="rect">
            <a:avLst/>
          </a:prstGeom>
          <a:noFill/>
        </p:spPr>
        <p:txBody>
          <a:bodyPr wrap="square">
            <a:spAutoFit/>
          </a:bodyPr>
          <a:lstStyle/>
          <a:p>
            <a:pPr algn="l"/>
            <a:r>
              <a:rPr sz="1100" b="1">
                <a:solidFill>
                  <a:srgbClr val="7C3AED"/>
                </a:solidFill>
                <a:latin typeface="Calibri"/>
              </a:rPr>
              <a:t>Aerospace Tier-1 Supplier</a:t>
            </a:r>
          </a:p>
        </p:txBody>
      </p:sp>
      <p:sp>
        <p:nvSpPr>
          <p:cNvPr id="47" name="TextBox 46"/>
          <p:cNvSpPr txBox="1"/>
          <p:nvPr/>
        </p:nvSpPr>
        <p:spPr>
          <a:xfrm>
            <a:off x="640080" y="5120640"/>
            <a:ext cx="6400800" cy="274320"/>
          </a:xfrm>
          <a:prstGeom prst="rect">
            <a:avLst/>
          </a:prstGeom>
          <a:noFill/>
        </p:spPr>
        <p:txBody>
          <a:bodyPr wrap="square">
            <a:spAutoFit/>
          </a:bodyPr>
          <a:lstStyle/>
          <a:p>
            <a:pPr algn="l"/>
            <a:r>
              <a:rPr sz="1500" b="1">
                <a:solidFill>
                  <a:srgbClr val="1A2754"/>
                </a:solidFill>
                <a:latin typeface="Calibri"/>
              </a:rPr>
              <a:t>SOP Compliance with Pose Estimation</a:t>
            </a:r>
          </a:p>
        </p:txBody>
      </p:sp>
      <p:sp>
        <p:nvSpPr>
          <p:cNvPr id="48" name="TextBox 47"/>
          <p:cNvSpPr txBox="1"/>
          <p:nvPr/>
        </p:nvSpPr>
        <p:spPr>
          <a:xfrm>
            <a:off x="640080" y="5440680"/>
            <a:ext cx="6400800" cy="685800"/>
          </a:xfrm>
          <a:prstGeom prst="rect">
            <a:avLst/>
          </a:prstGeom>
          <a:noFill/>
        </p:spPr>
        <p:txBody>
          <a:bodyPr wrap="square">
            <a:spAutoFit/>
          </a:bodyPr>
          <a:lstStyle/>
          <a:p>
            <a:pPr algn="l"/>
            <a:r>
              <a:rPr sz="900" b="0">
                <a:solidFill>
                  <a:srgbClr val="475569"/>
                </a:solidFill>
                <a:latin typeface="Calibri"/>
              </a:rPr>
              <a:t>Video analytics monitoring operator compliance on safety-critical assembly steps. Real-time deviation alerts to supervisors.</a:t>
            </a:r>
          </a:p>
        </p:txBody>
      </p:sp>
      <p:sp>
        <p:nvSpPr>
          <p:cNvPr id="49" name="Rectangle 48"/>
          <p:cNvSpPr/>
          <p:nvPr/>
        </p:nvSpPr>
        <p:spPr>
          <a:xfrm>
            <a:off x="7040880" y="4873752"/>
            <a:ext cx="1005840"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7040880" y="4892040"/>
            <a:ext cx="1005840" cy="320040"/>
          </a:xfrm>
          <a:prstGeom prst="rect">
            <a:avLst/>
          </a:prstGeom>
          <a:noFill/>
        </p:spPr>
        <p:txBody>
          <a:bodyPr wrap="square">
            <a:spAutoFit/>
          </a:bodyPr>
          <a:lstStyle/>
          <a:p>
            <a:pPr algn="ctr"/>
            <a:r>
              <a:rPr sz="1500" b="1">
                <a:solidFill>
                  <a:srgbClr val="FFFFFF"/>
                </a:solidFill>
                <a:latin typeface="Calibri"/>
              </a:rPr>
              <a:t>+92%</a:t>
            </a:r>
          </a:p>
        </p:txBody>
      </p:sp>
      <p:sp>
        <p:nvSpPr>
          <p:cNvPr id="51" name="TextBox 50"/>
          <p:cNvSpPr txBox="1"/>
          <p:nvPr/>
        </p:nvSpPr>
        <p:spPr>
          <a:xfrm>
            <a:off x="7040880" y="5212080"/>
            <a:ext cx="1005840" cy="210312"/>
          </a:xfrm>
          <a:prstGeom prst="rect">
            <a:avLst/>
          </a:prstGeom>
          <a:noFill/>
        </p:spPr>
        <p:txBody>
          <a:bodyPr wrap="square">
            <a:spAutoFit/>
          </a:bodyPr>
          <a:lstStyle/>
          <a:p>
            <a:pPr algn="ctr"/>
            <a:r>
              <a:rPr sz="700" b="0">
                <a:solidFill>
                  <a:srgbClr val="FFFFFF"/>
                </a:solidFill>
                <a:latin typeface="Calibri"/>
              </a:rPr>
              <a:t>Compliance Rate</a:t>
            </a:r>
          </a:p>
        </p:txBody>
      </p:sp>
      <p:sp>
        <p:nvSpPr>
          <p:cNvPr id="52" name="Rectangle 51"/>
          <p:cNvSpPr/>
          <p:nvPr/>
        </p:nvSpPr>
        <p:spPr>
          <a:xfrm>
            <a:off x="8183880" y="4873752"/>
            <a:ext cx="1005840"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8183880" y="4892040"/>
            <a:ext cx="1005840" cy="320040"/>
          </a:xfrm>
          <a:prstGeom prst="rect">
            <a:avLst/>
          </a:prstGeom>
          <a:noFill/>
        </p:spPr>
        <p:txBody>
          <a:bodyPr wrap="square">
            <a:spAutoFit/>
          </a:bodyPr>
          <a:lstStyle/>
          <a:p>
            <a:pPr algn="ctr"/>
            <a:r>
              <a:rPr sz="1500" b="1">
                <a:solidFill>
                  <a:srgbClr val="FFFFFF"/>
                </a:solidFill>
                <a:latin typeface="Calibri"/>
              </a:rPr>
              <a:t>-45%</a:t>
            </a:r>
          </a:p>
        </p:txBody>
      </p:sp>
      <p:sp>
        <p:nvSpPr>
          <p:cNvPr id="54" name="TextBox 53"/>
          <p:cNvSpPr txBox="1"/>
          <p:nvPr/>
        </p:nvSpPr>
        <p:spPr>
          <a:xfrm>
            <a:off x="8183880" y="5212080"/>
            <a:ext cx="1005840" cy="210312"/>
          </a:xfrm>
          <a:prstGeom prst="rect">
            <a:avLst/>
          </a:prstGeom>
          <a:noFill/>
        </p:spPr>
        <p:txBody>
          <a:bodyPr wrap="square">
            <a:spAutoFit/>
          </a:bodyPr>
          <a:lstStyle/>
          <a:p>
            <a:pPr algn="ctr"/>
            <a:r>
              <a:rPr sz="700" b="0">
                <a:solidFill>
                  <a:srgbClr val="FFFFFF"/>
                </a:solidFill>
                <a:latin typeface="Calibri"/>
              </a:rPr>
              <a:t>Assembly Defects</a:t>
            </a:r>
          </a:p>
        </p:txBody>
      </p:sp>
      <p:sp>
        <p:nvSpPr>
          <p:cNvPr id="55" name="Rectangle 54"/>
          <p:cNvSpPr/>
          <p:nvPr/>
        </p:nvSpPr>
        <p:spPr>
          <a:xfrm>
            <a:off x="9326880" y="4873752"/>
            <a:ext cx="1005840"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9326880" y="4892040"/>
            <a:ext cx="1005840" cy="320040"/>
          </a:xfrm>
          <a:prstGeom prst="rect">
            <a:avLst/>
          </a:prstGeom>
          <a:noFill/>
        </p:spPr>
        <p:txBody>
          <a:bodyPr wrap="square">
            <a:spAutoFit/>
          </a:bodyPr>
          <a:lstStyle/>
          <a:p>
            <a:pPr algn="ctr"/>
            <a:r>
              <a:rPr sz="1500" b="1">
                <a:solidFill>
                  <a:srgbClr val="FFFFFF"/>
                </a:solidFill>
                <a:latin typeface="Calibri"/>
              </a:rPr>
              <a:t>Real-time</a:t>
            </a:r>
          </a:p>
        </p:txBody>
      </p:sp>
      <p:sp>
        <p:nvSpPr>
          <p:cNvPr id="57" name="TextBox 56"/>
          <p:cNvSpPr txBox="1"/>
          <p:nvPr/>
        </p:nvSpPr>
        <p:spPr>
          <a:xfrm>
            <a:off x="9326880" y="5212080"/>
            <a:ext cx="1005840" cy="210312"/>
          </a:xfrm>
          <a:prstGeom prst="rect">
            <a:avLst/>
          </a:prstGeom>
          <a:noFill/>
        </p:spPr>
        <p:txBody>
          <a:bodyPr wrap="square">
            <a:spAutoFit/>
          </a:bodyPr>
          <a:lstStyle/>
          <a:p>
            <a:pPr algn="ctr"/>
            <a:r>
              <a:rPr sz="700" b="0">
                <a:solidFill>
                  <a:srgbClr val="FFFFFF"/>
                </a:solidFill>
                <a:latin typeface="Calibri"/>
              </a:rPr>
              <a:t>Alerts</a:t>
            </a:r>
          </a:p>
        </p:txBody>
      </p:sp>
      <p:sp>
        <p:nvSpPr>
          <p:cNvPr id="58" name="Rectangle 57"/>
          <p:cNvSpPr/>
          <p:nvPr/>
        </p:nvSpPr>
        <p:spPr>
          <a:xfrm>
            <a:off x="10469880" y="4873752"/>
            <a:ext cx="1005840" cy="548640"/>
          </a:xfrm>
          <a:prstGeom prst="rect">
            <a:avLst/>
          </a:prstGeom>
          <a:solidFill>
            <a:srgbClr val="7C3A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10469880" y="4892040"/>
            <a:ext cx="1005840" cy="320040"/>
          </a:xfrm>
          <a:prstGeom prst="rect">
            <a:avLst/>
          </a:prstGeom>
          <a:noFill/>
        </p:spPr>
        <p:txBody>
          <a:bodyPr wrap="square">
            <a:spAutoFit/>
          </a:bodyPr>
          <a:lstStyle/>
          <a:p>
            <a:pPr algn="ctr"/>
            <a:r>
              <a:rPr sz="1500" b="1">
                <a:solidFill>
                  <a:srgbClr val="FFFFFF"/>
                </a:solidFill>
                <a:latin typeface="Calibri"/>
              </a:rPr>
              <a:t>12</a:t>
            </a:r>
          </a:p>
        </p:txBody>
      </p:sp>
      <p:sp>
        <p:nvSpPr>
          <p:cNvPr id="60" name="TextBox 59"/>
          <p:cNvSpPr txBox="1"/>
          <p:nvPr/>
        </p:nvSpPr>
        <p:spPr>
          <a:xfrm>
            <a:off x="10469880" y="5212080"/>
            <a:ext cx="1005840" cy="210312"/>
          </a:xfrm>
          <a:prstGeom prst="rect">
            <a:avLst/>
          </a:prstGeom>
          <a:noFill/>
        </p:spPr>
        <p:txBody>
          <a:bodyPr wrap="square">
            <a:spAutoFit/>
          </a:bodyPr>
          <a:lstStyle/>
          <a:p>
            <a:pPr algn="ctr"/>
            <a:r>
              <a:rPr sz="700" b="0">
                <a:solidFill>
                  <a:srgbClr val="FFFFFF"/>
                </a:solidFill>
                <a:latin typeface="Calibri"/>
              </a:rPr>
              <a:t>Stations</a:t>
            </a:r>
          </a:p>
        </p:txBody>
      </p:sp>
      <p:sp>
        <p:nvSpPr>
          <p:cNvPr id="61" name="TextBox 60"/>
          <p:cNvSpPr txBox="1"/>
          <p:nvPr/>
        </p:nvSpPr>
        <p:spPr>
          <a:xfrm>
            <a:off x="7040880" y="5532120"/>
            <a:ext cx="4571520" cy="548640"/>
          </a:xfrm>
          <a:prstGeom prst="rect">
            <a:avLst/>
          </a:prstGeom>
          <a:noFill/>
        </p:spPr>
        <p:txBody>
          <a:bodyPr wrap="square">
            <a:spAutoFit/>
          </a:bodyPr>
          <a:lstStyle/>
          <a:p>
            <a:pPr algn="l"/>
            <a:r>
              <a:rPr sz="700" b="0">
                <a:solidFill>
                  <a:srgbClr val="64748B"/>
                </a:solidFill>
                <a:latin typeface="Calibri"/>
              </a:rPr>
              <a:t>Delivered with traditional pod model. AI Engineering Team accelerates this proven approach.</a:t>
            </a:r>
          </a:p>
        </p:txBody>
      </p:sp>
      <p:sp>
        <p:nvSpPr>
          <p:cNvPr id="62" name="Rectangle 61"/>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3" name="TextBox 62"/>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64" name="TextBox 63"/>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18 / 20 · CONFIDENTIAL</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BUSINESS CASE</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ROI Calculator  ROI 계산기</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Hyundai-Specific Estimates</a:t>
            </a:r>
          </a:p>
        </p:txBody>
      </p:sp>
      <p:sp>
        <p:nvSpPr>
          <p:cNvPr id="7" name="TextBox 6"/>
          <p:cNvSpPr txBox="1"/>
          <p:nvPr/>
        </p:nvSpPr>
        <p:spPr>
          <a:xfrm>
            <a:off x="457200" y="1097280"/>
            <a:ext cx="10972800" cy="365760"/>
          </a:xfrm>
          <a:prstGeom prst="rect">
            <a:avLst/>
          </a:prstGeom>
          <a:noFill/>
        </p:spPr>
        <p:txBody>
          <a:bodyPr wrap="square">
            <a:spAutoFit/>
          </a:bodyPr>
          <a:lstStyle/>
          <a:p>
            <a:pPr algn="l"/>
            <a:r>
              <a:rPr sz="1100" b="0">
                <a:solidFill>
                  <a:srgbClr val="64748B"/>
                </a:solidFill>
                <a:latin typeface="Calibri"/>
              </a:rPr>
              <a:t>All figures are industry benchmarks — validated with your plant data during discovery phase.</a:t>
            </a:r>
          </a:p>
        </p:txBody>
      </p:sp>
      <p:sp>
        <p:nvSpPr>
          <p:cNvPr id="8" name="Rectangle 7"/>
          <p:cNvSpPr/>
          <p:nvPr/>
        </p:nvSpPr>
        <p:spPr>
          <a:xfrm>
            <a:off x="457200" y="1554480"/>
            <a:ext cx="2651760" cy="8686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Rectangle 8"/>
          <p:cNvSpPr/>
          <p:nvPr/>
        </p:nvSpPr>
        <p:spPr>
          <a:xfrm>
            <a:off x="457200" y="1554480"/>
            <a:ext cx="2651760" cy="4572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94360" y="1645920"/>
            <a:ext cx="2377440" cy="228600"/>
          </a:xfrm>
          <a:prstGeom prst="rect">
            <a:avLst/>
          </a:prstGeom>
          <a:noFill/>
        </p:spPr>
        <p:txBody>
          <a:bodyPr wrap="square">
            <a:spAutoFit/>
          </a:bodyPr>
          <a:lstStyle/>
          <a:p>
            <a:pPr algn="l"/>
            <a:r>
              <a:rPr sz="900" b="1">
                <a:solidFill>
                  <a:srgbClr val="64748B"/>
                </a:solidFill>
                <a:latin typeface="Calibri"/>
              </a:rPr>
              <a:t>Ulsan Plant Output</a:t>
            </a:r>
          </a:p>
        </p:txBody>
      </p:sp>
      <p:sp>
        <p:nvSpPr>
          <p:cNvPr id="11" name="TextBox 10"/>
          <p:cNvSpPr txBox="1"/>
          <p:nvPr/>
        </p:nvSpPr>
        <p:spPr>
          <a:xfrm>
            <a:off x="594360" y="1874520"/>
            <a:ext cx="2377440" cy="320040"/>
          </a:xfrm>
          <a:prstGeom prst="rect">
            <a:avLst/>
          </a:prstGeom>
          <a:noFill/>
        </p:spPr>
        <p:txBody>
          <a:bodyPr wrap="square">
            <a:spAutoFit/>
          </a:bodyPr>
          <a:lstStyle/>
          <a:p>
            <a:pPr algn="l"/>
            <a:r>
              <a:rPr sz="1500" b="1">
                <a:solidFill>
                  <a:srgbClr val="1A2754"/>
                </a:solidFill>
                <a:latin typeface="Calibri"/>
              </a:rPr>
              <a:t>1.6M vehicles/year</a:t>
            </a:r>
          </a:p>
        </p:txBody>
      </p:sp>
      <p:sp>
        <p:nvSpPr>
          <p:cNvPr id="12" name="TextBox 11"/>
          <p:cNvSpPr txBox="1"/>
          <p:nvPr/>
        </p:nvSpPr>
        <p:spPr>
          <a:xfrm>
            <a:off x="594360" y="2194560"/>
            <a:ext cx="2377440" cy="228600"/>
          </a:xfrm>
          <a:prstGeom prst="rect">
            <a:avLst/>
          </a:prstGeom>
          <a:noFill/>
        </p:spPr>
        <p:txBody>
          <a:bodyPr wrap="square">
            <a:spAutoFit/>
          </a:bodyPr>
          <a:lstStyle/>
          <a:p>
            <a:pPr algn="l"/>
            <a:r>
              <a:rPr sz="700" b="0">
                <a:solidFill>
                  <a:srgbClr val="64748B"/>
                </a:solidFill>
                <a:latin typeface="Calibri"/>
              </a:rPr>
              <a:t>World's largest auto plant</a:t>
            </a:r>
          </a:p>
        </p:txBody>
      </p:sp>
      <p:sp>
        <p:nvSpPr>
          <p:cNvPr id="13" name="Rectangle 12"/>
          <p:cNvSpPr/>
          <p:nvPr/>
        </p:nvSpPr>
        <p:spPr>
          <a:xfrm>
            <a:off x="3291840" y="1554480"/>
            <a:ext cx="2651760" cy="8686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Rectangle 13"/>
          <p:cNvSpPr/>
          <p:nvPr/>
        </p:nvSpPr>
        <p:spPr>
          <a:xfrm>
            <a:off x="3291840" y="1554480"/>
            <a:ext cx="2651760" cy="4572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3429000" y="1645920"/>
            <a:ext cx="2377440" cy="228600"/>
          </a:xfrm>
          <a:prstGeom prst="rect">
            <a:avLst/>
          </a:prstGeom>
          <a:noFill/>
        </p:spPr>
        <p:txBody>
          <a:bodyPr wrap="square">
            <a:spAutoFit/>
          </a:bodyPr>
          <a:lstStyle/>
          <a:p>
            <a:pPr algn="l"/>
            <a:r>
              <a:rPr sz="900" b="1">
                <a:solidFill>
                  <a:srgbClr val="64748B"/>
                </a:solidFill>
                <a:latin typeface="Calibri"/>
              </a:rPr>
              <a:t>Downtime Cost</a:t>
            </a:r>
          </a:p>
        </p:txBody>
      </p:sp>
      <p:sp>
        <p:nvSpPr>
          <p:cNvPr id="16" name="TextBox 15"/>
          <p:cNvSpPr txBox="1"/>
          <p:nvPr/>
        </p:nvSpPr>
        <p:spPr>
          <a:xfrm>
            <a:off x="3429000" y="1874520"/>
            <a:ext cx="2377440" cy="320040"/>
          </a:xfrm>
          <a:prstGeom prst="rect">
            <a:avLst/>
          </a:prstGeom>
          <a:noFill/>
        </p:spPr>
        <p:txBody>
          <a:bodyPr wrap="square">
            <a:spAutoFit/>
          </a:bodyPr>
          <a:lstStyle/>
          <a:p>
            <a:pPr algn="l"/>
            <a:r>
              <a:rPr sz="1500" b="1">
                <a:solidFill>
                  <a:srgbClr val="1A2754"/>
                </a:solidFill>
                <a:latin typeface="Calibri"/>
              </a:rPr>
              <a:t>$22,000/minute</a:t>
            </a:r>
          </a:p>
        </p:txBody>
      </p:sp>
      <p:sp>
        <p:nvSpPr>
          <p:cNvPr id="17" name="TextBox 16"/>
          <p:cNvSpPr txBox="1"/>
          <p:nvPr/>
        </p:nvSpPr>
        <p:spPr>
          <a:xfrm>
            <a:off x="3429000" y="2194560"/>
            <a:ext cx="2377440" cy="228600"/>
          </a:xfrm>
          <a:prstGeom prst="rect">
            <a:avLst/>
          </a:prstGeom>
          <a:noFill/>
        </p:spPr>
        <p:txBody>
          <a:bodyPr wrap="square">
            <a:spAutoFit/>
          </a:bodyPr>
          <a:lstStyle/>
          <a:p>
            <a:pPr algn="l"/>
            <a:r>
              <a:rPr sz="700" b="0">
                <a:solidFill>
                  <a:srgbClr val="64748B"/>
                </a:solidFill>
                <a:latin typeface="Calibri"/>
              </a:rPr>
              <a:t>Industry avg, Aberdeen/Siemens</a:t>
            </a:r>
          </a:p>
        </p:txBody>
      </p:sp>
      <p:sp>
        <p:nvSpPr>
          <p:cNvPr id="18" name="Rectangle 17"/>
          <p:cNvSpPr/>
          <p:nvPr/>
        </p:nvSpPr>
        <p:spPr>
          <a:xfrm>
            <a:off x="6126480" y="1554480"/>
            <a:ext cx="2651760" cy="8686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26480" y="1554480"/>
            <a:ext cx="2651760" cy="4572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263640" y="1645920"/>
            <a:ext cx="2377440" cy="228600"/>
          </a:xfrm>
          <a:prstGeom prst="rect">
            <a:avLst/>
          </a:prstGeom>
          <a:noFill/>
        </p:spPr>
        <p:txBody>
          <a:bodyPr wrap="square">
            <a:spAutoFit/>
          </a:bodyPr>
          <a:lstStyle/>
          <a:p>
            <a:pPr algn="l"/>
            <a:r>
              <a:rPr sz="900" b="1">
                <a:solidFill>
                  <a:srgbClr val="64748B"/>
                </a:solidFill>
                <a:latin typeface="Calibri"/>
              </a:rPr>
              <a:t>Rework Rate</a:t>
            </a:r>
          </a:p>
        </p:txBody>
      </p:sp>
      <p:sp>
        <p:nvSpPr>
          <p:cNvPr id="21" name="TextBox 20"/>
          <p:cNvSpPr txBox="1"/>
          <p:nvPr/>
        </p:nvSpPr>
        <p:spPr>
          <a:xfrm>
            <a:off x="6263640" y="1874520"/>
            <a:ext cx="2377440" cy="320040"/>
          </a:xfrm>
          <a:prstGeom prst="rect">
            <a:avLst/>
          </a:prstGeom>
          <a:noFill/>
        </p:spPr>
        <p:txBody>
          <a:bodyPr wrap="square">
            <a:spAutoFit/>
          </a:bodyPr>
          <a:lstStyle/>
          <a:p>
            <a:pPr algn="l"/>
            <a:r>
              <a:rPr sz="1500" b="1">
                <a:solidFill>
                  <a:srgbClr val="1A2754"/>
                </a:solidFill>
                <a:latin typeface="Calibri"/>
              </a:rPr>
              <a:t>8%+ on premium lines</a:t>
            </a:r>
          </a:p>
        </p:txBody>
      </p:sp>
      <p:sp>
        <p:nvSpPr>
          <p:cNvPr id="22" name="TextBox 21"/>
          <p:cNvSpPr txBox="1"/>
          <p:nvPr/>
        </p:nvSpPr>
        <p:spPr>
          <a:xfrm>
            <a:off x="6263640" y="2194560"/>
            <a:ext cx="2377440" cy="228600"/>
          </a:xfrm>
          <a:prstGeom prst="rect">
            <a:avLst/>
          </a:prstGeom>
          <a:noFill/>
        </p:spPr>
        <p:txBody>
          <a:bodyPr wrap="square">
            <a:spAutoFit/>
          </a:bodyPr>
          <a:lstStyle/>
          <a:p>
            <a:pPr algn="l"/>
            <a:r>
              <a:rPr sz="700" b="0">
                <a:solidFill>
                  <a:srgbClr val="64748B"/>
                </a:solidFill>
                <a:latin typeface="Calibri"/>
              </a:rPr>
              <a:t>Pre-AI baseline estimate</a:t>
            </a:r>
          </a:p>
        </p:txBody>
      </p:sp>
      <p:sp>
        <p:nvSpPr>
          <p:cNvPr id="23" name="Rectangle 22"/>
          <p:cNvSpPr/>
          <p:nvPr/>
        </p:nvSpPr>
        <p:spPr>
          <a:xfrm>
            <a:off x="8961120" y="1554480"/>
            <a:ext cx="2651760" cy="8686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Rectangle 23"/>
          <p:cNvSpPr/>
          <p:nvPr/>
        </p:nvSpPr>
        <p:spPr>
          <a:xfrm>
            <a:off x="8961120" y="1554480"/>
            <a:ext cx="2651760" cy="4572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9098280" y="1645920"/>
            <a:ext cx="2377440" cy="228600"/>
          </a:xfrm>
          <a:prstGeom prst="rect">
            <a:avLst/>
          </a:prstGeom>
          <a:noFill/>
        </p:spPr>
        <p:txBody>
          <a:bodyPr wrap="square">
            <a:spAutoFit/>
          </a:bodyPr>
          <a:lstStyle/>
          <a:p>
            <a:pPr algn="l"/>
            <a:r>
              <a:rPr sz="900" b="1">
                <a:solidFill>
                  <a:srgbClr val="64748B"/>
                </a:solidFill>
                <a:latin typeface="Calibri"/>
              </a:rPr>
              <a:t>Inspection Miss Rate</a:t>
            </a:r>
          </a:p>
        </p:txBody>
      </p:sp>
      <p:sp>
        <p:nvSpPr>
          <p:cNvPr id="26" name="TextBox 25"/>
          <p:cNvSpPr txBox="1"/>
          <p:nvPr/>
        </p:nvSpPr>
        <p:spPr>
          <a:xfrm>
            <a:off x="9098280" y="1874520"/>
            <a:ext cx="2377440" cy="320040"/>
          </a:xfrm>
          <a:prstGeom prst="rect">
            <a:avLst/>
          </a:prstGeom>
          <a:noFill/>
        </p:spPr>
        <p:txBody>
          <a:bodyPr wrap="square">
            <a:spAutoFit/>
          </a:bodyPr>
          <a:lstStyle/>
          <a:p>
            <a:pPr algn="l"/>
            <a:r>
              <a:rPr sz="1500" b="1">
                <a:solidFill>
                  <a:srgbClr val="1A2754"/>
                </a:solidFill>
                <a:latin typeface="Calibri"/>
              </a:rPr>
              <a:t>15-25% manual</a:t>
            </a:r>
          </a:p>
        </p:txBody>
      </p:sp>
      <p:sp>
        <p:nvSpPr>
          <p:cNvPr id="27" name="TextBox 26"/>
          <p:cNvSpPr txBox="1"/>
          <p:nvPr/>
        </p:nvSpPr>
        <p:spPr>
          <a:xfrm>
            <a:off x="9098280" y="2194560"/>
            <a:ext cx="2377440" cy="228600"/>
          </a:xfrm>
          <a:prstGeom prst="rect">
            <a:avLst/>
          </a:prstGeom>
          <a:noFill/>
        </p:spPr>
        <p:txBody>
          <a:bodyPr wrap="square">
            <a:spAutoFit/>
          </a:bodyPr>
          <a:lstStyle/>
          <a:p>
            <a:pPr algn="l"/>
            <a:r>
              <a:rPr sz="700" b="0">
                <a:solidFill>
                  <a:srgbClr val="64748B"/>
                </a:solidFill>
                <a:latin typeface="Calibri"/>
              </a:rPr>
              <a:t>Human inspector limitation</a:t>
            </a:r>
          </a:p>
        </p:txBody>
      </p:sp>
      <p:sp>
        <p:nvSpPr>
          <p:cNvPr id="28" name="TextBox 27"/>
          <p:cNvSpPr txBox="1"/>
          <p:nvPr/>
        </p:nvSpPr>
        <p:spPr>
          <a:xfrm>
            <a:off x="457200" y="2651760"/>
            <a:ext cx="10972800" cy="365760"/>
          </a:xfrm>
          <a:prstGeom prst="rect">
            <a:avLst/>
          </a:prstGeom>
          <a:noFill/>
        </p:spPr>
        <p:txBody>
          <a:bodyPr wrap="square">
            <a:spAutoFit/>
          </a:bodyPr>
          <a:lstStyle/>
          <a:p>
            <a:pPr algn="l"/>
            <a:r>
              <a:rPr sz="1200" b="1">
                <a:solidFill>
                  <a:srgbClr val="1A2754"/>
                </a:solidFill>
                <a:latin typeface="Calibri"/>
              </a:rPr>
              <a:t>PILOT ROI PROJECTIONS (CONSERVATIVE)</a:t>
            </a:r>
          </a:p>
        </p:txBody>
      </p:sp>
      <p:sp>
        <p:nvSpPr>
          <p:cNvPr id="29" name="Rectangle 28"/>
          <p:cNvSpPr/>
          <p:nvPr/>
        </p:nvSpPr>
        <p:spPr>
          <a:xfrm>
            <a:off x="457200" y="3063240"/>
            <a:ext cx="11247120" cy="10058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3063240"/>
            <a:ext cx="73152" cy="100584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extBox 30"/>
          <p:cNvSpPr txBox="1"/>
          <p:nvPr/>
        </p:nvSpPr>
        <p:spPr>
          <a:xfrm>
            <a:off x="640080" y="3136392"/>
            <a:ext cx="5486400" cy="274320"/>
          </a:xfrm>
          <a:prstGeom prst="rect">
            <a:avLst/>
          </a:prstGeom>
          <a:noFill/>
        </p:spPr>
        <p:txBody>
          <a:bodyPr wrap="square">
            <a:spAutoFit/>
          </a:bodyPr>
          <a:lstStyle/>
          <a:p>
            <a:pPr algn="l"/>
            <a:r>
              <a:rPr sz="1300" b="1">
                <a:solidFill>
                  <a:srgbClr val="14A085"/>
                </a:solidFill>
                <a:latin typeface="Calibri"/>
              </a:rPr>
              <a:t>Visual Inspection Pilot</a:t>
            </a:r>
          </a:p>
        </p:txBody>
      </p:sp>
      <p:sp>
        <p:nvSpPr>
          <p:cNvPr id="32" name="TextBox 31"/>
          <p:cNvSpPr txBox="1"/>
          <p:nvPr/>
        </p:nvSpPr>
        <p:spPr>
          <a:xfrm>
            <a:off x="640080" y="3429000"/>
            <a:ext cx="5486400" cy="228600"/>
          </a:xfrm>
          <a:prstGeom prst="rect">
            <a:avLst/>
          </a:prstGeom>
          <a:noFill/>
        </p:spPr>
        <p:txBody>
          <a:bodyPr wrap="square">
            <a:spAutoFit/>
          </a:bodyPr>
          <a:lstStyle/>
          <a:p>
            <a:pPr algn="l"/>
            <a:r>
              <a:rPr sz="950" b="0">
                <a:solidFill>
                  <a:srgbClr val="64748B"/>
                </a:solidFill>
                <a:latin typeface="Calibri"/>
              </a:rPr>
              <a:t>HMGMA Paint Shop</a:t>
            </a:r>
          </a:p>
        </p:txBody>
      </p:sp>
      <p:sp>
        <p:nvSpPr>
          <p:cNvPr id="33" name="Rectangle 32"/>
          <p:cNvSpPr/>
          <p:nvPr/>
        </p:nvSpPr>
        <p:spPr>
          <a:xfrm>
            <a:off x="6400800" y="3136392"/>
            <a:ext cx="1737360" cy="59436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6400800" y="3136392"/>
            <a:ext cx="1737360" cy="365760"/>
          </a:xfrm>
          <a:prstGeom prst="rect">
            <a:avLst/>
          </a:prstGeom>
          <a:noFill/>
        </p:spPr>
        <p:txBody>
          <a:bodyPr wrap="square">
            <a:spAutoFit/>
          </a:bodyPr>
          <a:lstStyle/>
          <a:p>
            <a:pPr algn="ctr"/>
            <a:r>
              <a:rPr sz="1200" b="1">
                <a:solidFill>
                  <a:srgbClr val="FFFFFF"/>
                </a:solidFill>
                <a:latin typeface="Calibri"/>
              </a:rPr>
              <a:t>-45% rework</a:t>
            </a:r>
          </a:p>
        </p:txBody>
      </p:sp>
      <p:sp>
        <p:nvSpPr>
          <p:cNvPr id="35" name="TextBox 34"/>
          <p:cNvSpPr txBox="1"/>
          <p:nvPr/>
        </p:nvSpPr>
        <p:spPr>
          <a:xfrm>
            <a:off x="6400800" y="3502152"/>
            <a:ext cx="1737360" cy="228600"/>
          </a:xfrm>
          <a:prstGeom prst="rect">
            <a:avLst/>
          </a:prstGeom>
          <a:noFill/>
        </p:spPr>
        <p:txBody>
          <a:bodyPr wrap="square">
            <a:spAutoFit/>
          </a:bodyPr>
          <a:lstStyle/>
          <a:p>
            <a:pPr algn="ctr"/>
            <a:r>
              <a:rPr sz="700" b="0">
                <a:solidFill>
                  <a:srgbClr val="FFFFFF"/>
                </a:solidFill>
                <a:latin typeface="Calibri"/>
              </a:rPr>
              <a:t>Rework</a:t>
            </a:r>
          </a:p>
        </p:txBody>
      </p:sp>
      <p:sp>
        <p:nvSpPr>
          <p:cNvPr id="36" name="Rectangle 35"/>
          <p:cNvSpPr/>
          <p:nvPr/>
        </p:nvSpPr>
        <p:spPr>
          <a:xfrm>
            <a:off x="8321040" y="3136392"/>
            <a:ext cx="1737360" cy="59436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TextBox 36"/>
          <p:cNvSpPr txBox="1"/>
          <p:nvPr/>
        </p:nvSpPr>
        <p:spPr>
          <a:xfrm>
            <a:off x="8321040" y="3136392"/>
            <a:ext cx="1737360" cy="365760"/>
          </a:xfrm>
          <a:prstGeom prst="rect">
            <a:avLst/>
          </a:prstGeom>
          <a:noFill/>
        </p:spPr>
        <p:txBody>
          <a:bodyPr wrap="square">
            <a:spAutoFit/>
          </a:bodyPr>
          <a:lstStyle/>
          <a:p>
            <a:pPr algn="ctr"/>
            <a:r>
              <a:rPr sz="1200" b="1">
                <a:solidFill>
                  <a:srgbClr val="FFFFFF"/>
                </a:solidFill>
                <a:latin typeface="Calibri"/>
              </a:rPr>
              <a:t>-60% escapes</a:t>
            </a:r>
          </a:p>
        </p:txBody>
      </p:sp>
      <p:sp>
        <p:nvSpPr>
          <p:cNvPr id="38" name="TextBox 37"/>
          <p:cNvSpPr txBox="1"/>
          <p:nvPr/>
        </p:nvSpPr>
        <p:spPr>
          <a:xfrm>
            <a:off x="8321040" y="3502152"/>
            <a:ext cx="1737360" cy="228600"/>
          </a:xfrm>
          <a:prstGeom prst="rect">
            <a:avLst/>
          </a:prstGeom>
          <a:noFill/>
        </p:spPr>
        <p:txBody>
          <a:bodyPr wrap="square">
            <a:spAutoFit/>
          </a:bodyPr>
          <a:lstStyle/>
          <a:p>
            <a:pPr algn="ctr"/>
            <a:r>
              <a:rPr sz="700" b="0">
                <a:solidFill>
                  <a:srgbClr val="FFFFFF"/>
                </a:solidFill>
                <a:latin typeface="Calibri"/>
              </a:rPr>
              <a:t>Escapes</a:t>
            </a:r>
          </a:p>
        </p:txBody>
      </p:sp>
      <p:sp>
        <p:nvSpPr>
          <p:cNvPr id="39" name="Rectangle 38"/>
          <p:cNvSpPr/>
          <p:nvPr/>
        </p:nvSpPr>
        <p:spPr>
          <a:xfrm>
            <a:off x="10241280" y="3136392"/>
            <a:ext cx="1737360" cy="59436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10241280" y="3136392"/>
            <a:ext cx="1737360" cy="365760"/>
          </a:xfrm>
          <a:prstGeom prst="rect">
            <a:avLst/>
          </a:prstGeom>
          <a:noFill/>
        </p:spPr>
        <p:txBody>
          <a:bodyPr wrap="square">
            <a:spAutoFit/>
          </a:bodyPr>
          <a:lstStyle/>
          <a:p>
            <a:pPr algn="ctr"/>
            <a:r>
              <a:rPr sz="1200" b="1">
                <a:solidFill>
                  <a:srgbClr val="FFFFFF"/>
                </a:solidFill>
                <a:latin typeface="Calibri"/>
              </a:rPr>
              <a:t>8-14 months payback</a:t>
            </a:r>
          </a:p>
        </p:txBody>
      </p:sp>
      <p:sp>
        <p:nvSpPr>
          <p:cNvPr id="41" name="TextBox 40"/>
          <p:cNvSpPr txBox="1"/>
          <p:nvPr/>
        </p:nvSpPr>
        <p:spPr>
          <a:xfrm>
            <a:off x="10241280" y="3502152"/>
            <a:ext cx="1737360" cy="228600"/>
          </a:xfrm>
          <a:prstGeom prst="rect">
            <a:avLst/>
          </a:prstGeom>
          <a:noFill/>
        </p:spPr>
        <p:txBody>
          <a:bodyPr wrap="square">
            <a:spAutoFit/>
          </a:bodyPr>
          <a:lstStyle/>
          <a:p>
            <a:pPr algn="ctr"/>
            <a:r>
              <a:rPr sz="700" b="0">
                <a:solidFill>
                  <a:srgbClr val="FFFFFF"/>
                </a:solidFill>
                <a:latin typeface="Calibri"/>
              </a:rPr>
              <a:t>Payback</a:t>
            </a:r>
          </a:p>
        </p:txBody>
      </p:sp>
      <p:sp>
        <p:nvSpPr>
          <p:cNvPr id="42" name="Rectangle 41"/>
          <p:cNvSpPr/>
          <p:nvPr/>
        </p:nvSpPr>
        <p:spPr>
          <a:xfrm>
            <a:off x="457200" y="4251960"/>
            <a:ext cx="11247120" cy="100584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Rectangle 42"/>
          <p:cNvSpPr/>
          <p:nvPr/>
        </p:nvSpPr>
        <p:spPr>
          <a:xfrm>
            <a:off x="457200" y="4251960"/>
            <a:ext cx="73152" cy="100584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0080" y="4325112"/>
            <a:ext cx="5486400" cy="274320"/>
          </a:xfrm>
          <a:prstGeom prst="rect">
            <a:avLst/>
          </a:prstGeom>
          <a:noFill/>
        </p:spPr>
        <p:txBody>
          <a:bodyPr wrap="square">
            <a:spAutoFit/>
          </a:bodyPr>
          <a:lstStyle/>
          <a:p>
            <a:pPr algn="l"/>
            <a:r>
              <a:rPr sz="1300" b="1">
                <a:solidFill>
                  <a:srgbClr val="2563EB"/>
                </a:solidFill>
                <a:latin typeface="Calibri"/>
              </a:rPr>
              <a:t>Predictive Maintenance Pilot</a:t>
            </a:r>
          </a:p>
        </p:txBody>
      </p:sp>
      <p:sp>
        <p:nvSpPr>
          <p:cNvPr id="45" name="TextBox 44"/>
          <p:cNvSpPr txBox="1"/>
          <p:nvPr/>
        </p:nvSpPr>
        <p:spPr>
          <a:xfrm>
            <a:off x="640080" y="4617720"/>
            <a:ext cx="5486400" cy="228600"/>
          </a:xfrm>
          <a:prstGeom prst="rect">
            <a:avLst/>
          </a:prstGeom>
          <a:noFill/>
        </p:spPr>
        <p:txBody>
          <a:bodyPr wrap="square">
            <a:spAutoFit/>
          </a:bodyPr>
          <a:lstStyle/>
          <a:p>
            <a:pPr algn="l"/>
            <a:r>
              <a:rPr sz="950" b="0">
                <a:solidFill>
                  <a:srgbClr val="64748B"/>
                </a:solidFill>
                <a:latin typeface="Calibri"/>
              </a:rPr>
              <a:t>Ulsan Stamping / Asan Welding</a:t>
            </a:r>
          </a:p>
        </p:txBody>
      </p:sp>
      <p:sp>
        <p:nvSpPr>
          <p:cNvPr id="46" name="Rectangle 45"/>
          <p:cNvSpPr/>
          <p:nvPr/>
        </p:nvSpPr>
        <p:spPr>
          <a:xfrm>
            <a:off x="6400800" y="4325112"/>
            <a:ext cx="1737360"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TextBox 46"/>
          <p:cNvSpPr txBox="1"/>
          <p:nvPr/>
        </p:nvSpPr>
        <p:spPr>
          <a:xfrm>
            <a:off x="6400800" y="4325112"/>
            <a:ext cx="1737360" cy="365760"/>
          </a:xfrm>
          <a:prstGeom prst="rect">
            <a:avLst/>
          </a:prstGeom>
          <a:noFill/>
        </p:spPr>
        <p:txBody>
          <a:bodyPr wrap="square">
            <a:spAutoFit/>
          </a:bodyPr>
          <a:lstStyle/>
          <a:p>
            <a:pPr algn="ctr"/>
            <a:r>
              <a:rPr sz="1200" b="1">
                <a:solidFill>
                  <a:srgbClr val="FFFFFF"/>
                </a:solidFill>
                <a:latin typeface="Calibri"/>
              </a:rPr>
              <a:t>-40% downtime</a:t>
            </a:r>
          </a:p>
        </p:txBody>
      </p:sp>
      <p:sp>
        <p:nvSpPr>
          <p:cNvPr id="48" name="TextBox 47"/>
          <p:cNvSpPr txBox="1"/>
          <p:nvPr/>
        </p:nvSpPr>
        <p:spPr>
          <a:xfrm>
            <a:off x="6400800" y="4690872"/>
            <a:ext cx="1737360" cy="228600"/>
          </a:xfrm>
          <a:prstGeom prst="rect">
            <a:avLst/>
          </a:prstGeom>
          <a:noFill/>
        </p:spPr>
        <p:txBody>
          <a:bodyPr wrap="square">
            <a:spAutoFit/>
          </a:bodyPr>
          <a:lstStyle/>
          <a:p>
            <a:pPr algn="ctr"/>
            <a:r>
              <a:rPr sz="700" b="0">
                <a:solidFill>
                  <a:srgbClr val="FFFFFF"/>
                </a:solidFill>
                <a:latin typeface="Calibri"/>
              </a:rPr>
              <a:t>Downtime</a:t>
            </a:r>
          </a:p>
        </p:txBody>
      </p:sp>
      <p:sp>
        <p:nvSpPr>
          <p:cNvPr id="49" name="Rectangle 48"/>
          <p:cNvSpPr/>
          <p:nvPr/>
        </p:nvSpPr>
        <p:spPr>
          <a:xfrm>
            <a:off x="8321040" y="4325112"/>
            <a:ext cx="1737360"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8321040" y="4325112"/>
            <a:ext cx="1737360" cy="365760"/>
          </a:xfrm>
          <a:prstGeom prst="rect">
            <a:avLst/>
          </a:prstGeom>
          <a:noFill/>
        </p:spPr>
        <p:txBody>
          <a:bodyPr wrap="square">
            <a:spAutoFit/>
          </a:bodyPr>
          <a:lstStyle/>
          <a:p>
            <a:pPr algn="ctr"/>
            <a:r>
              <a:rPr sz="1200" b="1">
                <a:solidFill>
                  <a:srgbClr val="FFFFFF"/>
                </a:solidFill>
                <a:latin typeface="Calibri"/>
              </a:rPr>
              <a:t>-30% maint cost</a:t>
            </a:r>
          </a:p>
        </p:txBody>
      </p:sp>
      <p:sp>
        <p:nvSpPr>
          <p:cNvPr id="51" name="TextBox 50"/>
          <p:cNvSpPr txBox="1"/>
          <p:nvPr/>
        </p:nvSpPr>
        <p:spPr>
          <a:xfrm>
            <a:off x="8321040" y="4690872"/>
            <a:ext cx="1737360" cy="228600"/>
          </a:xfrm>
          <a:prstGeom prst="rect">
            <a:avLst/>
          </a:prstGeom>
          <a:noFill/>
        </p:spPr>
        <p:txBody>
          <a:bodyPr wrap="square">
            <a:spAutoFit/>
          </a:bodyPr>
          <a:lstStyle/>
          <a:p>
            <a:pPr algn="ctr"/>
            <a:r>
              <a:rPr sz="700" b="0">
                <a:solidFill>
                  <a:srgbClr val="FFFFFF"/>
                </a:solidFill>
                <a:latin typeface="Calibri"/>
              </a:rPr>
              <a:t>Maint Cost</a:t>
            </a:r>
          </a:p>
        </p:txBody>
      </p:sp>
      <p:sp>
        <p:nvSpPr>
          <p:cNvPr id="52" name="Rectangle 51"/>
          <p:cNvSpPr/>
          <p:nvPr/>
        </p:nvSpPr>
        <p:spPr>
          <a:xfrm>
            <a:off x="10241280" y="4325112"/>
            <a:ext cx="1737360" cy="594360"/>
          </a:xfrm>
          <a:prstGeom prst="rect">
            <a:avLst/>
          </a:prstGeom>
          <a:solidFill>
            <a:srgbClr val="2563E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3" name="TextBox 52"/>
          <p:cNvSpPr txBox="1"/>
          <p:nvPr/>
        </p:nvSpPr>
        <p:spPr>
          <a:xfrm>
            <a:off x="10241280" y="4325112"/>
            <a:ext cx="1737360" cy="365760"/>
          </a:xfrm>
          <a:prstGeom prst="rect">
            <a:avLst/>
          </a:prstGeom>
          <a:noFill/>
        </p:spPr>
        <p:txBody>
          <a:bodyPr wrap="square">
            <a:spAutoFit/>
          </a:bodyPr>
          <a:lstStyle/>
          <a:p>
            <a:pPr algn="ctr"/>
            <a:r>
              <a:rPr sz="1200" b="1">
                <a:solidFill>
                  <a:srgbClr val="FFFFFF"/>
                </a:solidFill>
                <a:latin typeface="Calibri"/>
              </a:rPr>
              <a:t>5:1 ROI ratio</a:t>
            </a:r>
          </a:p>
        </p:txBody>
      </p:sp>
      <p:sp>
        <p:nvSpPr>
          <p:cNvPr id="54" name="TextBox 53"/>
          <p:cNvSpPr txBox="1"/>
          <p:nvPr/>
        </p:nvSpPr>
        <p:spPr>
          <a:xfrm>
            <a:off x="10241280" y="4690872"/>
            <a:ext cx="1737360" cy="228600"/>
          </a:xfrm>
          <a:prstGeom prst="rect">
            <a:avLst/>
          </a:prstGeom>
          <a:noFill/>
        </p:spPr>
        <p:txBody>
          <a:bodyPr wrap="square">
            <a:spAutoFit/>
          </a:bodyPr>
          <a:lstStyle/>
          <a:p>
            <a:pPr algn="ctr"/>
            <a:r>
              <a:rPr sz="700" b="0">
                <a:solidFill>
                  <a:srgbClr val="FFFFFF"/>
                </a:solidFill>
                <a:latin typeface="Calibri"/>
              </a:rPr>
              <a:t>ROI</a:t>
            </a:r>
          </a:p>
        </p:txBody>
      </p:sp>
      <p:sp>
        <p:nvSpPr>
          <p:cNvPr id="55" name="Rectangle 54"/>
          <p:cNvSpPr/>
          <p:nvPr/>
        </p:nvSpPr>
        <p:spPr>
          <a:xfrm>
            <a:off x="457200" y="5440680"/>
            <a:ext cx="11247120" cy="548640"/>
          </a:xfrm>
          <a:prstGeom prst="rect">
            <a:avLst/>
          </a:prstGeom>
          <a:solidFill>
            <a:srgbClr val="ECFDF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Rectangle 55"/>
          <p:cNvSpPr/>
          <p:nvPr/>
        </p:nvSpPr>
        <p:spPr>
          <a:xfrm>
            <a:off x="457200" y="5440680"/>
            <a:ext cx="73152" cy="548640"/>
          </a:xfrm>
          <a:prstGeom prst="rect">
            <a:avLst/>
          </a:prstGeom>
          <a:solidFill>
            <a:srgbClr val="14A08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7" name="TextBox 56"/>
          <p:cNvSpPr txBox="1"/>
          <p:nvPr/>
        </p:nvSpPr>
        <p:spPr>
          <a:xfrm>
            <a:off x="640080" y="5440680"/>
            <a:ext cx="10881360" cy="548640"/>
          </a:xfrm>
          <a:prstGeom prst="rect">
            <a:avLst/>
          </a:prstGeom>
          <a:noFill/>
        </p:spPr>
        <p:txBody>
          <a:bodyPr wrap="square">
            <a:spAutoFit/>
          </a:bodyPr>
          <a:lstStyle/>
          <a:p>
            <a:pPr algn="l"/>
            <a:r>
              <a:rPr sz="1000" b="0">
                <a:solidFill>
                  <a:srgbClr val="14A085"/>
                </a:solidFill>
                <a:latin typeface="Calibri"/>
              </a:rPr>
              <a:t>Conservative: even a 10% improvement across Ulsan's 1.6M vehicle output = significant annual savings. Full validation during discovery phase with Hyundai plant data.</a:t>
            </a:r>
          </a:p>
        </p:txBody>
      </p:sp>
      <p:sp>
        <p:nvSpPr>
          <p:cNvPr id="58" name="Rectangle 57"/>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9" name="TextBox 58"/>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60" name="TextBox 59"/>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19 / 20 · CONFIDENTIAL</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0"/>
            <a:ext cx="12191695" cy="82296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457200" y="0"/>
            <a:ext cx="2286000" cy="822960"/>
          </a:xfrm>
          <a:prstGeom prst="rect">
            <a:avLst/>
          </a:prstGeom>
          <a:noFill/>
        </p:spPr>
        <p:txBody>
          <a:bodyPr wrap="square">
            <a:spAutoFit/>
          </a:bodyPr>
          <a:lstStyle/>
          <a:p>
            <a:pPr algn="l"/>
            <a:r>
              <a:rPr sz="1000" b="1">
                <a:solidFill>
                  <a:srgbClr val="FFFFFF"/>
                </a:solidFill>
                <a:latin typeface="Calibri"/>
              </a:rPr>
              <a:t>COMPARISON</a:t>
            </a:r>
          </a:p>
        </p:txBody>
      </p:sp>
      <p:sp>
        <p:nvSpPr>
          <p:cNvPr id="5" name="TextBox 4"/>
          <p:cNvSpPr txBox="1"/>
          <p:nvPr/>
        </p:nvSpPr>
        <p:spPr>
          <a:xfrm>
            <a:off x="2743200" y="0"/>
            <a:ext cx="6400800" cy="822960"/>
          </a:xfrm>
          <a:prstGeom prst="rect">
            <a:avLst/>
          </a:prstGeom>
          <a:noFill/>
        </p:spPr>
        <p:txBody>
          <a:bodyPr wrap="square">
            <a:spAutoFit/>
          </a:bodyPr>
          <a:lstStyle/>
          <a:p>
            <a:pPr algn="l"/>
            <a:r>
              <a:rPr sz="2200" b="1">
                <a:solidFill>
                  <a:srgbClr val="FFFFFF"/>
                </a:solidFill>
                <a:latin typeface="Calibri"/>
              </a:rPr>
              <a:t>Why PeopleTech  왜 피플테크인가</a:t>
            </a:r>
          </a:p>
        </p:txBody>
      </p:sp>
      <p:sp>
        <p:nvSpPr>
          <p:cNvPr id="6" name="TextBox 5"/>
          <p:cNvSpPr txBox="1"/>
          <p:nvPr/>
        </p:nvSpPr>
        <p:spPr>
          <a:xfrm>
            <a:off x="9144000" y="0"/>
            <a:ext cx="2560320" cy="822960"/>
          </a:xfrm>
          <a:prstGeom prst="rect">
            <a:avLst/>
          </a:prstGeom>
          <a:noFill/>
        </p:spPr>
        <p:txBody>
          <a:bodyPr wrap="square">
            <a:spAutoFit/>
          </a:bodyPr>
          <a:lstStyle/>
          <a:p>
            <a:pPr algn="l"/>
            <a:r>
              <a:rPr sz="1000" b="0">
                <a:solidFill>
                  <a:srgbClr val="CBD5E1"/>
                </a:solidFill>
                <a:latin typeface="Calibri"/>
              </a:rPr>
              <a:t>vs. Traditional SI vs. In-House</a:t>
            </a:r>
          </a:p>
        </p:txBody>
      </p:sp>
      <p:sp>
        <p:nvSpPr>
          <p:cNvPr id="7" name="Rectangle 6"/>
          <p:cNvSpPr/>
          <p:nvPr/>
        </p:nvSpPr>
        <p:spPr>
          <a:xfrm>
            <a:off x="457200" y="1005840"/>
            <a:ext cx="2743200" cy="54864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548640" y="1078992"/>
            <a:ext cx="2560320" cy="411480"/>
          </a:xfrm>
          <a:prstGeom prst="rect">
            <a:avLst/>
          </a:prstGeom>
          <a:noFill/>
        </p:spPr>
        <p:txBody>
          <a:bodyPr wrap="square">
            <a:spAutoFit/>
          </a:bodyPr>
          <a:lstStyle/>
          <a:p>
            <a:pPr algn="ctr"/>
            <a:r>
              <a:rPr sz="900" b="1">
                <a:solidFill>
                  <a:srgbClr val="FFFFFF"/>
                </a:solidFill>
                <a:latin typeface="Calibri"/>
              </a:rPr>
              <a:t>Dimension</a:t>
            </a:r>
          </a:p>
        </p:txBody>
      </p:sp>
      <p:sp>
        <p:nvSpPr>
          <p:cNvPr id="9" name="Rectangle 8"/>
          <p:cNvSpPr/>
          <p:nvPr/>
        </p:nvSpPr>
        <p:spPr>
          <a:xfrm>
            <a:off x="3200400" y="1005840"/>
            <a:ext cx="3200400" cy="548640"/>
          </a:xfrm>
          <a:prstGeom prst="rect">
            <a:avLst/>
          </a:prstGeom>
          <a:solidFill>
            <a:srgbClr val="00AAD4"/>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291840" y="1078992"/>
            <a:ext cx="3017520" cy="411480"/>
          </a:xfrm>
          <a:prstGeom prst="rect">
            <a:avLst/>
          </a:prstGeom>
          <a:noFill/>
        </p:spPr>
        <p:txBody>
          <a:bodyPr wrap="square">
            <a:spAutoFit/>
          </a:bodyPr>
          <a:lstStyle/>
          <a:p>
            <a:pPr algn="ctr"/>
            <a:r>
              <a:rPr sz="900" b="1">
                <a:solidFill>
                  <a:srgbClr val="FFFFFF"/>
                </a:solidFill>
                <a:latin typeface="Calibri"/>
              </a:rPr>
              <a:t>PeopleTech</a:t>
            </a:r>
            <a:br/>
            <a:r>
              <a:t>AI Engineering Team</a:t>
            </a:r>
          </a:p>
        </p:txBody>
      </p:sp>
      <p:sp>
        <p:nvSpPr>
          <p:cNvPr id="11" name="Rectangle 10"/>
          <p:cNvSpPr/>
          <p:nvPr/>
        </p:nvSpPr>
        <p:spPr>
          <a:xfrm>
            <a:off x="6400800" y="1005840"/>
            <a:ext cx="2743200" cy="54864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492240" y="1078992"/>
            <a:ext cx="2560320" cy="411480"/>
          </a:xfrm>
          <a:prstGeom prst="rect">
            <a:avLst/>
          </a:prstGeom>
          <a:noFill/>
        </p:spPr>
        <p:txBody>
          <a:bodyPr wrap="square">
            <a:spAutoFit/>
          </a:bodyPr>
          <a:lstStyle/>
          <a:p>
            <a:pPr algn="ctr"/>
            <a:r>
              <a:rPr sz="900" b="1">
                <a:solidFill>
                  <a:srgbClr val="FFFFFF"/>
                </a:solidFill>
                <a:latin typeface="Calibri"/>
              </a:rPr>
              <a:t>Traditional SI</a:t>
            </a:r>
            <a:br/>
            <a:r>
              <a:t>(Accenture/TCS)</a:t>
            </a:r>
          </a:p>
        </p:txBody>
      </p:sp>
      <p:sp>
        <p:nvSpPr>
          <p:cNvPr id="13" name="Rectangle 12"/>
          <p:cNvSpPr/>
          <p:nvPr/>
        </p:nvSpPr>
        <p:spPr>
          <a:xfrm>
            <a:off x="9144000" y="1005840"/>
            <a:ext cx="2560320" cy="548640"/>
          </a:xfrm>
          <a:prstGeom prst="rect">
            <a:avLst/>
          </a:prstGeom>
          <a:solidFill>
            <a:srgbClr val="141E38"/>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9235440" y="1078992"/>
            <a:ext cx="2377440" cy="411480"/>
          </a:xfrm>
          <a:prstGeom prst="rect">
            <a:avLst/>
          </a:prstGeom>
          <a:noFill/>
        </p:spPr>
        <p:txBody>
          <a:bodyPr wrap="square">
            <a:spAutoFit/>
          </a:bodyPr>
          <a:lstStyle/>
          <a:p>
            <a:pPr algn="ctr"/>
            <a:r>
              <a:rPr sz="900" b="1">
                <a:solidFill>
                  <a:srgbClr val="FFFFFF"/>
                </a:solidFill>
                <a:latin typeface="Calibri"/>
              </a:rPr>
              <a:t>In-House</a:t>
            </a:r>
            <a:br/>
            <a:r>
              <a:t>Build</a:t>
            </a:r>
          </a:p>
        </p:txBody>
      </p:sp>
      <p:sp>
        <p:nvSpPr>
          <p:cNvPr id="15" name="Rectangle 14"/>
          <p:cNvSpPr/>
          <p:nvPr/>
        </p:nvSpPr>
        <p:spPr>
          <a:xfrm>
            <a:off x="457200" y="15544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48640" y="1627632"/>
            <a:ext cx="2560320" cy="493776"/>
          </a:xfrm>
          <a:prstGeom prst="rect">
            <a:avLst/>
          </a:prstGeom>
          <a:noFill/>
        </p:spPr>
        <p:txBody>
          <a:bodyPr wrap="square">
            <a:spAutoFit/>
          </a:bodyPr>
          <a:lstStyle/>
          <a:p>
            <a:pPr algn="l"/>
            <a:r>
              <a:rPr sz="900" b="1">
                <a:solidFill>
                  <a:srgbClr val="1A2754"/>
                </a:solidFill>
                <a:latin typeface="Calibri"/>
              </a:rPr>
              <a:t>Time to Pilot</a:t>
            </a:r>
          </a:p>
        </p:txBody>
      </p:sp>
      <p:sp>
        <p:nvSpPr>
          <p:cNvPr id="17" name="Rectangle 16"/>
          <p:cNvSpPr/>
          <p:nvPr/>
        </p:nvSpPr>
        <p:spPr>
          <a:xfrm>
            <a:off x="3200400" y="1554480"/>
            <a:ext cx="3200400" cy="6400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3291840" y="1627632"/>
            <a:ext cx="3017520" cy="493776"/>
          </a:xfrm>
          <a:prstGeom prst="rect">
            <a:avLst/>
          </a:prstGeom>
          <a:noFill/>
        </p:spPr>
        <p:txBody>
          <a:bodyPr wrap="square">
            <a:spAutoFit/>
          </a:bodyPr>
          <a:lstStyle/>
          <a:p>
            <a:pPr algn="l"/>
            <a:r>
              <a:rPr sz="850" b="0">
                <a:solidFill>
                  <a:srgbClr val="1A2754"/>
                </a:solidFill>
                <a:latin typeface="Calibri"/>
              </a:rPr>
              <a:t>8 weeks</a:t>
            </a:r>
          </a:p>
        </p:txBody>
      </p:sp>
      <p:sp>
        <p:nvSpPr>
          <p:cNvPr id="19" name="Rectangle 18"/>
          <p:cNvSpPr/>
          <p:nvPr/>
        </p:nvSpPr>
        <p:spPr>
          <a:xfrm>
            <a:off x="6400800" y="15544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492240" y="1627632"/>
            <a:ext cx="2560320" cy="493776"/>
          </a:xfrm>
          <a:prstGeom prst="rect">
            <a:avLst/>
          </a:prstGeom>
          <a:noFill/>
        </p:spPr>
        <p:txBody>
          <a:bodyPr wrap="square">
            <a:spAutoFit/>
          </a:bodyPr>
          <a:lstStyle/>
          <a:p>
            <a:pPr algn="l"/>
            <a:r>
              <a:rPr sz="850" b="0">
                <a:solidFill>
                  <a:srgbClr val="475569"/>
                </a:solidFill>
                <a:latin typeface="Calibri"/>
              </a:rPr>
              <a:t>6+ months</a:t>
            </a:r>
          </a:p>
        </p:txBody>
      </p:sp>
      <p:sp>
        <p:nvSpPr>
          <p:cNvPr id="21" name="Rectangle 20"/>
          <p:cNvSpPr/>
          <p:nvPr/>
        </p:nvSpPr>
        <p:spPr>
          <a:xfrm>
            <a:off x="9144000" y="1554480"/>
            <a:ext cx="256032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9235440" y="1627632"/>
            <a:ext cx="2377440" cy="493776"/>
          </a:xfrm>
          <a:prstGeom prst="rect">
            <a:avLst/>
          </a:prstGeom>
          <a:noFill/>
        </p:spPr>
        <p:txBody>
          <a:bodyPr wrap="square">
            <a:spAutoFit/>
          </a:bodyPr>
          <a:lstStyle/>
          <a:p>
            <a:pPr algn="l"/>
            <a:r>
              <a:rPr sz="850" b="0">
                <a:solidFill>
                  <a:srgbClr val="475569"/>
                </a:solidFill>
                <a:latin typeface="Calibri"/>
              </a:rPr>
              <a:t>9-12 months</a:t>
            </a:r>
          </a:p>
        </p:txBody>
      </p:sp>
      <p:sp>
        <p:nvSpPr>
          <p:cNvPr id="23" name="Rectangle 22"/>
          <p:cNvSpPr/>
          <p:nvPr/>
        </p:nvSpPr>
        <p:spPr>
          <a:xfrm>
            <a:off x="457200" y="22402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548640" y="2313432"/>
            <a:ext cx="2560320" cy="493776"/>
          </a:xfrm>
          <a:prstGeom prst="rect">
            <a:avLst/>
          </a:prstGeom>
          <a:noFill/>
        </p:spPr>
        <p:txBody>
          <a:bodyPr wrap="square">
            <a:spAutoFit/>
          </a:bodyPr>
          <a:lstStyle/>
          <a:p>
            <a:pPr algn="l"/>
            <a:r>
              <a:rPr sz="900" b="1">
                <a:solidFill>
                  <a:srgbClr val="1A2754"/>
                </a:solidFill>
                <a:latin typeface="Calibri"/>
              </a:rPr>
              <a:t>Team Size</a:t>
            </a:r>
          </a:p>
        </p:txBody>
      </p:sp>
      <p:sp>
        <p:nvSpPr>
          <p:cNvPr id="25" name="Rectangle 24"/>
          <p:cNvSpPr/>
          <p:nvPr/>
        </p:nvSpPr>
        <p:spPr>
          <a:xfrm>
            <a:off x="3200400" y="2240280"/>
            <a:ext cx="3200400" cy="6400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6" name="TextBox 25"/>
          <p:cNvSpPr txBox="1"/>
          <p:nvPr/>
        </p:nvSpPr>
        <p:spPr>
          <a:xfrm>
            <a:off x="3291840" y="2313432"/>
            <a:ext cx="3017520" cy="493776"/>
          </a:xfrm>
          <a:prstGeom prst="rect">
            <a:avLst/>
          </a:prstGeom>
          <a:noFill/>
        </p:spPr>
        <p:txBody>
          <a:bodyPr wrap="square">
            <a:spAutoFit/>
          </a:bodyPr>
          <a:lstStyle/>
          <a:p>
            <a:pPr algn="l"/>
            <a:r>
              <a:rPr sz="850" b="0">
                <a:solidFill>
                  <a:srgbClr val="1A2754"/>
                </a:solidFill>
                <a:latin typeface="Calibri"/>
              </a:rPr>
              <a:t>3-person pod + AI</a:t>
            </a:r>
          </a:p>
        </p:txBody>
      </p:sp>
      <p:sp>
        <p:nvSpPr>
          <p:cNvPr id="27" name="Rectangle 26"/>
          <p:cNvSpPr/>
          <p:nvPr/>
        </p:nvSpPr>
        <p:spPr>
          <a:xfrm>
            <a:off x="6400800" y="22402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492240" y="2313432"/>
            <a:ext cx="2560320" cy="493776"/>
          </a:xfrm>
          <a:prstGeom prst="rect">
            <a:avLst/>
          </a:prstGeom>
          <a:noFill/>
        </p:spPr>
        <p:txBody>
          <a:bodyPr wrap="square">
            <a:spAutoFit/>
          </a:bodyPr>
          <a:lstStyle/>
          <a:p>
            <a:pPr algn="l"/>
            <a:r>
              <a:rPr sz="850" b="0">
                <a:solidFill>
                  <a:srgbClr val="475569"/>
                </a:solidFill>
                <a:latin typeface="Calibri"/>
              </a:rPr>
              <a:t>10-15 people</a:t>
            </a:r>
          </a:p>
        </p:txBody>
      </p:sp>
      <p:sp>
        <p:nvSpPr>
          <p:cNvPr id="29" name="Rectangle 28"/>
          <p:cNvSpPr/>
          <p:nvPr/>
        </p:nvSpPr>
        <p:spPr>
          <a:xfrm>
            <a:off x="9144000" y="2240280"/>
            <a:ext cx="256032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9235440" y="2313432"/>
            <a:ext cx="2377440" cy="493776"/>
          </a:xfrm>
          <a:prstGeom prst="rect">
            <a:avLst/>
          </a:prstGeom>
          <a:noFill/>
        </p:spPr>
        <p:txBody>
          <a:bodyPr wrap="square">
            <a:spAutoFit/>
          </a:bodyPr>
          <a:lstStyle/>
          <a:p>
            <a:pPr algn="l"/>
            <a:r>
              <a:rPr sz="850" b="0">
                <a:solidFill>
                  <a:srgbClr val="475569"/>
                </a:solidFill>
                <a:latin typeface="Calibri"/>
              </a:rPr>
              <a:t>5-8 FTEs to hire</a:t>
            </a:r>
          </a:p>
        </p:txBody>
      </p:sp>
      <p:sp>
        <p:nvSpPr>
          <p:cNvPr id="31" name="Rectangle 30"/>
          <p:cNvSpPr/>
          <p:nvPr/>
        </p:nvSpPr>
        <p:spPr>
          <a:xfrm>
            <a:off x="457200" y="29260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548640" y="2999232"/>
            <a:ext cx="2560320" cy="493776"/>
          </a:xfrm>
          <a:prstGeom prst="rect">
            <a:avLst/>
          </a:prstGeom>
          <a:noFill/>
        </p:spPr>
        <p:txBody>
          <a:bodyPr wrap="square">
            <a:spAutoFit/>
          </a:bodyPr>
          <a:lstStyle/>
          <a:p>
            <a:pPr algn="l"/>
            <a:r>
              <a:rPr sz="900" b="1">
                <a:solidFill>
                  <a:srgbClr val="1A2754"/>
                </a:solidFill>
                <a:latin typeface="Calibri"/>
              </a:rPr>
              <a:t>Cost Model</a:t>
            </a:r>
          </a:p>
        </p:txBody>
      </p:sp>
      <p:sp>
        <p:nvSpPr>
          <p:cNvPr id="33" name="Rectangle 32"/>
          <p:cNvSpPr/>
          <p:nvPr/>
        </p:nvSpPr>
        <p:spPr>
          <a:xfrm>
            <a:off x="3200400" y="2926080"/>
            <a:ext cx="3200400" cy="6400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4" name="TextBox 33"/>
          <p:cNvSpPr txBox="1"/>
          <p:nvPr/>
        </p:nvSpPr>
        <p:spPr>
          <a:xfrm>
            <a:off x="3291840" y="2999232"/>
            <a:ext cx="3017520" cy="493776"/>
          </a:xfrm>
          <a:prstGeom prst="rect">
            <a:avLst/>
          </a:prstGeom>
          <a:noFill/>
        </p:spPr>
        <p:txBody>
          <a:bodyPr wrap="square">
            <a:spAutoFit/>
          </a:bodyPr>
          <a:lstStyle/>
          <a:p>
            <a:pPr algn="l"/>
            <a:r>
              <a:rPr sz="850" b="0">
                <a:solidFill>
                  <a:srgbClr val="1A2754"/>
                </a:solidFill>
                <a:latin typeface="Calibri"/>
              </a:rPr>
              <a:t>Fixed-price outcome</a:t>
            </a:r>
          </a:p>
        </p:txBody>
      </p:sp>
      <p:sp>
        <p:nvSpPr>
          <p:cNvPr id="35" name="Rectangle 34"/>
          <p:cNvSpPr/>
          <p:nvPr/>
        </p:nvSpPr>
        <p:spPr>
          <a:xfrm>
            <a:off x="6400800" y="29260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492240" y="2999232"/>
            <a:ext cx="2560320" cy="493776"/>
          </a:xfrm>
          <a:prstGeom prst="rect">
            <a:avLst/>
          </a:prstGeom>
          <a:noFill/>
        </p:spPr>
        <p:txBody>
          <a:bodyPr wrap="square">
            <a:spAutoFit/>
          </a:bodyPr>
          <a:lstStyle/>
          <a:p>
            <a:pPr algn="l"/>
            <a:r>
              <a:rPr sz="850" b="0">
                <a:solidFill>
                  <a:srgbClr val="475569"/>
                </a:solidFill>
                <a:latin typeface="Calibri"/>
              </a:rPr>
              <a:t>$15-25K/mo per dev (T&amp;M)</a:t>
            </a:r>
          </a:p>
        </p:txBody>
      </p:sp>
      <p:sp>
        <p:nvSpPr>
          <p:cNvPr id="37" name="Rectangle 36"/>
          <p:cNvSpPr/>
          <p:nvPr/>
        </p:nvSpPr>
        <p:spPr>
          <a:xfrm>
            <a:off x="9144000" y="2926080"/>
            <a:ext cx="256032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9235440" y="2999232"/>
            <a:ext cx="2377440" cy="493776"/>
          </a:xfrm>
          <a:prstGeom prst="rect">
            <a:avLst/>
          </a:prstGeom>
          <a:noFill/>
        </p:spPr>
        <p:txBody>
          <a:bodyPr wrap="square">
            <a:spAutoFit/>
          </a:bodyPr>
          <a:lstStyle/>
          <a:p>
            <a:pPr algn="l"/>
            <a:r>
              <a:rPr sz="850" b="0">
                <a:solidFill>
                  <a:srgbClr val="475569"/>
                </a:solidFill>
                <a:latin typeface="Calibri"/>
              </a:rPr>
              <a:t>Salary + infra + opportunity</a:t>
            </a:r>
          </a:p>
        </p:txBody>
      </p:sp>
      <p:sp>
        <p:nvSpPr>
          <p:cNvPr id="39" name="Rectangle 38"/>
          <p:cNvSpPr/>
          <p:nvPr/>
        </p:nvSpPr>
        <p:spPr>
          <a:xfrm>
            <a:off x="457200" y="36118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0" name="TextBox 39"/>
          <p:cNvSpPr txBox="1"/>
          <p:nvPr/>
        </p:nvSpPr>
        <p:spPr>
          <a:xfrm>
            <a:off x="548640" y="3685032"/>
            <a:ext cx="2560320" cy="493776"/>
          </a:xfrm>
          <a:prstGeom prst="rect">
            <a:avLst/>
          </a:prstGeom>
          <a:noFill/>
        </p:spPr>
        <p:txBody>
          <a:bodyPr wrap="square">
            <a:spAutoFit/>
          </a:bodyPr>
          <a:lstStyle/>
          <a:p>
            <a:pPr algn="l"/>
            <a:r>
              <a:rPr sz="900" b="1">
                <a:solidFill>
                  <a:srgbClr val="1A2754"/>
                </a:solidFill>
                <a:latin typeface="Calibri"/>
              </a:rPr>
              <a:t>24/7 Capability</a:t>
            </a:r>
          </a:p>
        </p:txBody>
      </p:sp>
      <p:sp>
        <p:nvSpPr>
          <p:cNvPr id="41" name="Rectangle 40"/>
          <p:cNvSpPr/>
          <p:nvPr/>
        </p:nvSpPr>
        <p:spPr>
          <a:xfrm>
            <a:off x="3200400" y="3611880"/>
            <a:ext cx="3200400" cy="6400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TextBox 41"/>
          <p:cNvSpPr txBox="1"/>
          <p:nvPr/>
        </p:nvSpPr>
        <p:spPr>
          <a:xfrm>
            <a:off x="3291840" y="3685032"/>
            <a:ext cx="3017520" cy="493776"/>
          </a:xfrm>
          <a:prstGeom prst="rect">
            <a:avLst/>
          </a:prstGeom>
          <a:noFill/>
        </p:spPr>
        <p:txBody>
          <a:bodyPr wrap="square">
            <a:spAutoFit/>
          </a:bodyPr>
          <a:lstStyle/>
          <a:p>
            <a:pPr algn="l"/>
            <a:r>
              <a:rPr sz="850" b="0">
                <a:solidFill>
                  <a:srgbClr val="1A2754"/>
                </a:solidFill>
                <a:latin typeface="Calibri"/>
              </a:rPr>
              <a:t>AI agents work overnight</a:t>
            </a:r>
          </a:p>
        </p:txBody>
      </p:sp>
      <p:sp>
        <p:nvSpPr>
          <p:cNvPr id="43" name="Rectangle 42"/>
          <p:cNvSpPr/>
          <p:nvPr/>
        </p:nvSpPr>
        <p:spPr>
          <a:xfrm>
            <a:off x="6400800" y="36118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4" name="TextBox 43"/>
          <p:cNvSpPr txBox="1"/>
          <p:nvPr/>
        </p:nvSpPr>
        <p:spPr>
          <a:xfrm>
            <a:off x="6492240" y="3685032"/>
            <a:ext cx="2560320" cy="493776"/>
          </a:xfrm>
          <a:prstGeom prst="rect">
            <a:avLst/>
          </a:prstGeom>
          <a:noFill/>
        </p:spPr>
        <p:txBody>
          <a:bodyPr wrap="square">
            <a:spAutoFit/>
          </a:bodyPr>
          <a:lstStyle/>
          <a:p>
            <a:pPr algn="l"/>
            <a:r>
              <a:rPr sz="850" b="0">
                <a:solidFill>
                  <a:srgbClr val="475569"/>
                </a:solidFill>
                <a:latin typeface="Calibri"/>
              </a:rPr>
              <a:t>Business hours only</a:t>
            </a:r>
          </a:p>
        </p:txBody>
      </p:sp>
      <p:sp>
        <p:nvSpPr>
          <p:cNvPr id="45" name="Rectangle 44"/>
          <p:cNvSpPr/>
          <p:nvPr/>
        </p:nvSpPr>
        <p:spPr>
          <a:xfrm>
            <a:off x="9144000" y="3611880"/>
            <a:ext cx="256032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6" name="TextBox 45"/>
          <p:cNvSpPr txBox="1"/>
          <p:nvPr/>
        </p:nvSpPr>
        <p:spPr>
          <a:xfrm>
            <a:off x="9235440" y="3685032"/>
            <a:ext cx="2377440" cy="493776"/>
          </a:xfrm>
          <a:prstGeom prst="rect">
            <a:avLst/>
          </a:prstGeom>
          <a:noFill/>
        </p:spPr>
        <p:txBody>
          <a:bodyPr wrap="square">
            <a:spAutoFit/>
          </a:bodyPr>
          <a:lstStyle/>
          <a:p>
            <a:pPr algn="l"/>
            <a:r>
              <a:rPr sz="850" b="0">
                <a:solidFill>
                  <a:srgbClr val="475569"/>
                </a:solidFill>
                <a:latin typeface="Calibri"/>
              </a:rPr>
              <a:t>Business hours only</a:t>
            </a:r>
          </a:p>
        </p:txBody>
      </p:sp>
      <p:sp>
        <p:nvSpPr>
          <p:cNvPr id="47" name="Rectangle 46"/>
          <p:cNvSpPr/>
          <p:nvPr/>
        </p:nvSpPr>
        <p:spPr>
          <a:xfrm>
            <a:off x="457200" y="42976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548640" y="4370832"/>
            <a:ext cx="2560320" cy="493776"/>
          </a:xfrm>
          <a:prstGeom prst="rect">
            <a:avLst/>
          </a:prstGeom>
          <a:noFill/>
        </p:spPr>
        <p:txBody>
          <a:bodyPr wrap="square">
            <a:spAutoFit/>
          </a:bodyPr>
          <a:lstStyle/>
          <a:p>
            <a:pPr algn="l"/>
            <a:r>
              <a:rPr sz="900" b="1">
                <a:solidFill>
                  <a:srgbClr val="1A2754"/>
                </a:solidFill>
                <a:latin typeface="Calibri"/>
              </a:rPr>
              <a:t>Accelerator IP</a:t>
            </a:r>
          </a:p>
        </p:txBody>
      </p:sp>
      <p:sp>
        <p:nvSpPr>
          <p:cNvPr id="49" name="Rectangle 48"/>
          <p:cNvSpPr/>
          <p:nvPr/>
        </p:nvSpPr>
        <p:spPr>
          <a:xfrm>
            <a:off x="3200400" y="4297680"/>
            <a:ext cx="3200400" cy="6400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0" name="TextBox 49"/>
          <p:cNvSpPr txBox="1"/>
          <p:nvPr/>
        </p:nvSpPr>
        <p:spPr>
          <a:xfrm>
            <a:off x="3291840" y="4370832"/>
            <a:ext cx="3017520" cy="493776"/>
          </a:xfrm>
          <a:prstGeom prst="rect">
            <a:avLst/>
          </a:prstGeom>
          <a:noFill/>
        </p:spPr>
        <p:txBody>
          <a:bodyPr wrap="square">
            <a:spAutoFit/>
          </a:bodyPr>
          <a:lstStyle/>
          <a:p>
            <a:pPr algn="l"/>
            <a:r>
              <a:rPr sz="850" b="0">
                <a:solidFill>
                  <a:srgbClr val="1A2754"/>
                </a:solidFill>
                <a:latin typeface="Calibri"/>
              </a:rPr>
              <a:t>6 reusable accelerators</a:t>
            </a:r>
          </a:p>
        </p:txBody>
      </p:sp>
      <p:sp>
        <p:nvSpPr>
          <p:cNvPr id="51" name="Rectangle 50"/>
          <p:cNvSpPr/>
          <p:nvPr/>
        </p:nvSpPr>
        <p:spPr>
          <a:xfrm>
            <a:off x="6400800" y="42976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2" name="TextBox 51"/>
          <p:cNvSpPr txBox="1"/>
          <p:nvPr/>
        </p:nvSpPr>
        <p:spPr>
          <a:xfrm>
            <a:off x="6492240" y="4370832"/>
            <a:ext cx="2560320" cy="493776"/>
          </a:xfrm>
          <a:prstGeom prst="rect">
            <a:avLst/>
          </a:prstGeom>
          <a:noFill/>
        </p:spPr>
        <p:txBody>
          <a:bodyPr wrap="square">
            <a:spAutoFit/>
          </a:bodyPr>
          <a:lstStyle/>
          <a:p>
            <a:pPr algn="l"/>
            <a:r>
              <a:rPr sz="850" b="0">
                <a:solidFill>
                  <a:srgbClr val="475569"/>
                </a:solidFill>
                <a:latin typeface="Calibri"/>
              </a:rPr>
              <a:t>Build from scratch</a:t>
            </a:r>
          </a:p>
        </p:txBody>
      </p:sp>
      <p:sp>
        <p:nvSpPr>
          <p:cNvPr id="53" name="Rectangle 52"/>
          <p:cNvSpPr/>
          <p:nvPr/>
        </p:nvSpPr>
        <p:spPr>
          <a:xfrm>
            <a:off x="9144000" y="4297680"/>
            <a:ext cx="256032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4" name="TextBox 53"/>
          <p:cNvSpPr txBox="1"/>
          <p:nvPr/>
        </p:nvSpPr>
        <p:spPr>
          <a:xfrm>
            <a:off x="9235440" y="4370832"/>
            <a:ext cx="2377440" cy="493776"/>
          </a:xfrm>
          <a:prstGeom prst="rect">
            <a:avLst/>
          </a:prstGeom>
          <a:noFill/>
        </p:spPr>
        <p:txBody>
          <a:bodyPr wrap="square">
            <a:spAutoFit/>
          </a:bodyPr>
          <a:lstStyle/>
          <a:p>
            <a:pPr algn="l"/>
            <a:r>
              <a:rPr sz="850" b="0">
                <a:solidFill>
                  <a:srgbClr val="475569"/>
                </a:solidFill>
                <a:latin typeface="Calibri"/>
              </a:rPr>
              <a:t>Build from scratch</a:t>
            </a:r>
          </a:p>
        </p:txBody>
      </p:sp>
      <p:sp>
        <p:nvSpPr>
          <p:cNvPr id="55" name="Rectangle 54"/>
          <p:cNvSpPr/>
          <p:nvPr/>
        </p:nvSpPr>
        <p:spPr>
          <a:xfrm>
            <a:off x="457200" y="49834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6" name="TextBox 55"/>
          <p:cNvSpPr txBox="1"/>
          <p:nvPr/>
        </p:nvSpPr>
        <p:spPr>
          <a:xfrm>
            <a:off x="548640" y="5056632"/>
            <a:ext cx="2560320" cy="493776"/>
          </a:xfrm>
          <a:prstGeom prst="rect">
            <a:avLst/>
          </a:prstGeom>
          <a:noFill/>
        </p:spPr>
        <p:txBody>
          <a:bodyPr wrap="square">
            <a:spAutoFit/>
          </a:bodyPr>
          <a:lstStyle/>
          <a:p>
            <a:pPr algn="l"/>
            <a:r>
              <a:rPr sz="900" b="1">
                <a:solidFill>
                  <a:srgbClr val="1A2754"/>
                </a:solidFill>
                <a:latin typeface="Calibri"/>
              </a:rPr>
              <a:t>Plant Integration</a:t>
            </a:r>
          </a:p>
        </p:txBody>
      </p:sp>
      <p:sp>
        <p:nvSpPr>
          <p:cNvPr id="57" name="Rectangle 56"/>
          <p:cNvSpPr/>
          <p:nvPr/>
        </p:nvSpPr>
        <p:spPr>
          <a:xfrm>
            <a:off x="3200400" y="4983480"/>
            <a:ext cx="3200400" cy="6400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8" name="TextBox 57"/>
          <p:cNvSpPr txBox="1"/>
          <p:nvPr/>
        </p:nvSpPr>
        <p:spPr>
          <a:xfrm>
            <a:off x="3291840" y="5056632"/>
            <a:ext cx="3017520" cy="493776"/>
          </a:xfrm>
          <a:prstGeom prst="rect">
            <a:avLst/>
          </a:prstGeom>
          <a:noFill/>
        </p:spPr>
        <p:txBody>
          <a:bodyPr wrap="square">
            <a:spAutoFit/>
          </a:bodyPr>
          <a:lstStyle/>
          <a:p>
            <a:pPr algn="l"/>
            <a:r>
              <a:rPr sz="850" b="0">
                <a:solidFill>
                  <a:srgbClr val="1A2754"/>
                </a:solidFill>
                <a:latin typeface="Calibri"/>
              </a:rPr>
              <a:t>OPC-UA, MES, SCADA native</a:t>
            </a:r>
          </a:p>
        </p:txBody>
      </p:sp>
      <p:sp>
        <p:nvSpPr>
          <p:cNvPr id="59" name="Rectangle 58"/>
          <p:cNvSpPr/>
          <p:nvPr/>
        </p:nvSpPr>
        <p:spPr>
          <a:xfrm>
            <a:off x="6400800" y="49834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0" name="TextBox 59"/>
          <p:cNvSpPr txBox="1"/>
          <p:nvPr/>
        </p:nvSpPr>
        <p:spPr>
          <a:xfrm>
            <a:off x="6492240" y="5056632"/>
            <a:ext cx="2560320" cy="493776"/>
          </a:xfrm>
          <a:prstGeom prst="rect">
            <a:avLst/>
          </a:prstGeom>
          <a:noFill/>
        </p:spPr>
        <p:txBody>
          <a:bodyPr wrap="square">
            <a:spAutoFit/>
          </a:bodyPr>
          <a:lstStyle/>
          <a:p>
            <a:pPr algn="l"/>
            <a:r>
              <a:rPr sz="850" b="0">
                <a:solidFill>
                  <a:srgbClr val="475569"/>
                </a:solidFill>
                <a:latin typeface="Calibri"/>
              </a:rPr>
              <a:t>Subcontracted</a:t>
            </a:r>
          </a:p>
        </p:txBody>
      </p:sp>
      <p:sp>
        <p:nvSpPr>
          <p:cNvPr id="61" name="Rectangle 60"/>
          <p:cNvSpPr/>
          <p:nvPr/>
        </p:nvSpPr>
        <p:spPr>
          <a:xfrm>
            <a:off x="9144000" y="4983480"/>
            <a:ext cx="256032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2" name="TextBox 61"/>
          <p:cNvSpPr txBox="1"/>
          <p:nvPr/>
        </p:nvSpPr>
        <p:spPr>
          <a:xfrm>
            <a:off x="9235440" y="5056632"/>
            <a:ext cx="2377440" cy="493776"/>
          </a:xfrm>
          <a:prstGeom prst="rect">
            <a:avLst/>
          </a:prstGeom>
          <a:noFill/>
        </p:spPr>
        <p:txBody>
          <a:bodyPr wrap="square">
            <a:spAutoFit/>
          </a:bodyPr>
          <a:lstStyle/>
          <a:p>
            <a:pPr algn="l"/>
            <a:r>
              <a:rPr sz="850" b="0">
                <a:solidFill>
                  <a:srgbClr val="475569"/>
                </a:solidFill>
                <a:latin typeface="Calibri"/>
              </a:rPr>
              <a:t>Learning curve</a:t>
            </a:r>
          </a:p>
        </p:txBody>
      </p:sp>
      <p:sp>
        <p:nvSpPr>
          <p:cNvPr id="63" name="Rectangle 62"/>
          <p:cNvSpPr/>
          <p:nvPr/>
        </p:nvSpPr>
        <p:spPr>
          <a:xfrm>
            <a:off x="457200" y="56692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4" name="TextBox 63"/>
          <p:cNvSpPr txBox="1"/>
          <p:nvPr/>
        </p:nvSpPr>
        <p:spPr>
          <a:xfrm>
            <a:off x="548640" y="5742432"/>
            <a:ext cx="2560320" cy="493776"/>
          </a:xfrm>
          <a:prstGeom prst="rect">
            <a:avLst/>
          </a:prstGeom>
          <a:noFill/>
        </p:spPr>
        <p:txBody>
          <a:bodyPr wrap="square">
            <a:spAutoFit/>
          </a:bodyPr>
          <a:lstStyle/>
          <a:p>
            <a:pPr algn="l"/>
            <a:r>
              <a:rPr sz="900" b="1">
                <a:solidFill>
                  <a:srgbClr val="1A2754"/>
                </a:solidFill>
                <a:latin typeface="Calibri"/>
              </a:rPr>
              <a:t>Incentive Alignment</a:t>
            </a:r>
          </a:p>
        </p:txBody>
      </p:sp>
      <p:sp>
        <p:nvSpPr>
          <p:cNvPr id="65" name="Rectangle 64"/>
          <p:cNvSpPr/>
          <p:nvPr/>
        </p:nvSpPr>
        <p:spPr>
          <a:xfrm>
            <a:off x="3200400" y="5669280"/>
            <a:ext cx="3200400" cy="640080"/>
          </a:xfrm>
          <a:prstGeom prst="rect">
            <a:avLst/>
          </a:prstGeom>
          <a:solidFill>
            <a:srgbClr val="F0FDF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6" name="TextBox 65"/>
          <p:cNvSpPr txBox="1"/>
          <p:nvPr/>
        </p:nvSpPr>
        <p:spPr>
          <a:xfrm>
            <a:off x="3291840" y="5742432"/>
            <a:ext cx="3017520" cy="493776"/>
          </a:xfrm>
          <a:prstGeom prst="rect">
            <a:avLst/>
          </a:prstGeom>
          <a:noFill/>
        </p:spPr>
        <p:txBody>
          <a:bodyPr wrap="square">
            <a:spAutoFit/>
          </a:bodyPr>
          <a:lstStyle/>
          <a:p>
            <a:pPr algn="l"/>
            <a:r>
              <a:rPr sz="850" b="0">
                <a:solidFill>
                  <a:srgbClr val="1A2754"/>
                </a:solidFill>
                <a:latin typeface="Calibri"/>
              </a:rPr>
              <a:t>Faster = better for both</a:t>
            </a:r>
          </a:p>
        </p:txBody>
      </p:sp>
      <p:sp>
        <p:nvSpPr>
          <p:cNvPr id="67" name="Rectangle 66"/>
          <p:cNvSpPr/>
          <p:nvPr/>
        </p:nvSpPr>
        <p:spPr>
          <a:xfrm>
            <a:off x="6400800" y="5669280"/>
            <a:ext cx="274320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8" name="TextBox 67"/>
          <p:cNvSpPr txBox="1"/>
          <p:nvPr/>
        </p:nvSpPr>
        <p:spPr>
          <a:xfrm>
            <a:off x="6492240" y="5742432"/>
            <a:ext cx="2560320" cy="493776"/>
          </a:xfrm>
          <a:prstGeom prst="rect">
            <a:avLst/>
          </a:prstGeom>
          <a:noFill/>
        </p:spPr>
        <p:txBody>
          <a:bodyPr wrap="square">
            <a:spAutoFit/>
          </a:bodyPr>
          <a:lstStyle/>
          <a:p>
            <a:pPr algn="l"/>
            <a:r>
              <a:rPr sz="850" b="0">
                <a:solidFill>
                  <a:srgbClr val="475569"/>
                </a:solidFill>
                <a:latin typeface="Calibri"/>
              </a:rPr>
              <a:t>More hours = more revenue</a:t>
            </a:r>
          </a:p>
        </p:txBody>
      </p:sp>
      <p:sp>
        <p:nvSpPr>
          <p:cNvPr id="69" name="Rectangle 68"/>
          <p:cNvSpPr/>
          <p:nvPr/>
        </p:nvSpPr>
        <p:spPr>
          <a:xfrm>
            <a:off x="9144000" y="5669280"/>
            <a:ext cx="2560320" cy="640080"/>
          </a:xfrm>
          <a:prstGeom prst="rect">
            <a:avLst/>
          </a:prstGeom>
          <a:solidFill>
            <a:srgbClr val="F8FAF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0" name="TextBox 69"/>
          <p:cNvSpPr txBox="1"/>
          <p:nvPr/>
        </p:nvSpPr>
        <p:spPr>
          <a:xfrm>
            <a:off x="9235440" y="5742432"/>
            <a:ext cx="2377440" cy="493776"/>
          </a:xfrm>
          <a:prstGeom prst="rect">
            <a:avLst/>
          </a:prstGeom>
          <a:noFill/>
        </p:spPr>
        <p:txBody>
          <a:bodyPr wrap="square">
            <a:spAutoFit/>
          </a:bodyPr>
          <a:lstStyle/>
          <a:p>
            <a:pPr algn="l"/>
            <a:r>
              <a:rPr sz="850" b="0">
                <a:solidFill>
                  <a:srgbClr val="475569"/>
                </a:solidFill>
                <a:latin typeface="Calibri"/>
              </a:rPr>
              <a:t>Competing priorities</a:t>
            </a:r>
          </a:p>
        </p:txBody>
      </p:sp>
      <p:sp>
        <p:nvSpPr>
          <p:cNvPr id="71" name="Rectangle 70"/>
          <p:cNvSpPr/>
          <p:nvPr/>
        </p:nvSpPr>
        <p:spPr>
          <a:xfrm>
            <a:off x="457200" y="6354552"/>
            <a:ext cx="11247120" cy="0"/>
          </a:xfrm>
          <a:prstGeom prst="rect">
            <a:avLst/>
          </a:prstGeom>
          <a:solidFill>
            <a:srgbClr val="F1F5F9"/>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2" name="Rectangle 71"/>
          <p:cNvSpPr/>
          <p:nvPr/>
        </p:nvSpPr>
        <p:spPr>
          <a:xfrm>
            <a:off x="0" y="6400800"/>
            <a:ext cx="12191695" cy="457200"/>
          </a:xfrm>
          <a:prstGeom prst="rect">
            <a:avLst/>
          </a:prstGeom>
          <a:solidFill>
            <a:srgbClr val="0F172A"/>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3" name="TextBox 72"/>
          <p:cNvSpPr txBox="1"/>
          <p:nvPr/>
        </p:nvSpPr>
        <p:spPr>
          <a:xfrm>
            <a:off x="457200" y="6446520"/>
            <a:ext cx="7315200" cy="365760"/>
          </a:xfrm>
          <a:prstGeom prst="rect">
            <a:avLst/>
          </a:prstGeom>
          <a:noFill/>
        </p:spPr>
        <p:txBody>
          <a:bodyPr wrap="square">
            <a:spAutoFit/>
          </a:bodyPr>
          <a:lstStyle/>
          <a:p>
            <a:pPr algn="l"/>
            <a:r>
              <a:rPr sz="900" b="1">
                <a:solidFill>
                  <a:srgbClr val="CBD5E1"/>
                </a:solidFill>
                <a:latin typeface="Calibri"/>
              </a:rPr>
              <a:t>PeopleTech · AI Engineering Team</a:t>
            </a:r>
          </a:p>
        </p:txBody>
      </p:sp>
      <p:sp>
        <p:nvSpPr>
          <p:cNvPr id="74" name="TextBox 73"/>
          <p:cNvSpPr txBox="1"/>
          <p:nvPr/>
        </p:nvSpPr>
        <p:spPr>
          <a:xfrm>
            <a:off x="7772400" y="6446520"/>
            <a:ext cx="3931920" cy="365760"/>
          </a:xfrm>
          <a:prstGeom prst="rect">
            <a:avLst/>
          </a:prstGeom>
          <a:noFill/>
        </p:spPr>
        <p:txBody>
          <a:bodyPr wrap="square">
            <a:spAutoFit/>
          </a:bodyPr>
          <a:lstStyle/>
          <a:p>
            <a:pPr algn="r"/>
            <a:r>
              <a:rPr sz="900" b="0">
                <a:solidFill>
                  <a:srgbClr val="94A3B8"/>
                </a:solidFill>
                <a:latin typeface="Calibri"/>
              </a:rPr>
              <a:t>20 / 20 · CONFIDENTIAL</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
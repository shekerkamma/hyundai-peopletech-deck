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Motor Group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Pre-Sales Deal Prep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AI Plant Operations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2194560" cy="329184"/>
          </a:xfrm>
          <a:prstGeom prst="roundRect">
            <a:avLst>
              <a:gd name="adj" fmla="val 27778"/>
            </a:avLst>
          </a:prstGeom>
          <a:solidFill>
            <a:srgbClr val="E318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$132B Revenue  |  250K Employees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PeopleTech AI Engineering —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Snapshot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Motor Group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26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$132B trailing twelve months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brands: Hyundai, Kia, Genesis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37160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0" name="Text 8"/>
          <p:cNvSpPr/>
          <p:nvPr/>
        </p:nvSpPr>
        <p:spPr>
          <a:xfrm>
            <a:off x="6236208" y="1426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6208" y="177393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worldwide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manufacturing plants globally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6616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2102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Investments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96849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KRW 9T ($6.7B) new industrial complex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AI Factory (Blackwell)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plant Q4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56616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56616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362102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Makers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396849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Juncheul Jung — President, Manufacturing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Eunsook Jin — President, ICT/Digital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Manfred Harrer — President, R&amp;D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Hyundai is investing in right 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26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Factory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line switches between 10 model variants (hybrid, BEV, extended-range). Data and software drive production. Their manufacturing moat.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37160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0" name="Text 8"/>
          <p:cNvSpPr/>
          <p:nvPr/>
        </p:nvSpPr>
        <p:spPr>
          <a:xfrm>
            <a:off x="6236208" y="1426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AI Factory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6208" y="177393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Blackwell-based AI supercomputer for in-vehicle AI, autonomous driving, smart factories, and robotics. Foundation infrastructure.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6616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2102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(CES 2026)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96849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Atlas robots for human-robot collaboration. Theme: "Partnering Human Progress." Commercializing robotic co-workers.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56616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56616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362102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(Omniverse)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396849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digital twins for precision control, simulation, and virtual commissioning. Gap: no closed-loop to live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Hyundai needs help — and where PeopleTech fits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30352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26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SDF Globally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 works at pilot scale. Scaling to 15+ plants with consistent quality across 10 model variants requires AI orchestration.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371600"/>
            <a:ext cx="530352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6236208" y="1426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Across Variants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6208" y="177393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in J.D. Power today, but 10 models on one line = 10x failure modes. Traditional SPC can't adapt fast enough.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66160"/>
            <a:ext cx="530352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2102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Twin-to-Production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96849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exist (Omniverse) but the bridge to real-time production decisions is manual. No automated feedback loop.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566160"/>
            <a:ext cx="530352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566160"/>
            <a:ext cx="530352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362102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Plant Ramp-Up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3968496"/>
            <a:ext cx="50840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plant launching Q4 2026. Getting to full quality in months instead of 12-18 months is critical.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PeopleTech Positioning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decision layer between infrastructure and outcomes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Sensors/IoT  →  NVIDIA Omniverse Twin  →  PeopleTech AI Layer  →  Production Decisions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47472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15798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505456"/>
            <a:ext cx="325526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another IoT platform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(they have NVIDIA Omniverse)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 robotics company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(they have Boston Dynamics)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an ERP overlay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(they have SAP/Oracle)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2103120"/>
            <a:ext cx="347472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10312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1" name="Text 9"/>
          <p:cNvSpPr/>
          <p:nvPr/>
        </p:nvSpPr>
        <p:spPr>
          <a:xfrm>
            <a:off x="4315968" y="215798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15968" y="2505456"/>
            <a:ext cx="325526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decision layer between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infrastructure and outcomes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Purpose-built for multi-model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flexible manufacturing (SDF)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anomaly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 adapts per model variant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103120"/>
            <a:ext cx="347472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210312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5" name="Text 13"/>
          <p:cNvSpPr/>
          <p:nvPr/>
        </p:nvSpPr>
        <p:spPr>
          <a:xfrm>
            <a:off x="8065008" y="215798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Us, Not Them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65008" y="2505456"/>
            <a:ext cx="325526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AI-native (not retrofitted)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SDF-specific (no competitor has this)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to deploy: 90 days to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Complements NVIDIA/Omniverse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(doesn't compete)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fill the gap between Hyundai's infrastructure investments and operational AI outcomes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Proposals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approach: quick win → timely → strategic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3474720"/>
          </a:xfrm>
          <a:prstGeom prst="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347472"/>
          </a:xfrm>
          <a:prstGeom prst="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1: Predictive Quality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(Quick Win — 90 days)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3255264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 quality prediction on one SDF line with 3+ model variants at Ulsan Plant 5.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3-5% defect detection improvement.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1% defect reduction = ~$13M/year saved.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$500K-$1M pilot.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3474720"/>
          </a:xfrm>
          <a:prstGeom prst="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371600"/>
            <a:ext cx="3474720" cy="347472"/>
          </a:xfrm>
          <a:prstGeom prst="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31596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2: Greenfield Accelerator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(Timely — Saudi Q4 2026)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5968" y="1773936"/>
            <a:ext cx="3255264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ramp-up for Saudi Arabia plant. Compress time-to-full-quality from 12-18 months to 4-6 months.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Every month faster = 50K units × margin.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deployment: no legacy systems.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included in plant capex.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371600"/>
            <a:ext cx="3474720" cy="3474720"/>
          </a:xfrm>
          <a:prstGeom prst="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371600"/>
            <a:ext cx="3474720" cy="347472"/>
          </a:xfrm>
          <a:prstGeom prst="rect">
            <a:avLst>
              <a:gd name="adj" fmla="val 21053"/>
            </a:avLst>
          </a:prstGeom>
          <a:solidFill>
            <a:srgbClr val="1F3B6E"/>
          </a:solidFill>
          <a:ln/>
        </p:spPr>
      </p:sp>
      <p:sp>
        <p:nvSpPr>
          <p:cNvPr id="14" name="Text 12"/>
          <p:cNvSpPr/>
          <p:nvPr/>
        </p:nvSpPr>
        <p:spPr>
          <a:xfrm>
            <a:off x="806500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3: Closed-Loop Twin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(Strategic — 12 months)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65008" y="1773936"/>
            <a:ext cx="3255264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Omniverse twins to live production. Automated: sensor → twin → adjust → measure.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Closes the "last mile" of their biggest investment.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Eunsook Jin's ICT team.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$5-15M annually across 5 plants.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Objections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they'll say and how to respond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200400" cy="658368"/>
          </a:xfrm>
          <a:prstGeom prst="rect">
            <a:avLst/>
          </a:prstGeom>
          <a:solidFill>
            <a:srgbClr val="1F3B6E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371600"/>
            <a:ext cx="7772400" cy="658368"/>
          </a:xfrm>
          <a:prstGeom prst="rect">
            <a:avLst/>
          </a:prstGeom>
          <a:solidFill>
            <a:srgbClr val="1F3B6E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41732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305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working with Siemens"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2084832"/>
            <a:ext cx="7772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130552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AI is retrofitted. Ours is AI-native. Head-to-head on one 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320040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4378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"We'll build in-house with NVIDIA"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798064"/>
            <a:ext cx="777240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843784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= compute foundation. Manufacturing domain expertise = 15 years of ours. Saves 2-3 years.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5701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"Budget is allocated for 2026"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3511296"/>
            <a:ext cx="7772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557016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is &lt;$1M, discretionary for manufacturing org. Saudi plant falls under capex.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320040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7024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it work at our scale?"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4224528"/>
            <a:ext cx="777240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4270248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proof at Ulsan, hard metrics. If we miss, you keep the data for free.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937760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834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it integrate?"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4937760"/>
            <a:ext cx="7772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98348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OPC-UA from PLCs, REST to Omniverse, MQTT streaming. Containerized. No rip-and-replace.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Line &amp;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 with this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1097280"/>
          </a:xfrm>
          <a:prstGeom prst="rect">
            <a:avLst>
              <a:gd name="adj" fmla="val 8333"/>
            </a:avLst>
          </a:prstGeom>
          <a:solidFill>
            <a:srgbClr val="F5F7FA"/>
          </a:solidFill>
          <a:ln w="25400">
            <a:solidFill>
              <a:srgbClr val="1F3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Software-Defined Factory can switch between 10 models on a single line. That's a manufacturing breakthrough — but it also creates 10x the quality failure modes. We've built the AI layer that keeps quality at J.D. Power #1 while you scale SDF globally."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347472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62102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Discovery Workshop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968496"/>
            <a:ext cx="325526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workshop with SDF line team at Ulsan. We bring our manufacturing AI architect with a draft integration map.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3566160"/>
            <a:ext cx="347472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56616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4" name="Text 12"/>
          <p:cNvSpPr/>
          <p:nvPr/>
        </p:nvSpPr>
        <p:spPr>
          <a:xfrm>
            <a:off x="4315968" y="362102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90-Day Pilot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15968" y="3968496"/>
            <a:ext cx="325526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quality on 3 model variants at Ulsan Plant 5. Hard success metrics agreed upfront. Risk-free.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3566160"/>
            <a:ext cx="347472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356616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/>
        </p:spPr>
      </p:sp>
      <p:sp>
        <p:nvSpPr>
          <p:cNvPr id="18" name="Text 16"/>
          <p:cNvSpPr/>
          <p:nvPr/>
        </p:nvSpPr>
        <p:spPr>
          <a:xfrm>
            <a:off x="8065008" y="362102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Saudi Scoping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65008" y="3968496"/>
            <a:ext cx="325526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AI architecture review for Saudi plant before Q4 2026 launch. Included in plant capex budget.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Discovery workshop within 3 weeks with Juncheul Jung's manufacturing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Hyundai Deal Prep</dc:title>
  <dc:subject>PptxGenJS Presentation</dc:subject>
  <dc:creator>PptxGenJS</dc:creator>
  <cp:lastModifiedBy>PptxGenJS</cp:lastModifiedBy>
  <cp:revision>1</cp:revision>
  <dcterms:created xsi:type="dcterms:W3CDTF">2026-05-22T14:03:02Z</dcterms:created>
  <dcterms:modified xsi:type="dcterms:W3CDTF">2026-05-22T14:03:02Z</dcterms:modified>
</cp:coreProperties>
</file>
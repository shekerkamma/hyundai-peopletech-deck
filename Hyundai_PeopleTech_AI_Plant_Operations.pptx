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BD5E1"/>
                </a:solidFill>
                <a:latin typeface="Calibri"/>
              </a:rPr>
              <a:t>AI-DRIVEN MANUFACTURING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AI for Plant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94A3B8"/>
                </a:solidFill>
                <a:latin typeface="Calibri"/>
              </a:rPr>
              <a:t>Hyundai  ·  PeopleTech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246120"/>
            <a:ext cx="3200400" cy="36576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657600"/>
            <a:ext cx="4754880" cy="457200"/>
          </a:xfrm>
          <a:prstGeom prst="rect">
            <a:avLst/>
          </a:prstGeom>
          <a:solidFill>
            <a:srgbClr val="293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657600"/>
            <a:ext cx="36576" cy="45720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657600"/>
            <a:ext cx="4526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2E8F0"/>
                </a:solidFill>
                <a:latin typeface="Calibri"/>
              </a:rPr>
              <a:t>✓ Reduce defects &amp; warranty claims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3657600"/>
            <a:ext cx="4754880" cy="457200"/>
          </a:xfrm>
          <a:prstGeom prst="rect">
            <a:avLst/>
          </a:prstGeom>
          <a:solidFill>
            <a:srgbClr val="293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0" y="3657600"/>
            <a:ext cx="36576" cy="45720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3657600"/>
            <a:ext cx="4526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2E8F0"/>
                </a:solidFill>
                <a:latin typeface="Calibri"/>
              </a:rPr>
              <a:t>✓ Cut unplanned downtime &amp; rework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51960"/>
            <a:ext cx="4754880" cy="457200"/>
          </a:xfrm>
          <a:prstGeom prst="rect">
            <a:avLst/>
          </a:prstGeom>
          <a:solidFill>
            <a:srgbClr val="293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51960"/>
            <a:ext cx="36576" cy="45720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51960"/>
            <a:ext cx="4526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2E8F0"/>
                </a:solidFill>
                <a:latin typeface="Calibri"/>
              </a:rPr>
              <a:t>✓ Enforce safety &amp; SOP compliance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0" y="4251960"/>
            <a:ext cx="4754880" cy="457200"/>
          </a:xfrm>
          <a:prstGeom prst="rect">
            <a:avLst/>
          </a:prstGeom>
          <a:solidFill>
            <a:srgbClr val="293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0" y="4251960"/>
            <a:ext cx="36576" cy="45720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0" y="4251960"/>
            <a:ext cx="4526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2E8F0"/>
                </a:solidFill>
                <a:latin typeface="Calibri"/>
              </a:rPr>
              <a:t>✓ End-to-end traceability &amp; quality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2120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94A3B8"/>
                </a:solidFill>
                <a:latin typeface="Calibri"/>
              </a:rPr>
              <a:t>Plant Directors · Operations Leaders · Quality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5778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8 AI Use Cases · Visual Inspection · Predictive Maintenance · Safety · Quality &amp; Traceability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01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BD5E1"/>
                </a:solidFill>
                <a:latin typeface="Calibri"/>
              </a:rPr>
              <a:t>PRE-SALES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Why PeopleTech for Hyundai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CBD5E1"/>
                </a:solidFill>
                <a:latin typeface="Calibri"/>
              </a:rPr>
              <a:t>Pre-Sales · AI Manufacturing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6858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A2754"/>
                </a:solidFill>
                <a:latin typeface="Calibri"/>
              </a:rPr>
              <a:t>A delivery partner built for industrial AI at plant scale.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6858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475569"/>
                </a:solidFill>
                <a:latin typeface="Calibri"/>
              </a:rPr>
              <a:t>PeopleTech is a global services company with deep practices across data engineering, computer vision, MLOps, and enterprise integration. We bring proven accelerators and a delivery model tuned for the realities of automotive manufacturing — uptime pressure, line-side latency, and zero-tolerance for defects reaching customers.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80360"/>
            <a:ext cx="6858000" cy="4572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880360"/>
            <a:ext cx="54864" cy="45720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88036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0D8A72"/>
                </a:solidFill>
                <a:latin typeface="Calibri"/>
              </a:rPr>
              <a:t>Hyundai already operates HMGICS Singapore as a smart-factory hub and has invested in AI via AIRS Company and Boston Dynamics. PeopleTech brings these innovations to production scale at Ulsan, Asan, HMGMA, HMMA, HMMC, HMI.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20440"/>
            <a:ext cx="685800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54864" cy="77724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3593592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2754"/>
                </a:solidFill>
                <a:latin typeface="Calibri"/>
              </a:rPr>
              <a:t>End-to-end AI delivery, not just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84048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Data pipelines, model training, edge deployment, integration with MES/ERP, dashboards, and Day-2 operations — under one accountable team.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89120"/>
            <a:ext cx="685800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389120"/>
            <a:ext cx="54864" cy="77724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462272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2754"/>
                </a:solidFill>
                <a:latin typeface="Calibri"/>
              </a:rPr>
              <a:t>Manufacturing &amp; automotive domain depth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70916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Engineers who have shipped vision QA, predictive maintenance, and traceability stacks for Tier-1 OEMs and suppliers across Asia, Europe, and North America.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257800"/>
            <a:ext cx="685800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257800"/>
            <a:ext cx="54864" cy="77724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5330952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2754"/>
                </a:solidFill>
                <a:latin typeface="Calibri"/>
              </a:rPr>
              <a:t>Hyperscaler &amp; ISV partnerships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557784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AWS &amp; Azure advanced partners. Pre-built integrations with SAP MES/ERP, OPC-UA, AVEVA PI, RFID, and major vision-camera ecosystems.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80960" y="1097280"/>
            <a:ext cx="4114800" cy="502920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3258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BD5E1"/>
                </a:solidFill>
                <a:latin typeface="Calibri"/>
              </a:rPr>
              <a:t>WHAT WE BRING ON DAY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288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Reusable Accelerators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21945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Vision-AI Starter Kit, Industrial IoT reference architecture, MES connector library — cuts time-to-pilot by 40–60%.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28803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Senior Delivery Pods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324612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Solution architect + ML lead + vision engineer + DevOps + plant-floor integration specialist. Embedded with Hyundai teams from week one.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39319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Outcome Contracts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429768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Fixed-scope pilots with measurable KPIs. ROI proven in 8–12 weeks before any commitment to scale.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983479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Run &amp; Sustain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5349239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Managed services for model retraining, drift monitoring, and 24×7 support once solutions are in production.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BD5E1"/>
                </a:solidFill>
                <a:latin typeface="Calibri"/>
              </a:rPr>
              <a:t>PeopleTech · AI Manufacturing Practice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64465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02 / 17 ·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BD5E1"/>
                </a:solidFill>
                <a:latin typeface="Calibri"/>
              </a:rPr>
              <a:t>ENGAGEMENT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Four-Phase Delivery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CBD5E1"/>
                </a:solidFill>
                <a:latin typeface="Calibri"/>
              </a:rPr>
              <a:t>Discovery → Pilot → Scale → 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A2754"/>
                </a:solidFill>
                <a:latin typeface="Calibri"/>
              </a:rPr>
              <a:t>De-risked path from first use case to plant-wide rollout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75569"/>
                </a:solidFill>
                <a:latin typeface="Calibri"/>
              </a:rPr>
              <a:t>We never start with a multi-quarter program. We start by proving one use case end-to-end on a real line, then we scale what works. Each phase has fixed scope, fixed KPIs, and a go/no-go gate before the next. Designed for the scale of Ulsan (~1.6M vehicles/year, world's largest auto plant) and the production cadence of Metaplant America (IONIQ 5 / IONIQ 9 line).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2697480" cy="3383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2697480" cy="54864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1635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4748B"/>
                </a:solidFill>
                <a:latin typeface="Calibri"/>
              </a:rPr>
              <a:t>PHASE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6324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A2754"/>
                </a:solidFill>
                <a:latin typeface="Calibri"/>
              </a:rPr>
              <a:t>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2044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2–3 weeks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24231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→  Plant-floor workshop &amp; line walk-through</a:t>
            </a:r>
          </a:p>
          <a:p>
            <a:pPr algn="l">
              <a:lnSpc>
                <a:spcPct val="140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→  Use case prioritization scorecard</a:t>
            </a:r>
          </a:p>
          <a:p>
            <a:pPr algn="l">
              <a:lnSpc>
                <a:spcPct val="140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→  Data &amp; systems landscape audit</a:t>
            </a:r>
          </a:p>
          <a:p>
            <a:pPr algn="l">
              <a:lnSpc>
                <a:spcPct val="140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→  Pilot scope, KPIs, success criteria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9272" y="2651760"/>
            <a:ext cx="2697480" cy="3383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9272" y="2651760"/>
            <a:ext cx="2697480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2152" y="281635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4748B"/>
                </a:solidFill>
                <a:latin typeface="Calibri"/>
              </a:rPr>
              <a:t>PHASE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306324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A2754"/>
                </a:solidFill>
                <a:latin typeface="Calibri"/>
              </a:rPr>
              <a:t>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352044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8–12 weeks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2152" y="3840480"/>
            <a:ext cx="24231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→  1–2 high-impact use cases on one line</a:t>
            </a:r>
          </a:p>
          <a:p>
            <a:pPr algn="l">
              <a:lnSpc>
                <a:spcPct val="140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→  Data collection, model training, edge deploy</a:t>
            </a:r>
          </a:p>
          <a:p>
            <a:pPr algn="l">
              <a:lnSpc>
                <a:spcPct val="140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→  MES &amp; dashboard integration</a:t>
            </a:r>
          </a:p>
          <a:p>
            <a:pPr algn="l">
              <a:lnSpc>
                <a:spcPct val="140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→  Measured ROI vs. baseline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81344" y="2651760"/>
            <a:ext cx="2697480" cy="3383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81344" y="2651760"/>
            <a:ext cx="26974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81635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4748B"/>
                </a:solidFill>
                <a:latin typeface="Calibri"/>
              </a:rPr>
              <a:t>PHASE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306324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A2754"/>
                </a:solidFill>
                <a:latin typeface="Calibri"/>
              </a:rPr>
              <a:t>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352044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3–6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3840480"/>
            <a:ext cx="24231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→  Rollout across lines, shifts, and plants</a:t>
            </a:r>
          </a:p>
          <a:p>
            <a:pPr algn="l">
              <a:lnSpc>
                <a:spcPct val="140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→  Hardening, retraining, A/B variants</a:t>
            </a:r>
          </a:p>
          <a:p>
            <a:pPr algn="l">
              <a:lnSpc>
                <a:spcPct val="140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→  Operator &amp; engineer enablement</a:t>
            </a:r>
          </a:p>
          <a:p>
            <a:pPr algn="l">
              <a:lnSpc>
                <a:spcPct val="140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→  Cross-use-case data platform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43416" y="2651760"/>
            <a:ext cx="2697480" cy="3383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43416" y="2651760"/>
            <a:ext cx="2697480" cy="54864"/>
          </a:xfrm>
          <a:prstGeom prst="rect">
            <a:avLst/>
          </a:prstGeom>
          <a:solidFill>
            <a:srgbClr val="243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26296" y="281635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4748B"/>
                </a:solidFill>
                <a:latin typeface="Calibri"/>
              </a:rPr>
              <a:t>PHASE 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306324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A2754"/>
                </a:solidFill>
                <a:latin typeface="Calibri"/>
              </a:rPr>
              <a:t>Run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6296" y="352044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Ongoing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26296" y="3840480"/>
            <a:ext cx="24231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→  Managed services, 24×7 monitoring</a:t>
            </a:r>
          </a:p>
          <a:p>
            <a:pPr algn="l">
              <a:lnSpc>
                <a:spcPct val="140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→  Drift detection &amp; auto-retraining</a:t>
            </a:r>
          </a:p>
          <a:p>
            <a:pPr algn="l">
              <a:lnSpc>
                <a:spcPct val="140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→  Quarterly value reviews</a:t>
            </a:r>
          </a:p>
          <a:p>
            <a:pPr algn="l">
              <a:lnSpc>
                <a:spcPct val="140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→  Roadmap of next use cases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BD5E1"/>
                </a:solidFill>
                <a:latin typeface="Calibri"/>
              </a:rPr>
              <a:t>PeopleTech · AI Manufacturing Practice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64465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03 / 17 ·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USE CASE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AI-based Visual Inspection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Computer Vision + Deep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640080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4864" cy="10972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09728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DC2626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371600"/>
            <a:ext cx="6172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E293B"/>
                </a:solidFill>
                <a:latin typeface="Calibri"/>
              </a:rPr>
              <a:t>Paint defects, scratches, dents, welding inconsistencies, and panel misalignments escape manual inspection and reach downstream stages, driving rework costs and warranty claims.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640080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54864" cy="109728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33172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4A085"/>
                </a:solidFill>
                <a:latin typeface="Calibri"/>
              </a:rP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606040"/>
            <a:ext cx="6172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E293B"/>
                </a:solidFill>
                <a:latin typeface="Calibri"/>
              </a:rPr>
              <a:t>High-resolution AI cameras inspect vehicle surfaces in real time. CNN models compare images against quality standards, score anomalies, and automatically flag vehicles before they advance.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6400800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474720"/>
            <a:ext cx="54864" cy="164592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56616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4A085"/>
                </a:solidFill>
                <a:latin typeface="Calibri"/>
              </a:rPr>
              <a:t>CAPABILITIES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840480"/>
            <a:ext cx="61722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Real-time surface defect detection across paint, welds, and panel gaps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CNN-based anomaly scoring against golden-sample quality standards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Auto-triggered downstream hold for flagged vehicles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Defect traceability linked to production station, shift, and operator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1005840"/>
            <a:ext cx="4663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4748B"/>
                </a:solidFill>
                <a:latin typeface="Calibri"/>
              </a:rPr>
              <a:t>BUSINESS VALUE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1280160"/>
            <a:ext cx="2286000" cy="86868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13716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−45%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18745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Rework Costs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20" y="1280160"/>
            <a:ext cx="2286000" cy="86868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0" y="13716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−60%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8745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Escape Defects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2240280"/>
            <a:ext cx="2286000" cy="86868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2331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&lt;2s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Detection Latency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0" y="2240280"/>
            <a:ext cx="2286000" cy="86868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2331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+35%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Line Throughput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3246120"/>
            <a:ext cx="46634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40880" y="3246120"/>
            <a:ext cx="54864" cy="77724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05472" y="3319272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SYSTEMS INTEGRATED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353872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E293B"/>
                </a:solidFill>
                <a:latin typeface="Calibri"/>
              </a:rPr>
              <a:t>Edge AI cameras · AWS Rekognition / Azure Custom Vision · MES · Defect DB · Quality Dashboard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4114800"/>
            <a:ext cx="466344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40880" y="4114800"/>
            <a:ext cx="54864" cy="59436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05472" y="4187952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TARGET USERS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05472" y="4407408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E293B"/>
                </a:solidFill>
                <a:latin typeface="Calibri"/>
              </a:rPr>
              <a:t>Quality Engineers · Line Supervisors · Plant Managers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40880" y="4800600"/>
            <a:ext cx="4663440" cy="41148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40880" y="4800600"/>
            <a:ext cx="54864" cy="41148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78040" y="4818888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D8A72"/>
                </a:solidFill>
                <a:latin typeface="Calibri"/>
              </a:rPr>
              <a:t>RECOMMENDED HYUNDAI START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78040" y="4965192"/>
            <a:ext cx="44805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E293B"/>
                </a:solidFill>
                <a:latin typeface="Calibri"/>
              </a:rPr>
              <a:t>Paint shop · IONIQ 5 / IONIQ 9 line at Metaplant America (HMGMA) — newest line, highest variant complexity, premium-segment defect sensitivity. Fast-follow on Tucson / Santa Fe paint at HMMA.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257800"/>
            <a:ext cx="1124712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5257800"/>
            <a:ext cx="11247120" cy="36576"/>
          </a:xfrm>
          <a:prstGeom prst="rect">
            <a:avLst/>
          </a:prstGeom>
          <a:solidFill>
            <a:srgbClr val="243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330952"/>
            <a:ext cx="10881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243870"/>
                </a:solidFill>
                <a:latin typeface="Calibri"/>
              </a:rPr>
              <a:t>SOLUTION STACK &amp; ARCHITECTURE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EDGE / CAPTURE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Industrial high-res cameras (Cognex / Basler) · LED light tunnels · NVIDIA Jetson edge inference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042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COMPUTE / AI 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6042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CNN anomaly models (ResNet50, EfficientNet) · AWS Rekognition Custom Labels / Azure Custom Vision · SageMaker training pipeline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INTEGRATION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8076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MES connector · OPC-UA bus · Defect database (PostgreSQL) · Kafka event stream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0110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UX / DECISION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0110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Real-time quality dashboard · Operator hold-station UI · Defect drill-down portal · Slack/Teams alerts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BD5E1"/>
                </a:solidFill>
                <a:latin typeface="Calibri"/>
              </a:rPr>
              <a:t>PeopleTech · AI Manufacturing Practice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0" y="64465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04 / 17 ·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USE CASE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Model &amp; Variant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AI Variant Verification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640080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4864" cy="10972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09728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DC2626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371600"/>
            <a:ext cx="6172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E293B"/>
                </a:solidFill>
                <a:latin typeface="Calibri"/>
              </a:rPr>
              <a:t>Wrong variant assembly — mismatched trim, components, or accessories — costs millions in rework and creates downstream warranty exposure across the entire production run.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640080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54864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33172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D97706"/>
                </a:solidFill>
                <a:latin typeface="Calibri"/>
              </a:rP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606040"/>
            <a:ext cx="6172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E293B"/>
                </a:solidFill>
                <a:latin typeface="Calibri"/>
              </a:rPr>
              <a:t>Computer vision and VIN/barcode recognition validate vehicle model, trim level, and installed components during assembly. Detected parts are checked against BOM and MES data in real time.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6400800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474720"/>
            <a:ext cx="54864" cy="1645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56616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D97706"/>
                </a:solidFill>
                <a:latin typeface="Calibri"/>
              </a:rPr>
              <a:t>CAPABILITIES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840480"/>
            <a:ext cx="61722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VIN + barcode scanning for model and variant identification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Vision-based BOM comparison against installed components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Real-time mismatch alerts before vehicle advances to next stage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MES integration to block line progression on confirmation failure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1005840"/>
            <a:ext cx="4663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4748B"/>
                </a:solidFill>
                <a:latin typeface="Calibri"/>
              </a:rPr>
              <a:t>BUSINESS VALUE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1280160"/>
            <a:ext cx="2286000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13716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−90%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18745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Wrong Variants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20" y="1280160"/>
            <a:ext cx="2286000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0" y="13716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−70%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8745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Rework Events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2240280"/>
            <a:ext cx="2286000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2331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99.8%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Verification Accuracy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0" y="2240280"/>
            <a:ext cx="2286000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2331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&lt;1s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Check Latency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3246120"/>
            <a:ext cx="46634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40880" y="3246120"/>
            <a:ext cx="54864" cy="77724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05472" y="3319272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SYSTEMS INTEGRATED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353872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E293B"/>
                </a:solidFill>
                <a:latin typeface="Calibri"/>
              </a:rPr>
              <a:t>Vision cameras · VIN/barcode scanners · SAP MES · BOM database · Line controllers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4114800"/>
            <a:ext cx="466344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40880" y="4114800"/>
            <a:ext cx="54864" cy="59436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05472" y="4187952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TARGET USERS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05472" y="4407408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E293B"/>
                </a:solidFill>
                <a:latin typeface="Calibri"/>
              </a:rPr>
              <a:t>Assembly Operators · Quality Control · Production Supervisors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257800"/>
            <a:ext cx="1124712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5257800"/>
            <a:ext cx="11247120" cy="36576"/>
          </a:xfrm>
          <a:prstGeom prst="rect">
            <a:avLst/>
          </a:prstGeom>
          <a:solidFill>
            <a:srgbClr val="243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330952"/>
            <a:ext cx="10881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243870"/>
                </a:solidFill>
                <a:latin typeface="Calibri"/>
              </a:rPr>
              <a:t>SOLUTION STACK &amp; ARCHITECTURE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EDGE / CAPTURE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Vision cameras · VIN/barcode scanners (Datalogic, Cognex DataMan) · Edge gateway with local cache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6042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COMPUTE / AI MODELS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6042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OCR + object detection (YOLOv8, PaddleOCR) · BOM-match rules engine · Hybrid edge inference / cloud retraining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INTEGRATION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SAP MES API · BOM database · PLC / line-controller signal-out · Variant configuration service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0110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UX / DECISION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0110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Station mismatch console · Auto-line-hold trigger · Supervisor mobile alert · Variant audit report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BD5E1"/>
                </a:solidFill>
                <a:latin typeface="Calibri"/>
              </a:rPr>
              <a:t>PeopleTech · AI Manufacturing Practice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0" y="64465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05 / 17 ·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USE CASE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Seating &amp; Component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Vision AI Fitment Checks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640080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4864" cy="10972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09728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DC2626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371600"/>
            <a:ext cx="6172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E293B"/>
                </a:solidFill>
                <a:latin typeface="Calibri"/>
              </a:rPr>
              <a:t>Incorrect seat type, orientation, or mounting errors pass undetected during assembly and cause safety issues, costly post-delivery recalls, and customer satisfaction failures.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640080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54864" cy="10972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33172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7C3AED"/>
                </a:solidFill>
                <a:latin typeface="Calibri"/>
              </a:rP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606040"/>
            <a:ext cx="6172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E293B"/>
                </a:solidFill>
                <a:latin typeface="Calibri"/>
              </a:rPr>
              <a:t>AI cameras verify seat type, orientation, mounting alignment, fastening completion, and fitment accuracy for every vehicle variant. Mismatches are caught before the vehicle leaves the station.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6400800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474720"/>
            <a:ext cx="54864" cy="16459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56616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7C3AED"/>
                </a:solidFill>
                <a:latin typeface="Calibri"/>
              </a:rPr>
              <a:t>CAPABILITIES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840480"/>
            <a:ext cx="61722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Seat type and orientation verification via vision AI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Torque and fastening completion detection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Variant-matched fitment checks against vehicle configuration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Alert generation before vehicle moves to next assembly station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1005840"/>
            <a:ext cx="4663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4748B"/>
                </a:solidFill>
                <a:latin typeface="Calibri"/>
              </a:rPr>
              <a:t>BUSINESS VALUE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1280160"/>
            <a:ext cx="2286000" cy="868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13716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−85%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18745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Fitment Errors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20" y="1280160"/>
            <a:ext cx="2286000" cy="868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0" y="13716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Zero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8745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Seat Recalls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2240280"/>
            <a:ext cx="2286000" cy="868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2331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+30%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Inspection Speed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0" y="2240280"/>
            <a:ext cx="2286000" cy="868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2331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Vehicle Coverage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3246120"/>
            <a:ext cx="46634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40880" y="3246120"/>
            <a:ext cx="54864" cy="77724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05472" y="3319272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SYSTEMS INTEGRATED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353872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E293B"/>
                </a:solidFill>
                <a:latin typeface="Calibri"/>
              </a:rPr>
              <a:t>Vision cameras · Torque tool integration · MES · Variant configuration DB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4114800"/>
            <a:ext cx="466344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40880" y="4114800"/>
            <a:ext cx="54864" cy="59436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05472" y="4187952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TARGET USERS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05472" y="4407408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E293B"/>
                </a:solidFill>
                <a:latin typeface="Calibri"/>
              </a:rPr>
              <a:t>Assembly Operators · Quality Inspectors · Plant Engineers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257800"/>
            <a:ext cx="1124712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5257800"/>
            <a:ext cx="11247120" cy="36576"/>
          </a:xfrm>
          <a:prstGeom prst="rect">
            <a:avLst/>
          </a:prstGeom>
          <a:solidFill>
            <a:srgbClr val="243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330952"/>
            <a:ext cx="10881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243870"/>
                </a:solidFill>
                <a:latin typeface="Calibri"/>
              </a:rPr>
              <a:t>SOLUTION STACK &amp; ARCHITECTURE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EDGE / CAPTURE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Multi-angle station cameras · Smart torque wrenches with IIoT telemetry · Edge inference (Jetson Orin)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6042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COMPUTE / AI MODELS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6042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Object detection &amp; pose estimation (YOLOv8 + keypoint head) · Fitment classifier · Variant rule engine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INTEGRATION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MES · Variant configuration DB · Torque tool gateway · Quality event bus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0110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UX / DECISION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0110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Operator station tablet · Pass/fail visual cue · Engineer review queue · Post-shift fitment report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BD5E1"/>
                </a:solidFill>
                <a:latin typeface="Calibri"/>
              </a:rPr>
              <a:t>PeopleTech · AI Manufacturing Practice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0" y="64465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06 / 17 ·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E7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USE CASE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SOP Compliance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Vision + Pose Estimation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640080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4864" cy="10972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09728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DC2626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371600"/>
            <a:ext cx="6172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E293B"/>
                </a:solidFill>
                <a:latin typeface="Calibri"/>
              </a:rPr>
              <a:t>Operators skipping steps or deviating from defined procedures introduce assembly defects that only surface during final inspection — or worse, in the field after delivery.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640080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54864" cy="1097280"/>
          </a:xfrm>
          <a:prstGeom prst="rect">
            <a:avLst/>
          </a:prstGeom>
          <a:solidFill>
            <a:srgbClr val="0E7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33172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0E7B6A"/>
                </a:solidFill>
                <a:latin typeface="Calibri"/>
              </a:rP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606040"/>
            <a:ext cx="6172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E293B"/>
                </a:solidFill>
                <a:latin typeface="Calibri"/>
              </a:rPr>
              <a:t>AI monitors operator activities against SOP workflows using video analytics and pose estimation. Skipped steps, wrong tool usage, and process deviations are flagged with real-time alerts.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6400800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474720"/>
            <a:ext cx="54864" cy="1645920"/>
          </a:xfrm>
          <a:prstGeom prst="rect">
            <a:avLst/>
          </a:prstGeom>
          <a:solidFill>
            <a:srgbClr val="0E7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56616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0E7B6A"/>
                </a:solidFill>
                <a:latin typeface="Calibri"/>
              </a:rPr>
              <a:t>CAPABILITIES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840480"/>
            <a:ext cx="61722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Pose estimation to detect operator step sequences and ergonomics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SOP workflow comparison with real-time deviation alerts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Incorrect tool usage detection via object recognition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Compliance reporting by operator, station, and shift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1005840"/>
            <a:ext cx="4663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4748B"/>
                </a:solidFill>
                <a:latin typeface="Calibri"/>
              </a:rPr>
              <a:t>BUSINESS VALUE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1280160"/>
            <a:ext cx="2286000" cy="868680"/>
          </a:xfrm>
          <a:prstGeom prst="rect">
            <a:avLst/>
          </a:prstGeom>
          <a:solidFill>
            <a:srgbClr val="0E7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13716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−65%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18745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SOP Deviations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20" y="1280160"/>
            <a:ext cx="2286000" cy="868680"/>
          </a:xfrm>
          <a:prstGeom prst="rect">
            <a:avLst/>
          </a:prstGeom>
          <a:solidFill>
            <a:srgbClr val="0E7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0" y="13716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−40%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8745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Final Defects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2240280"/>
            <a:ext cx="2286000" cy="868680"/>
          </a:xfrm>
          <a:prstGeom prst="rect">
            <a:avLst/>
          </a:prstGeom>
          <a:solidFill>
            <a:srgbClr val="0E7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2331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+90%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Compliance 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0" y="2240280"/>
            <a:ext cx="2286000" cy="868680"/>
          </a:xfrm>
          <a:prstGeom prst="rect">
            <a:avLst/>
          </a:prstGeom>
          <a:solidFill>
            <a:srgbClr val="0E7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2331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Real-time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Deviation Alerts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3246120"/>
            <a:ext cx="46634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40880" y="3246120"/>
            <a:ext cx="54864" cy="77724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05472" y="3319272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SYSTEMS INTEGRATED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353872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E293B"/>
                </a:solidFill>
                <a:latin typeface="Calibri"/>
              </a:rPr>
              <a:t>Video analytics platform · Pose estimation models · MES · EHS compliance system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4114800"/>
            <a:ext cx="466344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40880" y="4114800"/>
            <a:ext cx="54864" cy="59436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05472" y="4187952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TARGET USERS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05472" y="4407408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E293B"/>
                </a:solidFill>
                <a:latin typeface="Calibri"/>
              </a:rPr>
              <a:t>Shift Supervisors · Quality Managers · EHS Officers · Process Engineers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257800"/>
            <a:ext cx="1124712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5257800"/>
            <a:ext cx="11247120" cy="36576"/>
          </a:xfrm>
          <a:prstGeom prst="rect">
            <a:avLst/>
          </a:prstGeom>
          <a:solidFill>
            <a:srgbClr val="243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330952"/>
            <a:ext cx="10881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243870"/>
                </a:solidFill>
                <a:latin typeface="Calibri"/>
              </a:rPr>
              <a:t>SOLUTION STACK &amp; ARCHITECTURE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EDGE / CAPTURE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Station-mounted IP cameras (fisheye + standard) · Privacy-aware on-device blurring · Edge GPU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6042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COMPUTE / AI MODELS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6042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Pose estimation (MoveNet, MMPose) · Action recognition (SlowFast) · Sequence matcher against SOP graph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INTEGRATION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SOP digital library · MES work-order context · EHS compliance system · LDAP for operator ID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0110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UX / DECISION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0110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Supervisor live deviation feed · Operator coaching overlay · Compliance scorecard per shift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BD5E1"/>
                </a:solidFill>
                <a:latin typeface="Calibri"/>
              </a:rPr>
              <a:t>PeopleTech · AI Manufacturing Practice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0" y="64465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07 / 17 ·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USE CASE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Predictive Quality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ML Quality Prediction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640080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4864" cy="10972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09728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DC2626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371600"/>
            <a:ext cx="6172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E293B"/>
                </a:solidFill>
                <a:latin typeface="Calibri"/>
              </a:rPr>
              <a:t>Defects found at end-of-line or post-delivery cost 10–100× more than defects caught in process. Current reactive models miss early warning signals buried in sensor and process data.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640080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54864" cy="10972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33172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DC2626"/>
                </a:solidFill>
                <a:latin typeface="Calibri"/>
              </a:rP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606040"/>
            <a:ext cx="6172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E293B"/>
                </a:solidFill>
                <a:latin typeface="Calibri"/>
              </a:rPr>
              <a:t>ML models analyze production line sensor data, machine parameters, environmental conditions, and historical defect trends to predict quality failures before they materialize.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6400800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474720"/>
            <a:ext cx="54864" cy="1645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56616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DC2626"/>
                </a:solidFill>
                <a:latin typeface="Calibri"/>
              </a:rPr>
              <a:t>CAPABILITIES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840480"/>
            <a:ext cx="61722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Real-time sensor data fusion across temperature, pressure, and vibration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Predictive defect scoring with explainability for root-cause guidance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Early-warning alerts pushed to line supervisors before quality escapes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Historical trend analysis to identify chronic defect contributors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1005840"/>
            <a:ext cx="4663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4748B"/>
                </a:solidFill>
                <a:latin typeface="Calibri"/>
              </a:rPr>
              <a:t>BUSINESS VALUE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1280160"/>
            <a:ext cx="2286000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13716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−35%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18745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Scrap &amp; Rework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20" y="1280160"/>
            <a:ext cx="2286000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0" y="13716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−25%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8745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Warranty Claims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2240280"/>
            <a:ext cx="2286000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2331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+20%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Overall OEE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0" y="2240280"/>
            <a:ext cx="2286000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2331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3–5×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Measured ROI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3246120"/>
            <a:ext cx="46634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40880" y="3246120"/>
            <a:ext cx="54864" cy="77724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05472" y="3319272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SYSTEMS INTEGRATED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353872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E293B"/>
                </a:solidFill>
                <a:latin typeface="Calibri"/>
              </a:rPr>
              <a:t>IoT sensors · AWS SageMaker / Azure ML · MES · Historian DB · Quality database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4114800"/>
            <a:ext cx="466344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40880" y="4114800"/>
            <a:ext cx="54864" cy="59436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05472" y="4187952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TARGET USERS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05472" y="4407408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E293B"/>
                </a:solidFill>
                <a:latin typeface="Calibri"/>
              </a:rPr>
              <a:t>Quality Engineers · Plant Managers · Process Improvement Teams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257800"/>
            <a:ext cx="1124712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5257800"/>
            <a:ext cx="11247120" cy="36576"/>
          </a:xfrm>
          <a:prstGeom prst="rect">
            <a:avLst/>
          </a:prstGeom>
          <a:solidFill>
            <a:srgbClr val="243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330952"/>
            <a:ext cx="10881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243870"/>
                </a:solidFill>
                <a:latin typeface="Calibri"/>
              </a:rPr>
              <a:t>SOLUTION STACK &amp; ARCHITECTURE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EDGE / CAPTURE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IoT sensors (temp, pressure, vibration) · OPC-UA gateways · AVEVA PI historian connectors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6042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COMPUTE / AI MODELS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6042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XGBoost / LightGBM defect classifiers · LSTM time-series models · SHAP for explainability · SageMaker / Azure ML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INTEGRATION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MES · Quality DB · Historian (PI / Aspen IP21) · Kafka for streaming inference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0110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UX / DECISION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0110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Early-warning dashboard · Root-cause drill-down · Auto-tuning parameter recommendations · Weekly trend digest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BD5E1"/>
                </a:solidFill>
                <a:latin typeface="Calibri"/>
              </a:rPr>
              <a:t>PeopleTech · AI Manufacturing Practice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0" y="64465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08 / 17 ·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USE CASE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Predictive Maintenance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Industrial AI Maintenance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640080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4864" cy="10972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09728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DC2626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371600"/>
            <a:ext cx="6172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E293B"/>
                </a:solidFill>
                <a:latin typeface="Calibri"/>
              </a:rPr>
              <a:t>Unplanned downtime costs automotive plants an average of $22,000 per minute. Reactive maintenance schedules miss early failure signals and create dangerous, expensive surprises.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640080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54864" cy="109728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33172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606040"/>
            <a:ext cx="6172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E293B"/>
                </a:solidFill>
                <a:latin typeface="Calibri"/>
              </a:rPr>
              <a:t>AI models continuously monitor machine vibration, temperature, pressure, acoustics, and operational patterns to predict equipment failures and schedule maintenance before breakdown.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6400800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474720"/>
            <a:ext cx="54864" cy="164592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56616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CAPABILITIES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840480"/>
            <a:ext cx="61722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Continuous multi-sensor anomaly monitoring across vibration, temperature, and acoustics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Failure prediction with configurable lead-time windows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Automated maintenance work order generation in EAM and SAP PM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Asset health dashboards with risk prioritization by criticality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1005840"/>
            <a:ext cx="4663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4748B"/>
                </a:solidFill>
                <a:latin typeface="Calibri"/>
              </a:rPr>
              <a:t>BUSINESS VALUE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1280160"/>
            <a:ext cx="2286000" cy="86868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13716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−40%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18745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Unplanned Downtime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20" y="1280160"/>
            <a:ext cx="2286000" cy="86868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0" y="13716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−30%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8745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Maintenance Cost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2240280"/>
            <a:ext cx="2286000" cy="86868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2331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+25%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Asset Lifespan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0" y="2240280"/>
            <a:ext cx="2286000" cy="86868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2331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5:1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Measured ROI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3246120"/>
            <a:ext cx="46634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40880" y="3246120"/>
            <a:ext cx="54864" cy="77724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05472" y="3319272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SYSTEMS INTEGRATED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353872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E293B"/>
                </a:solidFill>
                <a:latin typeface="Calibri"/>
              </a:rPr>
              <a:t>IoT sensors · AWS IoT / Azure IoT Hub · SAP PM · CMMS · Asset historian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4114800"/>
            <a:ext cx="466344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40880" y="4114800"/>
            <a:ext cx="54864" cy="59436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05472" y="4187952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TARGET USERS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05472" y="4407408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E293B"/>
                </a:solidFill>
                <a:latin typeface="Calibri"/>
              </a:rPr>
              <a:t>Maintenance Teams · Plant Engineers · Operations Managers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40880" y="4800600"/>
            <a:ext cx="4663440" cy="41148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40880" y="4800600"/>
            <a:ext cx="54864" cy="41148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78040" y="4818888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D8A72"/>
                </a:solidFill>
                <a:latin typeface="Calibri"/>
              </a:rPr>
              <a:t>RECOMMENDED HYUNDAI START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78040" y="4965192"/>
            <a:ext cx="44805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E293B"/>
                </a:solidFill>
                <a:latin typeface="Calibri"/>
              </a:rPr>
              <a:t>Ulsan stamping presses + Asan welding cells — high-criticality assets where one unplanned hour ripples across the world's largest auto plant. 3–5 assets in pilot, scale to all critical lines on validation.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257800"/>
            <a:ext cx="1124712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5257800"/>
            <a:ext cx="11247120" cy="36576"/>
          </a:xfrm>
          <a:prstGeom prst="rect">
            <a:avLst/>
          </a:prstGeom>
          <a:solidFill>
            <a:srgbClr val="243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330952"/>
            <a:ext cx="10881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243870"/>
                </a:solidFill>
                <a:latin typeface="Calibri"/>
              </a:rPr>
              <a:t>SOLUTION STACK &amp; ARCHITECTURE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EDGE / CAPTURE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Vibration accelerometers · Acoustic emission sensors · Thermal cameras · Edge concentrators (AWS IoT Greengrass / Azure IoT Edge)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042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COMPUTE / AI 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6042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Autoencoder anomaly detection · Survival analysis (Weibull, DeepSurv) · Acoustic ML (audio CNN) · MLflow tracking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INTEGRATION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8076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SAP PM · CMMS (Maximo) · Asset historian · Work-order auto-generation API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0110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UX / DECISION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0110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Asset health dashboard · Risk-prioritized work queue · Mobile technician app · Failure-cause analytics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BD5E1"/>
                </a:solidFill>
                <a:latin typeface="Calibri"/>
              </a:rPr>
              <a:t>PeopleTech · AI Manufacturing Practice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0" y="64465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09 / 17 ·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USE CASE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AI Safety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Vision AI Safety Surveillance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640080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4864" cy="10972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09728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DC2626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371600"/>
            <a:ext cx="6172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E293B"/>
                </a:solidFill>
                <a:latin typeface="Calibri"/>
              </a:rPr>
              <a:t>PPE non-compliance, restricted zone violations, and unsafe movements cause workplace injuries and EHS compliance failures that expose the plant to regulatory risk and production shutdowns.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640080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54864" cy="109728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33172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4A085"/>
                </a:solidFill>
                <a:latin typeface="Calibri"/>
              </a:rP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606040"/>
            <a:ext cx="6172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E293B"/>
                </a:solidFill>
                <a:latin typeface="Calibri"/>
              </a:rPr>
              <a:t>Vision AI monitors PPE compliance, restricted zone access, forklift interactions, and unsafe operator behavior. Real-time alerts are generated for violations, with audit-ready EHS reporting.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6400800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474720"/>
            <a:ext cx="54864" cy="164592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56616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4A085"/>
                </a:solidFill>
                <a:latin typeface="Calibri"/>
              </a:rPr>
              <a:t>CAPABILITIES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840480"/>
            <a:ext cx="61722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PPE detection — helmets, vests, goggles, gloves — per zone and shift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Restricted area intrusion detection with instant alert escalation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Unsafe movement and forklift proximity monitoring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EHS compliance dashboards and audit-ready incident reporting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1005840"/>
            <a:ext cx="4663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4748B"/>
                </a:solidFill>
                <a:latin typeface="Calibri"/>
              </a:rPr>
              <a:t>BUSINESS VALUE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1280160"/>
            <a:ext cx="2286000" cy="86868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13716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−55%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18745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Safety Incidents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20" y="1280160"/>
            <a:ext cx="2286000" cy="86868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0" y="13716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98%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8745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PPE Compliance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2240280"/>
            <a:ext cx="2286000" cy="86868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2331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&lt;500ms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Alert Latency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0" y="2240280"/>
            <a:ext cx="2286000" cy="86868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2331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Audit-Ready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EHS Reports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3246120"/>
            <a:ext cx="46634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40880" y="3246120"/>
            <a:ext cx="54864" cy="77724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05472" y="3319272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SYSTEMS INTEGRATED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353872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E293B"/>
                </a:solidFill>
                <a:latin typeface="Calibri"/>
              </a:rPr>
              <a:t>Safety cameras · Edge AI processors · EHS platform · Incident management system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4114800"/>
            <a:ext cx="466344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40880" y="4114800"/>
            <a:ext cx="54864" cy="59436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05472" y="4187952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TARGET USERS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05472" y="4407408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E293B"/>
                </a:solidFill>
                <a:latin typeface="Calibri"/>
              </a:rPr>
              <a:t>EHS Officers · Safety Teams · Plant Managers · Compliance Auditors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257800"/>
            <a:ext cx="1124712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5257800"/>
            <a:ext cx="11247120" cy="36576"/>
          </a:xfrm>
          <a:prstGeom prst="rect">
            <a:avLst/>
          </a:prstGeom>
          <a:solidFill>
            <a:srgbClr val="243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330952"/>
            <a:ext cx="10881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243870"/>
                </a:solidFill>
                <a:latin typeface="Calibri"/>
              </a:rPr>
              <a:t>SOLUTION STACK &amp; ARCHITECTURE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EDGE / CAPTURE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Wide-FOV safety cameras · Forklift onboard cams · Edge AI processors (Hailo / Jetson) · On-device person anonymization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6042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COMPUTE / AI MODELS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6042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PPE detector (YOLOv8 + custom heads) · Person-vehicle proximity tracker · Zone-violation rule engine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INTEGRATION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EHS platform · Incident management system · Andon/PA siren API · Access-control system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0110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UX / DECISION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0110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EHS live wall · Auto-incident report with video clip · Compliance scorecard · Audit export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BD5E1"/>
                </a:solidFill>
                <a:latin typeface="Calibri"/>
              </a:rPr>
              <a:t>PeopleTech · AI Manufacturing Practice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0" y="64465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10 / 17 ·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E7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USE CASE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Digital Traceability &amp;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AI Traceability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640080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4864" cy="10972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09728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DC2626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371600"/>
            <a:ext cx="6172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E293B"/>
                </a:solidFill>
                <a:latin typeface="Calibri"/>
              </a:rPr>
              <a:t>Lack of end-to-end component traceability makes defect root-cause analysis, recall management, and audit compliance slow, costly, and prone to gaps across the supply chain.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640080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54864" cy="1097280"/>
          </a:xfrm>
          <a:prstGeom prst="rect">
            <a:avLst/>
          </a:prstGeom>
          <a:solidFill>
            <a:srgbClr val="0E7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33172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0E7B6A"/>
                </a:solidFill>
                <a:latin typeface="Calibri"/>
              </a:rP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606040"/>
            <a:ext cx="6172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E293B"/>
                </a:solidFill>
                <a:latin typeface="Calibri"/>
              </a:rPr>
              <a:t>AI integrates with MES, ERP, RFID, barcode, IoT, and vision systems to provide end-to-end traceability of every component, assembly, and production event across the manufacturing lifecycle.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6400800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474720"/>
            <a:ext cx="54864" cy="1645920"/>
          </a:xfrm>
          <a:prstGeom prst="rect">
            <a:avLst/>
          </a:prstGeom>
          <a:solidFill>
            <a:srgbClr val="0E7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566160"/>
            <a:ext cx="6172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0E7B6A"/>
                </a:solidFill>
                <a:latin typeface="Calibri"/>
              </a:rPr>
              <a:t>CAPABILITIES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840480"/>
            <a:ext cx="61722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End-to-end genealogy tracking from component to finished vehicle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Real-time RFID and barcode scan integration with MES and ERP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Defect root-cause traceability with drill-down to station and supplier</a:t>
            </a:r>
          </a:p>
          <a:p>
            <a:pPr algn="l">
              <a:lnSpc>
                <a:spcPct val="135000"/>
              </a:lnSpc>
            </a:pPr>
            <a:r>
              <a:rPr sz="1000">
                <a:solidFill>
                  <a:srgbClr val="1E293B"/>
                </a:solidFill>
                <a:latin typeface="Calibri"/>
              </a:rPr>
              <a:t>•  Recall management and supplier quality chain tracking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1005840"/>
            <a:ext cx="4663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4748B"/>
                </a:solidFill>
                <a:latin typeface="Calibri"/>
              </a:rPr>
              <a:t>BUSINESS VALUE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1280160"/>
            <a:ext cx="2286000" cy="868680"/>
          </a:xfrm>
          <a:prstGeom prst="rect">
            <a:avLst/>
          </a:prstGeom>
          <a:solidFill>
            <a:srgbClr val="0E7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13716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18745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Part Traceability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20" y="1280160"/>
            <a:ext cx="2286000" cy="868680"/>
          </a:xfrm>
          <a:prstGeom prst="rect">
            <a:avLst/>
          </a:prstGeom>
          <a:solidFill>
            <a:srgbClr val="0E7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0" y="13716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−70%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8745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Recall Investigation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2240280"/>
            <a:ext cx="2286000" cy="868680"/>
          </a:xfrm>
          <a:prstGeom prst="rect">
            <a:avLst/>
          </a:prstGeom>
          <a:solidFill>
            <a:srgbClr val="0E7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2331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Full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Audit Trail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0" y="2240280"/>
            <a:ext cx="2286000" cy="868680"/>
          </a:xfrm>
          <a:prstGeom prst="rect">
            <a:avLst/>
          </a:prstGeom>
          <a:solidFill>
            <a:srgbClr val="0E7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2331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QA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Chain Coverage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3246120"/>
            <a:ext cx="46634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40880" y="3246120"/>
            <a:ext cx="54864" cy="77724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05472" y="3319272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SYSTEMS INTEGRATED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353872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E293B"/>
                </a:solidFill>
                <a:latin typeface="Calibri"/>
              </a:rPr>
              <a:t>RFID · Barcode scanners · SAP MES/ERP · IoT platform · Quality DB · Vision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4114800"/>
            <a:ext cx="466344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40880" y="4114800"/>
            <a:ext cx="54864" cy="59436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05472" y="4187952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TARGET USERS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05472" y="4407408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E293B"/>
                </a:solidFill>
                <a:latin typeface="Calibri"/>
              </a:rPr>
              <a:t>Quality Directors · Supply Chain · Plant Managers · Compliance Teams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257800"/>
            <a:ext cx="1124712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5257800"/>
            <a:ext cx="11247120" cy="36576"/>
          </a:xfrm>
          <a:prstGeom prst="rect">
            <a:avLst/>
          </a:prstGeom>
          <a:solidFill>
            <a:srgbClr val="243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330952"/>
            <a:ext cx="10881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243870"/>
                </a:solidFill>
                <a:latin typeface="Calibri"/>
              </a:rPr>
              <a:t>SOLUTION STACK &amp; ARCHITECTURE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EDGE / CAPTURE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RFID readers (UHF) · Barcode / DataMatrix scanners · IoT sensors · Vision OCR stations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6042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COMPUTE / AI MODELS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6042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Genealogy graph DB (Neo4j) · Defect propagation ML model · Supplier risk scoring · Stream processing (Flink)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INTEGRATION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SAP MES/ERP · Supplier portals · Quality DB · IoT platform · Recall management system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01100" y="5577840"/>
            <a:ext cx="26289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A2754"/>
                </a:solidFill>
                <a:latin typeface="Calibri"/>
              </a:rPr>
              <a:t>UX / DECISION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01100" y="5806440"/>
            <a:ext cx="2628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475569"/>
                </a:solidFill>
                <a:latin typeface="Calibri"/>
              </a:rPr>
              <a:t>Vehicle genealogy viewer · Root-cause drill-down · Recall scope calculator · Auditor export portal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BD5E1"/>
                </a:solidFill>
                <a:latin typeface="Calibri"/>
              </a:rPr>
              <a:t>PeopleTech · AI Manufacturing Practice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0" y="64465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11 / 17 ·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BD5E1"/>
                </a:solidFill>
                <a:latin typeface="Calibri"/>
              </a:rPr>
              <a:t>PROOF OF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Reference Case Studies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CBD5E1"/>
                </a:solidFill>
                <a:latin typeface="Calibri"/>
              </a:rPr>
              <a:t>Manufacturing &amp; Automotive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623560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623560" cy="54864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16152"/>
            <a:ext cx="5257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4748B"/>
                </a:solidFill>
                <a:latin typeface="Calibri"/>
              </a:rPr>
              <a:t>TIER-1 AUTOMOTIVE OEM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5257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2754"/>
                </a:solidFill>
                <a:latin typeface="Calibri"/>
              </a:rPr>
              <a:t>Paint defect CV pilot scaled to 4 lines in 18 weeks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11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CHALLENGE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11680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E293B"/>
                </a:solidFill>
                <a:latin typeface="Calibri"/>
              </a:rPr>
              <a:t>Manual paint inspection missed ~12% of surface defects; rework rate above 8% on premium SUV 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2316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423160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E293B"/>
                </a:solidFill>
                <a:latin typeface="Calibri"/>
              </a:rPr>
              <a:t>Edge AI cameras + CNN anomaly model integrated with MES line-hold; closed-loop retraining from rework data.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346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834640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E293B"/>
                </a:solidFill>
                <a:latin typeface="Calibri"/>
              </a:rPr>
              <a:t>Cognex cameras · Jetson edge · AWS SageMaker · MES connector · React quality dashboard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00400"/>
            <a:ext cx="5257800" cy="36576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0040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Outcome:  −58% escape defects, −42% rework cost, 14-month payback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051560"/>
            <a:ext cx="5623560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051560"/>
            <a:ext cx="5623560" cy="54864"/>
          </a:xfrm>
          <a:prstGeom prst="rect">
            <a:avLst/>
          </a:prstGeom>
          <a:solidFill>
            <a:srgbClr val="243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216152"/>
            <a:ext cx="5257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4748B"/>
                </a:solidFill>
                <a:latin typeface="Calibri"/>
              </a:rPr>
              <a:t>GLOBAL EV MANUFACTURER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463040"/>
            <a:ext cx="5257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2754"/>
                </a:solidFill>
                <a:latin typeface="Calibri"/>
              </a:rPr>
              <a:t>Predictive maintenance across stamping &amp; weld shops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011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CHALLENGE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011680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E293B"/>
                </a:solidFill>
                <a:latin typeface="Calibri"/>
              </a:rPr>
              <a:t>Unplanned downtime on press lines averaging 6.4 hrs/week; reactive maintenance dominated budget.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42316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SOLUTION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2423160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E293B"/>
                </a:solidFill>
                <a:latin typeface="Calibri"/>
              </a:rPr>
              <a:t>Vibration + acoustic sensor mesh feeding autoencoder + survival models; auto-generated work orders in SAP PM.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8346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2834640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E293B"/>
                </a:solidFill>
                <a:latin typeface="Calibri"/>
              </a:rPr>
              <a:t>Azure IoT Hub · Azure ML · MLflow · SAP PM · Power BI asset health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3200400"/>
            <a:ext cx="5257800" cy="36576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320040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Outcome:  −38% unplanned downtime, 5.2:1 ROI in year one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840480"/>
            <a:ext cx="5623560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3840480"/>
            <a:ext cx="5623560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005072"/>
            <a:ext cx="5257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4748B"/>
                </a:solidFill>
                <a:latin typeface="Calibri"/>
              </a:rPr>
              <a:t>AEROSPACE TIER-1 SUPPLIER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251960"/>
            <a:ext cx="5257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2754"/>
                </a:solidFill>
                <a:latin typeface="Calibri"/>
              </a:rPr>
              <a:t>SOP compliance with pose estimation on assembly cells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0060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4800600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E293B"/>
                </a:solidFill>
                <a:latin typeface="Calibri"/>
              </a:rPr>
              <a:t>Complex multi-step assembly with high audit burden; manual SOP checks slowed cycle time and missed deviations.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SOLUTION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5212080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E293B"/>
                </a:solidFill>
                <a:latin typeface="Calibri"/>
              </a:rPr>
              <a:t>Multi-camera pose-estimation pipeline matched to SOP graph; live deviation alerts; auto-generated compliance audit pack.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62356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STACK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5623560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E293B"/>
                </a:solidFill>
                <a:latin typeface="Calibri"/>
              </a:rPr>
              <a:t>MoveNet + custom action classifier · NVIDIA Triton · MES · EHS compliance system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5989320"/>
            <a:ext cx="5257800" cy="36576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598932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Outcome:  96% SOP compliance, audit prep time cut by 70%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3840480"/>
            <a:ext cx="5623560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3840480"/>
            <a:ext cx="562356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4005072"/>
            <a:ext cx="5257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64748B"/>
                </a:solidFill>
                <a:latin typeface="Calibri"/>
              </a:rPr>
              <a:t>HEAVY EQUIPMENT MANUFACTURER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4251960"/>
            <a:ext cx="5257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2754"/>
                </a:solidFill>
                <a:latin typeface="Calibri"/>
              </a:rPr>
              <a:t>RFID + vision traceability across 11 plants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80060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CHALLENGE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60920" y="4800600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E293B"/>
                </a:solidFill>
                <a:latin typeface="Calibri"/>
              </a:rPr>
              <a:t>Field recall investigations took 4–6 weeks; component genealogy fragmented across regional systems.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SOLUTION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5212080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E293B"/>
                </a:solidFill>
                <a:latin typeface="Calibri"/>
              </a:rPr>
              <a:t>Unified traceability platform with RFID, barcode, and vision OCR feeding a Neo4j genealogy graph integrated with SAP.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562356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64748B"/>
                </a:solidFill>
                <a:latin typeface="Calibri"/>
              </a:rPr>
              <a:t>STACK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60920" y="5623560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E293B"/>
                </a:solidFill>
                <a:latin typeface="Calibri"/>
              </a:rPr>
              <a:t>UHF RFID · Datalogic scanners · Neo4j · Apache Flink · SAP MES/ERP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46520" y="5989320"/>
            <a:ext cx="5257800" cy="36576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0" y="598932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Outcome:  Recall investigation time cut from weeks to days; full audit trail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BD5E1"/>
                </a:solidFill>
                <a:latin typeface="Calibri"/>
              </a:rPr>
              <a:t>PeopleTech · AI Manufacturing Practice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0" y="64465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12 / 17 ·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BD5E1"/>
                </a:solidFill>
                <a:latin typeface="Calibri"/>
              </a:rPr>
              <a:t>REUSABLE 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Accelerators &amp;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CBD5E1"/>
                </a:solidFill>
                <a:latin typeface="Calibri"/>
              </a:rPr>
              <a:t>Cut time-to-pilot by 40–60%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75569"/>
                </a:solidFill>
                <a:latin typeface="Calibri"/>
              </a:rPr>
              <a:t>PeopleTech invests in productized assets so every engagement starts from a higher baseline. Below are the six accelerators most relevant to Hyundai's stated use case set — each is field-proven, customer-tested, and licensed under the engagement.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562356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54864" cy="132588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548640" cy="54864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VK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011680"/>
            <a:ext cx="4617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754"/>
                </a:solidFill>
                <a:latin typeface="Calibri"/>
              </a:rPr>
              <a:t>Vision-AI Starter Kit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331720"/>
            <a:ext cx="4617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Pre-trained CNN backbones (ResNet, EfficientNet, YOLOv8), labeling templates, dataset versioning, and inference scaffolds for defect, OCR, and pose tasks. Ships with reference training pipelines on SageMaker and Azure ML.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828800"/>
            <a:ext cx="562356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828800"/>
            <a:ext cx="54864" cy="1325880"/>
          </a:xfrm>
          <a:prstGeom prst="rect">
            <a:avLst/>
          </a:prstGeom>
          <a:solidFill>
            <a:srgbClr val="243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2011680"/>
            <a:ext cx="548640" cy="54864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116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IRA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011680"/>
            <a:ext cx="4617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754"/>
                </a:solidFill>
                <a:latin typeface="Calibri"/>
              </a:rPr>
              <a:t>Industrial IoT Reference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331720"/>
            <a:ext cx="4617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OPC-UA gateway templates, edge compute patterns (AWS IoT Greengrass / Azure IoT Edge), time-series ingestion to historian + lake, and proven sensor onboarding playbooks.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91840"/>
            <a:ext cx="562356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291840"/>
            <a:ext cx="54864" cy="13258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474720"/>
            <a:ext cx="548640" cy="54864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4747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474720"/>
            <a:ext cx="4617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754"/>
                </a:solidFill>
                <a:latin typeface="Calibri"/>
              </a:rPr>
              <a:t>MES / SAP Integration Connector Library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3794760"/>
            <a:ext cx="4617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Production-grade connectors for SAP MES/ERP, SAP PM, AVEVA PI, Maximo CMMS, and major MES vendors. Standardized event schemas for line-hold, work-order generation, and quality events.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3291840"/>
            <a:ext cx="562356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3291840"/>
            <a:ext cx="54864" cy="1325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46520" y="3474720"/>
            <a:ext cx="548640" cy="54864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34747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MLO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3474720"/>
            <a:ext cx="4617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754"/>
                </a:solidFill>
                <a:latin typeface="Calibri"/>
              </a:rPr>
              <a:t>MLOps Blueprint (AWS &amp; Azure)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3794760"/>
            <a:ext cx="4617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End-to-end pattern for model training, registry, deployment, drift monitoring, and auto-retraining. Includes CI/CD pipelines, feature store templates, and explainability hooks.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54880"/>
            <a:ext cx="562356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754880"/>
            <a:ext cx="54864" cy="13258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4937760"/>
            <a:ext cx="548640" cy="54864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9377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EDT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4937760"/>
            <a:ext cx="4617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754"/>
                </a:solidFill>
                <a:latin typeface="Calibri"/>
              </a:rPr>
              <a:t>Edge Deployment Toolkit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5257800"/>
            <a:ext cx="4617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Model optimization (TensorRT, ONNX, OpenVINO), OTA update framework, edge fleet management, and observability across Jetson, Hailo, and Intel edge platforms. &lt;200ms latency.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4754880"/>
            <a:ext cx="562356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63640" y="4754880"/>
            <a:ext cx="54864" cy="132588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46520" y="4937760"/>
            <a:ext cx="548640" cy="54864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49377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TGP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4937760"/>
            <a:ext cx="4617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754"/>
                </a:solidFill>
                <a:latin typeface="Calibri"/>
              </a:rPr>
              <a:t>Traceability Graph Platform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5257800"/>
            <a:ext cx="4617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Neo4j-based genealogy schema, RFID/barcode/vision ingestion adapters, recall scope calculator, and supplier quality chain tracking. Cuts recall investigation from weeks to days.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BD5E1"/>
                </a:solidFill>
                <a:latin typeface="Calibri"/>
              </a:rPr>
              <a:t>PeopleTech · AI Manufacturing Practice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64465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13 / 17 ·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BD5E1"/>
                </a:solidFill>
                <a:latin typeface="Calibri"/>
              </a:rPr>
              <a:t>CAPABILITY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AI Computer Vision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CBD5E1"/>
                </a:solidFill>
                <a:latin typeface="Calibri"/>
              </a:rPr>
              <a:t>Models · Maturity · Hyundai Use Case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75569"/>
                </a:solidFill>
                <a:latin typeface="Calibri"/>
              </a:rPr>
              <a:t>Our vision-AI practice covers the full spectrum of plant-floor tasks Hyundai needs. The matrix below maps each capability to the model families we deploy, our delivery maturity, and the specific Hyundai use case it powers.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783080"/>
          <a:ext cx="11247119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657600"/>
                <a:gridCol w="1371600"/>
                <a:gridCol w="3749039"/>
              </a:tblGrid>
              <a:tr h="492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60000" marR="60000" marT="40000" marB="40000">
                    <a:solidFill>
                      <a:srgbClr val="1A27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MODELS WE DEPLOY</a:t>
                      </a:r>
                    </a:p>
                  </a:txBody>
                  <a:tcPr marL="60000" marR="60000" marT="40000" marB="40000">
                    <a:solidFill>
                      <a:srgbClr val="1A27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MATURITY</a:t>
                      </a:r>
                    </a:p>
                  </a:txBody>
                  <a:tcPr marL="60000" marR="60000" marT="40000" marB="40000">
                    <a:solidFill>
                      <a:srgbClr val="1A27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HYUNDAI USE CASE MAPPING</a:t>
                      </a:r>
                    </a:p>
                  </a:txBody>
                  <a:tcPr marL="60000" marR="60000" marT="40000" marB="40000">
                    <a:solidFill>
                      <a:srgbClr val="1A2754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2754"/>
                          </a:solidFill>
                          <a:latin typeface="Calibri"/>
                        </a:rPr>
                        <a:t>Defect &amp; anomaly detection</a:t>
                      </a:r>
                    </a:p>
                  </a:txBody>
                  <a:tcPr marL="60000" marR="60000" marT="50000" marB="500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latin typeface="Calibri"/>
                        </a:rPr>
                        <a:t>ResNet50 · EfficientNet · PatchCore · custom CNN anomaly heads</a:t>
                      </a:r>
                    </a:p>
                  </a:txBody>
                  <a:tcPr marL="60000" marR="60000" marT="50000" marB="500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65F46"/>
                          </a:solidFill>
                          <a:latin typeface="Calibri"/>
                        </a:rPr>
                        <a:t>Production</a:t>
                      </a:r>
                    </a:p>
                  </a:txBody>
                  <a:tcPr marL="60000" marR="60000" marT="50000" marB="50000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latin typeface="Calibri"/>
                        </a:rPr>
                        <a:t>UC-01 Visual Inspection · UC-05 Predictive Quality</a:t>
                      </a:r>
                    </a:p>
                  </a:txBody>
                  <a:tcPr marL="60000" marR="60000" marT="50000" marB="50000">
                    <a:solidFill>
                      <a:srgbClr val="F8FAFC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2754"/>
                          </a:solidFill>
                          <a:latin typeface="Calibri"/>
                        </a:rPr>
                        <a:t>Object detection</a:t>
                      </a:r>
                    </a:p>
                  </a:txBody>
                  <a:tcPr marL="60000" marR="60000" marT="50000" marB="5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latin typeface="Calibri"/>
                        </a:rPr>
                        <a:t>YOLOv8 / YOLOv9 · DETR · RT-DETR</a:t>
                      </a:r>
                    </a:p>
                  </a:txBody>
                  <a:tcPr marL="60000" marR="60000" marT="50000" marB="5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65F46"/>
                          </a:solidFill>
                          <a:latin typeface="Calibri"/>
                        </a:rPr>
                        <a:t>Production</a:t>
                      </a:r>
                    </a:p>
                  </a:txBody>
                  <a:tcPr marL="60000" marR="60000" marT="50000" marB="50000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latin typeface="Calibri"/>
                        </a:rPr>
                        <a:t>UC-02 Variant · UC-03 Seating · UC-07 Safety (PPE)</a:t>
                      </a:r>
                    </a:p>
                  </a:txBody>
                  <a:tcPr marL="60000" marR="60000" marT="50000" marB="50000">
                    <a:solidFill>
                      <a:srgbClr val="FFFFFF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2754"/>
                          </a:solidFill>
                          <a:latin typeface="Calibri"/>
                        </a:rPr>
                        <a:t>OCR &amp; VIN / barcode reading</a:t>
                      </a:r>
                    </a:p>
                  </a:txBody>
                  <a:tcPr marL="60000" marR="60000" marT="50000" marB="500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latin typeface="Calibri"/>
                        </a:rPr>
                        <a:t>PaddleOCR · TrOCR · DataMan SDK · custom OCR + barcode decoders</a:t>
                      </a:r>
                    </a:p>
                  </a:txBody>
                  <a:tcPr marL="60000" marR="60000" marT="50000" marB="500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65F46"/>
                          </a:solidFill>
                          <a:latin typeface="Calibri"/>
                        </a:rPr>
                        <a:t>Production</a:t>
                      </a:r>
                    </a:p>
                  </a:txBody>
                  <a:tcPr marL="60000" marR="60000" marT="50000" marB="50000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latin typeface="Calibri"/>
                        </a:rPr>
                        <a:t>UC-02 Variant Confirmation · UC-08 Traceability</a:t>
                      </a:r>
                    </a:p>
                  </a:txBody>
                  <a:tcPr marL="60000" marR="60000" marT="50000" marB="50000">
                    <a:solidFill>
                      <a:srgbClr val="F8FAFC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2754"/>
                          </a:solidFill>
                          <a:latin typeface="Calibri"/>
                        </a:rPr>
                        <a:t>Pose estimation</a:t>
                      </a:r>
                    </a:p>
                  </a:txBody>
                  <a:tcPr marL="60000" marR="60000" marT="50000" marB="5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latin typeface="Calibri"/>
                        </a:rPr>
                        <a:t>MoveNet · MMPose · OpenPose · BlazePose</a:t>
                      </a:r>
                    </a:p>
                  </a:txBody>
                  <a:tcPr marL="60000" marR="60000" marT="50000" marB="5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65F46"/>
                          </a:solidFill>
                          <a:latin typeface="Calibri"/>
                        </a:rPr>
                        <a:t>Production</a:t>
                      </a:r>
                    </a:p>
                  </a:txBody>
                  <a:tcPr marL="60000" marR="60000" marT="50000" marB="50000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latin typeface="Calibri"/>
                        </a:rPr>
                        <a:t>UC-04 SOP Compliance · UC-07 Safety (unsafe movement)</a:t>
                      </a:r>
                    </a:p>
                  </a:txBody>
                  <a:tcPr marL="60000" marR="60000" marT="50000" marB="50000">
                    <a:solidFill>
                      <a:srgbClr val="FFFFFF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2754"/>
                          </a:solidFill>
                          <a:latin typeface="Calibri"/>
                        </a:rPr>
                        <a:t>Action / activity recognition</a:t>
                      </a:r>
                    </a:p>
                  </a:txBody>
                  <a:tcPr marL="60000" marR="60000" marT="50000" marB="500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latin typeface="Calibri"/>
                        </a:rPr>
                        <a:t>SlowFast · MViT · TimeSformer · custom temporal heads</a:t>
                      </a:r>
                    </a:p>
                  </a:txBody>
                  <a:tcPr marL="60000" marR="60000" marT="50000" marB="500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92400E"/>
                          </a:solidFill>
                          <a:latin typeface="Calibri"/>
                        </a:rPr>
                        <a:t>Pilot</a:t>
                      </a:r>
                    </a:p>
                  </a:txBody>
                  <a:tcPr marL="60000" marR="60000" marT="50000" marB="500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latin typeface="Calibri"/>
                        </a:rPr>
                        <a:t>UC-04 SOP Compliance · UC-07 Safety (forklift)</a:t>
                      </a:r>
                    </a:p>
                  </a:txBody>
                  <a:tcPr marL="60000" marR="60000" marT="50000" marB="50000">
                    <a:solidFill>
                      <a:srgbClr val="F8FAFC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2754"/>
                          </a:solidFill>
                          <a:latin typeface="Calibri"/>
                        </a:rPr>
                        <a:t>Semantic / instance segmentation</a:t>
                      </a:r>
                    </a:p>
                  </a:txBody>
                  <a:tcPr marL="60000" marR="60000" marT="50000" marB="5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latin typeface="Calibri"/>
                        </a:rPr>
                        <a:t>SAM / SAM 2 · Mask R-CNN · Segformer · Mask2Former</a:t>
                      </a:r>
                    </a:p>
                  </a:txBody>
                  <a:tcPr marL="60000" marR="60000" marT="50000" marB="5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65F46"/>
                          </a:solidFill>
                          <a:latin typeface="Calibri"/>
                        </a:rPr>
                        <a:t>Production</a:t>
                      </a:r>
                    </a:p>
                  </a:txBody>
                  <a:tcPr marL="60000" marR="60000" marT="50000" marB="50000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latin typeface="Calibri"/>
                        </a:rPr>
                        <a:t>UC-01 Visual Inspection · UC-03 Seating Validation</a:t>
                      </a:r>
                    </a:p>
                  </a:txBody>
                  <a:tcPr marL="60000" marR="60000" marT="50000" marB="50000">
                    <a:solidFill>
                      <a:srgbClr val="FFFFFF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2754"/>
                          </a:solidFill>
                          <a:latin typeface="Calibri"/>
                        </a:rPr>
                        <a:t>Vision-language models (zero-shot)</a:t>
                      </a:r>
                    </a:p>
                  </a:txBody>
                  <a:tcPr marL="60000" marR="60000" marT="50000" marB="500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latin typeface="Calibri"/>
                        </a:rPr>
                        <a:t>CLIP · ViT · LLaVA · GPT-4o vision · Claude Vision</a:t>
                      </a:r>
                    </a:p>
                  </a:txBody>
                  <a:tcPr marL="60000" marR="60000" marT="50000" marB="500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92400E"/>
                          </a:solidFill>
                          <a:latin typeface="Calibri"/>
                        </a:rPr>
                        <a:t>Pilot</a:t>
                      </a:r>
                    </a:p>
                  </a:txBody>
                  <a:tcPr marL="60000" marR="60000" marT="50000" marB="50000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latin typeface="Calibri"/>
                        </a:rPr>
                        <a:t>Cross-cutting: rapid prototyping, audit Q&amp;A</a:t>
                      </a:r>
                    </a:p>
                  </a:txBody>
                  <a:tcPr marL="60000" marR="60000" marT="50000" marB="50000">
                    <a:solidFill>
                      <a:srgbClr val="F8FAFC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2754"/>
                          </a:solidFill>
                          <a:latin typeface="Calibri"/>
                        </a:rPr>
                        <a:t>Multi-modal anomaly (vision+sensor)</a:t>
                      </a:r>
                    </a:p>
                  </a:txBody>
                  <a:tcPr marL="60000" marR="60000" marT="50000" marB="5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latin typeface="Calibri"/>
                        </a:rPr>
                        <a:t>Cross-modal transformers · gated fusion · time-aligned ViT</a:t>
                      </a:r>
                    </a:p>
                  </a:txBody>
                  <a:tcPr marL="60000" marR="60000" marT="50000" marB="5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5B21B6"/>
                          </a:solidFill>
                          <a:latin typeface="Calibri"/>
                        </a:rPr>
                        <a:t>PoC</a:t>
                      </a:r>
                    </a:p>
                  </a:txBody>
                  <a:tcPr marL="60000" marR="60000" marT="50000" marB="50000"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latin typeface="Calibri"/>
                        </a:rPr>
                        <a:t>UC-05 Predictive Quality · UC-06 Predictive Maintenance</a:t>
                      </a:r>
                    </a:p>
                  </a:txBody>
                  <a:tcPr marL="60000" marR="60000" marT="50000" marB="5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BD5E1"/>
                </a:solidFill>
                <a:latin typeface="Calibri"/>
              </a:rPr>
              <a:t>PeopleTech · AI Manufacturing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465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14 / 17 ·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BD5E1"/>
                </a:solidFill>
                <a:latin typeface="Calibri"/>
              </a:rPr>
              <a:t>STRATEGIC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AI-Driven Manufacturing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94A3B8"/>
                </a:solidFill>
                <a:latin typeface="Calibri"/>
              </a:rPr>
              <a:t>8 use cases · Built for Hyundai plant ops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97480"/>
            <a:ext cx="3017520" cy="36576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4A085"/>
                </a:solidFill>
                <a:latin typeface="Calibr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E2E8F0"/>
                </a:solidFill>
                <a:latin typeface="Calibri"/>
              </a:rPr>
              <a:t>8 use cases mapped to Hyundai's stated key areas — visual inspection, predictive quality, maintenance, safety, traceability.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4A085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576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E2E8F0"/>
                </a:solidFill>
                <a:latin typeface="Calibri"/>
              </a:rPr>
              <a:t>Edge AI + cloud architecture on AWS / Azure — production-ready, line-side latency &lt;200ms, scalable from one line to enterprise.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062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4A085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06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E2E8F0"/>
                </a:solidFill>
                <a:latin typeface="Calibri"/>
              </a:rPr>
              <a:t>Integration-first: MES, ERP, RFID, IoT, and vision stacks — no rip-and-replace, no parallel systems of record.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54879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4A085"/>
                </a:solidFill>
                <a:latin typeface="Calibri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754879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E2E8F0"/>
                </a:solidFill>
                <a:latin typeface="Calibri"/>
              </a:rPr>
              <a:t>Start with 2 pilots — Visual Inspection at HMGMA (IONIQ paint) + Predictive Maintenance at Ulsan stamping / Asan welding. ROI proven in 12 weeks, then scale across the global Hyundai plant network.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1">
                <a:solidFill>
                  <a:srgbClr val="14A085"/>
                </a:solidFill>
                <a:latin typeface="Calibri"/>
              </a:rPr>
              <a:t>Ready to build? Let's pick the first use case and move fast.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CBD5E1"/>
                </a:solidFill>
                <a:latin typeface="Calibri"/>
              </a:rPr>
              <a:t>Next step: Pilot scoping workshop with PeopleTech's AI Manufacturing practice.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BD5E1"/>
                </a:solidFill>
                <a:latin typeface="Calibri"/>
              </a:rPr>
              <a:t>APPENDIX · PILOT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0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Visual Inspection — Reference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1">
                <a:solidFill>
                  <a:srgbClr val="CBD5E1"/>
                </a:solidFill>
                <a:latin typeface="Calibri"/>
              </a:rPr>
              <a:t>HMGMA · IONIQ paint shop</a:t>
            </a:r>
          </a:p>
        </p:txBody>
      </p:sp>
      <p:pic>
        <p:nvPicPr>
          <p:cNvPr id="7" name="Picture 6" descr="architecture_visual_insp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11430000" cy="5577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BD5E1"/>
                </a:solidFill>
                <a:latin typeface="Calibri"/>
              </a:rPr>
              <a:t>PeopleTech · AI Manufacturing Practice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465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16 / 17 ·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A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BD5E1"/>
                </a:solidFill>
                <a:latin typeface="Calibri"/>
              </a:rPr>
              <a:t>APPENDIX · PILOT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0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Predictive Maintenance — Reference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1">
                <a:solidFill>
                  <a:srgbClr val="CBD5E1"/>
                </a:solidFill>
                <a:latin typeface="Calibri"/>
              </a:rPr>
              <a:t>Ulsan stamping · Asan welding</a:t>
            </a:r>
          </a:p>
        </p:txBody>
      </p:sp>
      <p:pic>
        <p:nvPicPr>
          <p:cNvPr id="7" name="Picture 6" descr="architecture_predictive_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11430000" cy="5577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BD5E1"/>
                </a:solidFill>
                <a:latin typeface="Calibri"/>
              </a:rPr>
              <a:t>PeopleTech · AI Manufacturing Practice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465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17 / 17 ·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
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73152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PLANT OPERATIONS PLATFORM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1280160"/>
            <a:ext cx="6858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Guide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457200" y="2468880"/>
            <a:ext cx="6858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Hyundai  ×  PeopleTech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200" y="3291840"/>
            <a:ext cx="4114800" cy="411480"/>
          </a:xfrm>
          <a:prstGeom prst="roundRect">
            <a:avLst>
              <a:gd name="adj" fmla="val 22222"/>
            </a:avLst>
          </a:prstGeom>
          <a:solidFill>
            <a:srgbClr val="FEE2E2"/>
          </a:solidFill>
          <a:ln w="12700">
            <a:solidFill>
              <a:srgbClr val="E3183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329184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Edge-to-Cloud · 8 Use Cases · Integration-First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393192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platform architecture for AI-driven manufacturing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Hyundai's global plant network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772400" y="914400"/>
            <a:ext cx="3931920" cy="914400"/>
          </a:xfrm>
          <a:prstGeom prst="rect">
            <a:avLst/>
          </a:prstGeom>
          <a:solidFill>
            <a:srgbClr val="F5F7FA"/>
          </a:solidFill>
          <a:ln w="12700">
            <a:solidFill>
              <a:srgbClr val="D0D5D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0" y="914400"/>
            <a:ext cx="73152" cy="914400"/>
          </a:xfrm>
          <a:prstGeom prst="rect">
            <a:avLst/>
          </a:prstGeom>
          <a:solidFill>
            <a:srgbClr val="1F3B6E"/>
          </a:solidFill>
          <a:ln w="12700">
            <a:solidFill>
              <a:srgbClr val="1F3B6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001000" y="91440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 Floor / Edge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772400" y="2103120"/>
            <a:ext cx="3931920" cy="914400"/>
          </a:xfrm>
          <a:prstGeom prst="rect">
            <a:avLst/>
          </a:prstGeom>
          <a:solidFill>
            <a:srgbClr val="F5F7FA"/>
          </a:solidFill>
          <a:ln w="12700">
            <a:solidFill>
              <a:srgbClr val="D0D5D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72400" y="2103120"/>
            <a:ext cx="73152" cy="914400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01000" y="210312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 &amp; Integration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772400" y="3291840"/>
            <a:ext cx="3931920" cy="914400"/>
          </a:xfrm>
          <a:prstGeom prst="rect">
            <a:avLst/>
          </a:prstGeom>
          <a:solidFill>
            <a:srgbClr val="F5F7FA"/>
          </a:solidFill>
          <a:ln w="12700">
            <a:solidFill>
              <a:srgbClr val="D0D5D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72400" y="3291840"/>
            <a:ext cx="73152" cy="91440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01000" y="329184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/ ML Compute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4480560"/>
            <a:ext cx="3931920" cy="914400"/>
          </a:xfrm>
          <a:prstGeom prst="rect">
            <a:avLst/>
          </a:prstGeom>
          <a:solidFill>
            <a:srgbClr val="F5F7FA"/>
          </a:solidFill>
          <a:ln w="12700">
            <a:solidFill>
              <a:srgbClr val="D0D5D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72400" y="4480560"/>
            <a:ext cx="73152" cy="914400"/>
          </a:xfrm>
          <a:prstGeom prst="rect">
            <a:avLst/>
          </a:prstGeom>
          <a:solidFill>
            <a:srgbClr val="BE185D"/>
          </a:solidFill>
          <a:ln w="12700">
            <a:solidFill>
              <a:srgbClr val="BE185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001000" y="448056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&amp; UX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0" y="6217920"/>
            <a:ext cx="12188952" cy="640080"/>
          </a:xfrm>
          <a:prstGeom prst="rect">
            <a:avLst/>
          </a:prstGeom>
          <a:solidFill>
            <a:srgbClr val="0D3B5E"/>
          </a:solidFill>
          <a:ln w="12700">
            <a:solidFill>
              <a:srgbClr val="0D3B5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" y="6263640"/>
            <a:ext cx="1145743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Hyundai × PeopleTech · AI Manufacturing Practice · May 2026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AI Plant Operations Platform?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platform, eight use cases, shared infrastructure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47472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371600"/>
            <a:ext cx="3474720" cy="347472"/>
          </a:xfrm>
          <a:prstGeom prst="rect">
            <a:avLst/>
          </a:prstGeom>
          <a:solidFill>
            <a:srgbClr val="0D3B5E"/>
          </a:solidFill>
          <a:ln w="12700">
            <a:solidFill>
              <a:srgbClr val="0D3B5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26464"/>
            <a:ext cx="32552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Edge-to-Cloud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773936"/>
            <a:ext cx="3255264" cy="2688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Connects plant-floor sensors, cameras, and scanners through edge compute to cloud AI models. Sub-200ms line-side latency for real-time decisions. Runs on NVIDIA Jetson, Hailo, and Intel edge with AWS IoT Greengrass / Azure IoT Edge.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206240" y="1371600"/>
            <a:ext cx="347472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06240" y="1371600"/>
            <a:ext cx="3474720" cy="347472"/>
          </a:xfrm>
          <a:prstGeom prst="rect">
            <a:avLst/>
          </a:prstGeom>
          <a:solidFill>
            <a:srgbClr val="0D3B5E"/>
          </a:solidFill>
          <a:ln w="12700">
            <a:solidFill>
              <a:srgbClr val="0D3B5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15968" y="1426464"/>
            <a:ext cx="32552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Integration-First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315968" y="1773936"/>
            <a:ext cx="3255264" cy="2688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Plugs into Hyundai's existing SAP MES/ERP, SAP PM, AVEVA PI historian — no rip-and-replace. Pre-built connector library with standardized event schemas for line-hold, work-order generation, and quality events.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955280" y="1371600"/>
            <a:ext cx="374904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955280" y="1371600"/>
            <a:ext cx="3749040" cy="347472"/>
          </a:xfrm>
          <a:prstGeom prst="rect">
            <a:avLst/>
          </a:prstGeom>
          <a:solidFill>
            <a:srgbClr val="0D3B5E"/>
          </a:solidFill>
          <a:ln w="12700">
            <a:solidFill>
              <a:srgbClr val="0D3B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65008" y="1426464"/>
            <a:ext cx="35295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AI Use Cases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065008" y="1773936"/>
            <a:ext cx="3529584" cy="2688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Inspection — CNN defect detection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Variant Confirmation — VIN/BOM match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Seating Validation — fitment checks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 Compliance — pose estimation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Quality — sensor fusion ML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Maintenance — anomaly detection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Monitoring — PPE/zone AI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Traceability — genealogy graph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7200" y="4846320"/>
            <a:ext cx="112745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 to pilot on one line and scale across Ulsan, Asan, HMGMA, HMMA, HMMC, HMI.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0" y="6217920"/>
            <a:ext cx="12188952" cy="640080"/>
          </a:xfrm>
          <a:prstGeom prst="rect">
            <a:avLst/>
          </a:prstGeom>
          <a:solidFill>
            <a:srgbClr val="0D3B5E"/>
          </a:solidFill>
          <a:ln w="12700">
            <a:solidFill>
              <a:srgbClr val="0D3B5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6263640"/>
            <a:ext cx="1145743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infrastructure · Shared MLOps · Scale from 1 line to enterprise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siloed solutions fail at plant scale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560320" cy="731520"/>
          </a:xfrm>
          <a:prstGeom prst="rect">
            <a:avLst/>
          </a:prstGeom>
          <a:solidFill>
            <a:srgbClr val="F5F7FA"/>
          </a:solidFill>
          <a:ln w="12700">
            <a:solidFill>
              <a:srgbClr val="D0D5D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37160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Siloed Point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017520" y="1371600"/>
            <a:ext cx="320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3337560" y="1371600"/>
            <a:ext cx="2560320" cy="731520"/>
          </a:xfrm>
          <a:prstGeom prst="rect">
            <a:avLst/>
          </a:prstGeom>
          <a:solidFill>
            <a:srgbClr val="F5F7FA"/>
          </a:solidFill>
          <a:ln w="12700">
            <a:solidFill>
              <a:srgbClr val="D0D5D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337560" y="137160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Fragmented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897880" y="1371600"/>
            <a:ext cx="320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217920" y="1371600"/>
            <a:ext cx="2560320" cy="731520"/>
          </a:xfrm>
          <a:prstGeom prst="rect">
            <a:avLst/>
          </a:prstGeom>
          <a:solidFill>
            <a:srgbClr val="F5F7FA"/>
          </a:solidFill>
          <a:ln w="12700">
            <a:solidFill>
              <a:srgbClr val="D0D5D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17920" y="137160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Response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778240" y="1371600"/>
            <a:ext cx="320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9098280" y="1371600"/>
            <a:ext cx="2560320" cy="731520"/>
          </a:xfrm>
          <a:prstGeom prst="rect">
            <a:avLst/>
          </a:prstGeom>
          <a:solidFill>
            <a:srgbClr val="F5F7FA"/>
          </a:solidFill>
          <a:ln w="12700">
            <a:solidFill>
              <a:srgbClr val="D0D5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098280" y="137160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Cost of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Failures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2468880"/>
            <a:ext cx="35661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468880"/>
            <a:ext cx="3566160" cy="347472"/>
          </a:xfrm>
          <a:prstGeom prst="rect">
            <a:avLst/>
          </a:prstGeom>
          <a:solidFill>
            <a:srgbClr val="0D3B5E"/>
          </a:solidFill>
          <a:ln w="12700">
            <a:solidFill>
              <a:srgbClr val="0D3B5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" y="2523744"/>
            <a:ext cx="334670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Shared Platform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66928" y="2871216"/>
            <a:ext cx="3346704" cy="17739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use case built on its own stack. Separate cameras, separate databases, separate dashboards. No cross-use-case data fusion. Infrastructure cost multiplied by 8.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297680" y="2468880"/>
            <a:ext cx="35661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297680" y="2468880"/>
            <a:ext cx="3566160" cy="347472"/>
          </a:xfrm>
          <a:prstGeom prst="rect">
            <a:avLst/>
          </a:prstGeom>
          <a:solidFill>
            <a:srgbClr val="0D3B5E"/>
          </a:solidFill>
          <a:ln w="12700">
            <a:solidFill>
              <a:srgbClr val="0D3B5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407408" y="2523744"/>
            <a:ext cx="334670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Gap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407408" y="2871216"/>
            <a:ext cx="3346704" cy="17739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models produce insights that never reach operators. Manual hand-offs between AI outputs and SAP/MES. No automated line-hold, work-order generation, or escalation.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138160" y="2468880"/>
            <a:ext cx="35661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138160" y="2468880"/>
            <a:ext cx="3566160" cy="347472"/>
          </a:xfrm>
          <a:prstGeom prst="rect">
            <a:avLst/>
          </a:prstGeom>
          <a:solidFill>
            <a:srgbClr val="0D3B5E"/>
          </a:solidFill>
          <a:ln w="12700">
            <a:solidFill>
              <a:srgbClr val="0D3B5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47888" y="2523744"/>
            <a:ext cx="334670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 &amp; Scale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247888" y="2871216"/>
            <a:ext cx="3346704" cy="17739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Cloud-only inference adds 500ms–2s latency — too slow for line-side decisions. Models trained once, never retrained. No OTA update path. Scaling from 1 line to 50 requires re-architecture.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0" y="6217920"/>
            <a:ext cx="12188952" cy="640080"/>
          </a:xfrm>
          <a:prstGeom prst="rect">
            <a:avLst/>
          </a:prstGeom>
          <a:solidFill>
            <a:srgbClr val="0D3B5E"/>
          </a:solidFill>
          <a:ln w="12700">
            <a:solidFill>
              <a:srgbClr val="0D3B5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6263640"/>
            <a:ext cx="1145743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platform approach: one infrastructure, eight use cases, one integration layer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Overview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Four-layer edge-to-cloud platform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7132320" cy="1005840"/>
          </a:xfrm>
          <a:prstGeom prst="rect">
            <a:avLst/>
          </a:prstGeom>
          <a:solidFill>
            <a:srgbClr val="F0F9FF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17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 FLOOR / EDGE CAPTURE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737360"/>
            <a:ext cx="155448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3736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Cameras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(Cognex, Basler)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77440" y="1737360"/>
            <a:ext cx="155448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77440" y="173736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IoT Sensors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(Vib, Acoustic)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114800" y="1737360"/>
            <a:ext cx="155448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14800" y="173736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RFID / Barcode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Scanners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852160" y="1737360"/>
            <a:ext cx="155448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52160" y="173736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Compute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(Jetson, Hailo)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2560320"/>
            <a:ext cx="7132320" cy="1005840"/>
          </a:xfrm>
          <a:prstGeom prst="rect">
            <a:avLst/>
          </a:prstGeom>
          <a:solidFill>
            <a:srgbClr val="FFF7ED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26060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 &amp; INTEGRATION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0080" y="2926080"/>
            <a:ext cx="155448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292608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Kafka Event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377440" y="2926080"/>
            <a:ext cx="155448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377440" y="292608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 MES / ERP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114800" y="2926080"/>
            <a:ext cx="155448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114800" y="292608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AVEVA PI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Historian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852160" y="2926080"/>
            <a:ext cx="155448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852160" y="292608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DB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Neo4j Graph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57200" y="3749040"/>
            <a:ext cx="7132320" cy="1005840"/>
          </a:xfrm>
          <a:prstGeom prst="rect">
            <a:avLst/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8640" y="37947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/ ML COMPUTE (CLOUD)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40080" y="4114800"/>
            <a:ext cx="155448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411480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SageMaker /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ML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377440" y="4114800"/>
            <a:ext cx="155448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77440" y="411480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Use Case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Groups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114800" y="4114800"/>
            <a:ext cx="155448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114800" y="411480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MLOps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852160" y="4114800"/>
            <a:ext cx="155448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852160" y="411480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Lake /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Store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57200" y="4937760"/>
            <a:ext cx="7132320" cy="1005840"/>
          </a:xfrm>
          <a:prstGeom prst="rect">
            <a:avLst/>
          </a:prstGeom>
          <a:solidFill>
            <a:srgbClr val="FDF2F8"/>
          </a:solidFill>
          <a:ln w="12700">
            <a:solidFill>
              <a:srgbClr val="FBCFE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48640" y="49834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E18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&amp; UX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40080" y="5303520"/>
            <a:ext cx="155448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0080" y="530352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377440" y="5303520"/>
            <a:ext cx="155448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377440" y="530352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 Health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114800" y="5303520"/>
            <a:ext cx="155448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114800" y="530352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EHS / Safety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852160" y="5303520"/>
            <a:ext cx="155448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852160" y="530352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BI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Alerts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7863840" y="137160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5-Step Data Flow</a:t>
            </a:r>
            <a:endParaRPr lang="en-US" sz="2000" dirty="0"/>
          </a:p>
        </p:txBody>
      </p:sp>
      <p:sp>
        <p:nvSpPr>
          <p:cNvPr id="45" name="Shape 43"/>
          <p:cNvSpPr/>
          <p:nvPr/>
        </p:nvSpPr>
        <p:spPr>
          <a:xfrm>
            <a:off x="7863840" y="1920240"/>
            <a:ext cx="3840480" cy="640080"/>
          </a:xfrm>
          <a:prstGeom prst="rect">
            <a:avLst/>
          </a:prstGeom>
          <a:solidFill>
            <a:srgbClr val="F5F7FA"/>
          </a:solidFill>
          <a:ln w="12700">
            <a:solidFill>
              <a:srgbClr val="D0D5DD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863840" y="1920240"/>
            <a:ext cx="54864" cy="640080"/>
          </a:xfrm>
          <a:prstGeom prst="rect">
            <a:avLst/>
          </a:prstGeom>
          <a:solidFill>
            <a:srgbClr val="1F3B6E"/>
          </a:solidFill>
          <a:ln w="12700">
            <a:solidFill>
              <a:srgbClr val="1F3B6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046720" y="192024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Capture — cameras, sensors, RFID scan production line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7863840" y="2697480"/>
            <a:ext cx="3840480" cy="640080"/>
          </a:xfrm>
          <a:prstGeom prst="rect">
            <a:avLst/>
          </a:prstGeom>
          <a:solidFill>
            <a:srgbClr val="F5F7FA"/>
          </a:solidFill>
          <a:ln w="12700">
            <a:solidFill>
              <a:srgbClr val="D0D5DD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863840" y="2697480"/>
            <a:ext cx="54864" cy="640080"/>
          </a:xfrm>
          <a:prstGeom prst="rect">
            <a:avLst/>
          </a:prstGeom>
          <a:solidFill>
            <a:srgbClr val="1F3B6E"/>
          </a:solidFill>
          <a:ln w="12700">
            <a:solidFill>
              <a:srgbClr val="1F3B6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046720" y="269748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Edge Inference — local GPU runs models in &lt;200ms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7863840" y="3474720"/>
            <a:ext cx="3840480" cy="640080"/>
          </a:xfrm>
          <a:prstGeom prst="rect">
            <a:avLst/>
          </a:prstGeom>
          <a:solidFill>
            <a:srgbClr val="F5F7FA"/>
          </a:solidFill>
          <a:ln w="12700">
            <a:solidFill>
              <a:srgbClr val="D0D5DD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7863840" y="3474720"/>
            <a:ext cx="54864" cy="640080"/>
          </a:xfrm>
          <a:prstGeom prst="rect">
            <a:avLst/>
          </a:prstGeom>
          <a:solidFill>
            <a:srgbClr val="1F3B6E"/>
          </a:solidFill>
          <a:ln w="12700">
            <a:solidFill>
              <a:srgbClr val="1F3B6E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8046720" y="347472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Event Stream — Kafka routes scored events to integration layer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7863840" y="4251960"/>
            <a:ext cx="3840480" cy="640080"/>
          </a:xfrm>
          <a:prstGeom prst="rect">
            <a:avLst/>
          </a:prstGeom>
          <a:solidFill>
            <a:srgbClr val="F5F7FA"/>
          </a:solidFill>
          <a:ln w="12700">
            <a:solidFill>
              <a:srgbClr val="D0D5DD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863840" y="4251960"/>
            <a:ext cx="54864" cy="640080"/>
          </a:xfrm>
          <a:prstGeom prst="rect">
            <a:avLst/>
          </a:prstGeom>
          <a:solidFill>
            <a:srgbClr val="1F3B6E"/>
          </a:solidFill>
          <a:ln w="12700">
            <a:solidFill>
              <a:srgbClr val="1F3B6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8046720" y="425196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AI + Enterprise — cloud models train; SAP/MES act on events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7863840" y="5029200"/>
            <a:ext cx="3840480" cy="640080"/>
          </a:xfrm>
          <a:prstGeom prst="rect">
            <a:avLst/>
          </a:prstGeom>
          <a:solidFill>
            <a:srgbClr val="F5F7FA"/>
          </a:solidFill>
          <a:ln w="12700">
            <a:solidFill>
              <a:srgbClr val="D0D5DD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863840" y="5029200"/>
            <a:ext cx="54864" cy="640080"/>
          </a:xfrm>
          <a:prstGeom prst="rect">
            <a:avLst/>
          </a:prstGeom>
          <a:solidFill>
            <a:srgbClr val="1F3B6E"/>
          </a:solidFill>
          <a:ln w="12700">
            <a:solidFill>
              <a:srgbClr val="1F3B6E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046720" y="502920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UX — dashboards, alerts, and mobile push to operators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Components Deep Dive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each layer does and why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53949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280160"/>
            <a:ext cx="5394960" cy="347472"/>
          </a:xfrm>
          <a:prstGeom prst="rect">
            <a:avLst/>
          </a:prstGeom>
          <a:solidFill>
            <a:srgbClr val="0D3B5E"/>
          </a:solidFill>
          <a:ln w="12700">
            <a:solidFill>
              <a:srgbClr val="0D3B5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335024"/>
            <a:ext cx="517550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 Floor / Edge Capture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682496"/>
            <a:ext cx="5175504" cy="17739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cameras (Cognex, Basler, Keyence) — multi-angle, high-res surface capture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IoT sensors — vibration, acoustic, thermal, pressure for machine health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RFID &amp; barcode scanners — component tracking and VIN verification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compute (NVIDIA Jetson, Hailo) — &lt;200ms local inference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OPC-UA bus + edge gateway — protocol translation and local resilience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217920" y="1280160"/>
            <a:ext cx="53949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17920" y="1280160"/>
            <a:ext cx="5394960" cy="347472"/>
          </a:xfrm>
          <a:prstGeom prst="rect">
            <a:avLst/>
          </a:prstGeom>
          <a:solidFill>
            <a:srgbClr val="0D3B5E"/>
          </a:solidFill>
          <a:ln w="12700">
            <a:solidFill>
              <a:srgbClr val="0D3B5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27648" y="1335024"/>
            <a:ext cx="517550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 &amp; Integration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327648" y="1682496"/>
            <a:ext cx="5175504" cy="17739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Kafka event bus — real-time quality, maintenance, safety event routing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 / SAP Connector Library — pre-built line-hold and work-order integration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 MES/ERP + SAP PM/CMMS — production orders, maintenance scheduling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AVEVA PI historian — time-series sensor storage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Neo4j genealogy graph — component-to-vehicle traceability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840480"/>
            <a:ext cx="53949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3840480"/>
            <a:ext cx="5394960" cy="347472"/>
          </a:xfrm>
          <a:prstGeom prst="rect">
            <a:avLst/>
          </a:prstGeom>
          <a:solidFill>
            <a:srgbClr val="0D3B5E"/>
          </a:solidFill>
          <a:ln w="12700">
            <a:solidFill>
              <a:srgbClr val="0D3B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3895344"/>
            <a:ext cx="517550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/ ML Compute (Cloud)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66928" y="4242816"/>
            <a:ext cx="5175504" cy="17739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SageMaker / Azure ML — training, tuning, model registry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model groups: CNN (visual), YOLO (detection), LSTM (time-series), Autoencoder (anomaly)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MLOps: MLflow + CI/CD + drift detection + auto-retraining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optimization: TensorRT / ONNX → edge OTA deployment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lake (S3 / ADLS) with Parquet / Delta Lake feature store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217920" y="3840480"/>
            <a:ext cx="53949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17920" y="3840480"/>
            <a:ext cx="5394960" cy="347472"/>
          </a:xfrm>
          <a:prstGeom prst="rect">
            <a:avLst/>
          </a:prstGeom>
          <a:solidFill>
            <a:srgbClr val="0D3B5E"/>
          </a:solidFill>
          <a:ln w="12700">
            <a:solidFill>
              <a:srgbClr val="0D3B5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27648" y="3895344"/>
            <a:ext cx="517550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&amp; UX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327648" y="4242816"/>
            <a:ext cx="5175504" cy="17739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dashboard — real-time defect monitoring by station/shift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 health dashboard — risk-prioritized maintenance work queue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EHS live wall — PPE compliance, zone alerts, incident reports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station UI — pass/fail cues, hold-station controls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Alerting (Slack/Teams/Andon) + Executive BI (Power BI/Tableau)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vs. Point Solutions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 unified architecture wins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758184" cy="457200"/>
          </a:xfrm>
          <a:prstGeom prst="rect">
            <a:avLst/>
          </a:prstGeom>
          <a:solidFill>
            <a:srgbClr val="F5F7FA"/>
          </a:solidFill>
          <a:ln w="6350">
            <a:solidFill>
              <a:srgbClr val="D0D5D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17320"/>
            <a:ext cx="35753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215384" y="1371600"/>
            <a:ext cx="3758184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5D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306824" y="1417320"/>
            <a:ext cx="35753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Siloed Point Solutions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973568" y="1371600"/>
            <a:ext cx="3758184" cy="457200"/>
          </a:xfrm>
          <a:prstGeom prst="rect">
            <a:avLst/>
          </a:prstGeom>
          <a:solidFill>
            <a:srgbClr val="FEE2E2"/>
          </a:solidFill>
          <a:ln w="6350">
            <a:solidFill>
              <a:srgbClr val="D0D5D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65008" y="1417320"/>
            <a:ext cx="35753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Platform (Ours)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1874520"/>
            <a:ext cx="3758184" cy="502920"/>
          </a:xfrm>
          <a:prstGeom prst="rect">
            <a:avLst/>
          </a:prstGeom>
          <a:solidFill>
            <a:srgbClr val="F5F7FA"/>
          </a:solidFill>
          <a:ln w="6350">
            <a:solidFill>
              <a:srgbClr val="D0D5D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1920240"/>
            <a:ext cx="357530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cost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15384" y="1874520"/>
            <a:ext cx="3758184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5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06824" y="1920240"/>
            <a:ext cx="357530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8× separate stacks, cameras, DBs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973568" y="1874520"/>
            <a:ext cx="3758184" cy="502920"/>
          </a:xfrm>
          <a:prstGeom prst="rect">
            <a:avLst/>
          </a:prstGeom>
          <a:solidFill>
            <a:srgbClr val="FEE2E2"/>
          </a:solidFill>
          <a:ln w="6350">
            <a:solidFill>
              <a:srgbClr val="D0D5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065008" y="1920240"/>
            <a:ext cx="357530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edge fleet + one data lake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2423160"/>
            <a:ext cx="3758184" cy="502920"/>
          </a:xfrm>
          <a:prstGeom prst="rect">
            <a:avLst/>
          </a:prstGeom>
          <a:solidFill>
            <a:srgbClr val="F5F7FA"/>
          </a:solidFill>
          <a:ln w="6350">
            <a:solidFill>
              <a:srgbClr val="D0D5D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2468880"/>
            <a:ext cx="357530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effort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215384" y="2423160"/>
            <a:ext cx="3758184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5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06824" y="2468880"/>
            <a:ext cx="357530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connectors per use case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973568" y="2423160"/>
            <a:ext cx="3758184" cy="502920"/>
          </a:xfrm>
          <a:prstGeom prst="rect">
            <a:avLst/>
          </a:prstGeom>
          <a:solidFill>
            <a:srgbClr val="FEE2E2"/>
          </a:solidFill>
          <a:ln w="6350">
            <a:solidFill>
              <a:srgbClr val="D0D5D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65008" y="2468880"/>
            <a:ext cx="357530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Pre-built SAP/MES library, Kafka bus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2971800"/>
            <a:ext cx="3758184" cy="502920"/>
          </a:xfrm>
          <a:prstGeom prst="rect">
            <a:avLst/>
          </a:prstGeom>
          <a:solidFill>
            <a:srgbClr val="F5F7FA"/>
          </a:solidFill>
          <a:ln w="6350">
            <a:solidFill>
              <a:srgbClr val="D0D5D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3017520"/>
            <a:ext cx="357530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215384" y="2971800"/>
            <a:ext cx="3758184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5D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306824" y="3017520"/>
            <a:ext cx="357530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Cloud-only: 500ms–2s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973568" y="2971800"/>
            <a:ext cx="3758184" cy="502920"/>
          </a:xfrm>
          <a:prstGeom prst="rect">
            <a:avLst/>
          </a:prstGeom>
          <a:solidFill>
            <a:srgbClr val="FEE2E2"/>
          </a:solidFill>
          <a:ln w="6350">
            <a:solidFill>
              <a:srgbClr val="D0D5D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065008" y="3017520"/>
            <a:ext cx="357530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Edge-first: &lt;200ms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57200" y="3520440"/>
            <a:ext cx="3758184" cy="502920"/>
          </a:xfrm>
          <a:prstGeom prst="rect">
            <a:avLst/>
          </a:prstGeom>
          <a:solidFill>
            <a:srgbClr val="F5F7FA"/>
          </a:solidFill>
          <a:ln w="6350">
            <a:solidFill>
              <a:srgbClr val="D0D5D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48640" y="3566160"/>
            <a:ext cx="357530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retraining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215384" y="3520440"/>
            <a:ext cx="3758184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5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306824" y="3566160"/>
            <a:ext cx="357530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Manual, ad-hoc per model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7973568" y="3520440"/>
            <a:ext cx="3758184" cy="502920"/>
          </a:xfrm>
          <a:prstGeom prst="rect">
            <a:avLst/>
          </a:prstGeom>
          <a:solidFill>
            <a:srgbClr val="FEE2E2"/>
          </a:solidFill>
          <a:ln w="6350">
            <a:solidFill>
              <a:srgbClr val="D0D5D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065008" y="3566160"/>
            <a:ext cx="357530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MLOps: drift detect → auto-retrain → OTA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57200" y="4069080"/>
            <a:ext cx="3758184" cy="502920"/>
          </a:xfrm>
          <a:prstGeom prst="rect">
            <a:avLst/>
          </a:prstGeom>
          <a:solidFill>
            <a:srgbClr val="F5F7FA"/>
          </a:solidFill>
          <a:ln w="6350">
            <a:solidFill>
              <a:srgbClr val="D0D5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48640" y="4114800"/>
            <a:ext cx="357530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to add use case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4215384" y="4069080"/>
            <a:ext cx="3758184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5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306824" y="4114800"/>
            <a:ext cx="357530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3–6 months from scratch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7973568" y="4069080"/>
            <a:ext cx="3758184" cy="502920"/>
          </a:xfrm>
          <a:prstGeom prst="rect">
            <a:avLst/>
          </a:prstGeom>
          <a:solidFill>
            <a:srgbClr val="FEE2E2"/>
          </a:solidFill>
          <a:ln w="6350">
            <a:solidFill>
              <a:srgbClr val="D0D5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065008" y="4114800"/>
            <a:ext cx="357530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4–6 weeks (deploy model to existing infra)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457200" y="4617720"/>
            <a:ext cx="3758184" cy="502920"/>
          </a:xfrm>
          <a:prstGeom prst="rect">
            <a:avLst/>
          </a:prstGeom>
          <a:solidFill>
            <a:srgbClr val="F5F7FA"/>
          </a:solidFill>
          <a:ln w="6350">
            <a:solidFill>
              <a:srgbClr val="D0D5D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48640" y="4663440"/>
            <a:ext cx="357530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Cross-UC data fusion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4215384" y="4617720"/>
            <a:ext cx="3758184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5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306824" y="4663440"/>
            <a:ext cx="357530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possible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7973568" y="4617720"/>
            <a:ext cx="3758184" cy="502920"/>
          </a:xfrm>
          <a:prstGeom prst="rect">
            <a:avLst/>
          </a:prstGeom>
          <a:solidFill>
            <a:srgbClr val="FEE2E2"/>
          </a:solidFill>
          <a:ln w="6350">
            <a:solidFill>
              <a:srgbClr val="D0D5D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065008" y="4663440"/>
            <a:ext cx="357530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data lake enables sensor + vision fusion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457200" y="5166360"/>
            <a:ext cx="3758184" cy="502920"/>
          </a:xfrm>
          <a:prstGeom prst="rect">
            <a:avLst/>
          </a:prstGeom>
          <a:solidFill>
            <a:srgbClr val="F5F7FA"/>
          </a:solidFill>
          <a:ln w="6350">
            <a:solidFill>
              <a:srgbClr val="D0D5DD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48640" y="5212080"/>
            <a:ext cx="357530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path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215384" y="5166360"/>
            <a:ext cx="3758184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5DD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306824" y="5212080"/>
            <a:ext cx="357530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Re-architect per plant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7973568" y="5166360"/>
            <a:ext cx="3758184" cy="502920"/>
          </a:xfrm>
          <a:prstGeom prst="rect">
            <a:avLst/>
          </a:prstGeom>
          <a:solidFill>
            <a:srgbClr val="FEE2E2"/>
          </a:solidFill>
          <a:ln w="6350">
            <a:solidFill>
              <a:srgbClr val="D0D5DD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065008" y="5212080"/>
            <a:ext cx="357530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edge nodes, same stack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View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inference + MLOps pipeline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Inference Pipeline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737360"/>
            <a:ext cx="50292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captures frame → edge GPU runs TensorRT-optimized model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score + metadata published to Kafka topic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score &gt; threshold → MES connector triggers SAP line-hold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Defect record persisted to PostgreSQL with full traceability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updates in real time; operator sees pass/fail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411480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MLOps Retraining Loop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4572000"/>
            <a:ext cx="50292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Rework-confirmed defects feed back to SageMaker weekly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MLflow tracks experiments, model registry versions artifacts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TensorRT optimization → OTA push to edge fleet via Greengrass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0" y="1280160"/>
            <a:ext cx="5760720" cy="4754880"/>
          </a:xfrm>
          <a:prstGeom prst="rect">
            <a:avLst/>
          </a:prstGeom>
          <a:solidFill>
            <a:srgbClr val="F0F2F5"/>
          </a:solidFill>
          <a:ln w="12700">
            <a:solidFill>
              <a:srgbClr val="D0D5D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053328" y="1371600"/>
            <a:ext cx="5541264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Edge Inference Pipeline (simplified)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─────────────────────────────────────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frame = camera.capture()           # Cognex/Basler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tensor = preprocess(frame)         # Resize, normalize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 = model.infer(tensor)        # TensorRT on Jetson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event =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"station_id": STATION,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"score": score,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"timestamp": now(),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"image_ref": s3_upload(frame),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"vin": rfid_reader.last_scan()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kafka.publish("quality.defects", event)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score &gt; THRESHOLD: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mes_connector.trigger_line_hold(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station=STATION,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reason="AI defect detected",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score=score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quality_db.insert(event)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alerting.notify(SUPERVISOR, event)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── Weekly retraining loop ──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rework_data = quality_db.get_confirmed()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sagemaker.train(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dataset=rework_data,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base_model="resnet50-v3.2",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output="s3://models/resnet50-v3.3"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iot_greengrass.ota_deploy("resnet50-v3.3")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Outcomes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results from peer-OEM deployments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029200" cy="4572000"/>
          </a:xfrm>
          <a:prstGeom prst="rect">
            <a:avLst/>
          </a:prstGeom>
          <a:solidFill>
            <a:srgbClr val="F5F7FA"/>
          </a:solidFill>
          <a:ln w="12700">
            <a:solidFill>
              <a:srgbClr val="D0D5D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463040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Impact Areas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011680"/>
            <a:ext cx="46634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2011680"/>
            <a:ext cx="54864" cy="731520"/>
          </a:xfrm>
          <a:prstGeom prst="rect">
            <a:avLst/>
          </a:prstGeom>
          <a:solidFill>
            <a:srgbClr val="14A085"/>
          </a:solidFill>
          <a:ln w="12700">
            <a:solidFill>
              <a:srgbClr val="14A08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084832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Inspection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22960" y="23774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 defect detection → −45% rework, −60% escapes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2926080"/>
            <a:ext cx="46634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" y="2926080"/>
            <a:ext cx="54864" cy="731520"/>
          </a:xfrm>
          <a:prstGeom prst="rect">
            <a:avLst/>
          </a:prstGeom>
          <a:solidFill>
            <a:srgbClr val="1A2754"/>
          </a:solidFill>
          <a:ln w="12700">
            <a:solidFill>
              <a:srgbClr val="1A27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2999232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Maintenance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22960" y="32918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detection → −40% downtime, 5:1 ROI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3840480"/>
            <a:ext cx="46634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840480"/>
            <a:ext cx="54864" cy="731520"/>
          </a:xfrm>
          <a:prstGeom prst="rect">
            <a:avLst/>
          </a:prstGeom>
          <a:solidFill>
            <a:srgbClr val="0E7B6A"/>
          </a:solidFill>
          <a:ln w="12700">
            <a:solidFill>
              <a:srgbClr val="0E7B6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3913632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&amp; SOP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22960" y="4206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Pose estimation → −55% incidents, 98% PPE compliance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4754880"/>
            <a:ext cx="46634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4754880"/>
            <a:ext cx="54864" cy="7315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4828032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Traceability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22960" y="51206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Genealogy graph → 100% tracking, recall in days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217920" y="1371600"/>
            <a:ext cx="5029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&lt;200ms</a:t>
            </a:r>
            <a:endParaRPr lang="en-US" sz="7200" dirty="0"/>
          </a:p>
        </p:txBody>
      </p:sp>
      <p:sp>
        <p:nvSpPr>
          <p:cNvPr id="23" name="Text 21"/>
          <p:cNvSpPr/>
          <p:nvPr/>
        </p:nvSpPr>
        <p:spPr>
          <a:xfrm>
            <a:off x="6217920" y="22860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inference latency — line-side decisions in real time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17920" y="2926080"/>
            <a:ext cx="5029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3–5×</a:t>
            </a:r>
            <a:endParaRPr lang="en-US" sz="7200" dirty="0"/>
          </a:p>
        </p:txBody>
      </p:sp>
      <p:sp>
        <p:nvSpPr>
          <p:cNvPr id="25" name="Text 23"/>
          <p:cNvSpPr/>
          <p:nvPr/>
        </p:nvSpPr>
        <p:spPr>
          <a:xfrm>
            <a:off x="6217920" y="38404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ROI within first year of deployment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217920" y="4480560"/>
            <a:ext cx="5029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40–60%</a:t>
            </a:r>
            <a:endParaRPr lang="en-US" sz="7200" dirty="0"/>
          </a:p>
        </p:txBody>
      </p:sp>
      <p:sp>
        <p:nvSpPr>
          <p:cNvPr id="27" name="Text 25"/>
          <p:cNvSpPr/>
          <p:nvPr/>
        </p:nvSpPr>
        <p:spPr>
          <a:xfrm>
            <a:off x="6217920" y="539496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time-to-pilot with PeopleTech accelerators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Data Flow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defect detection event moves through the platform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960120" y="1828800"/>
            <a:ext cx="411480" cy="411480"/>
          </a:xfrm>
          <a:prstGeom prst="ellipse">
            <a:avLst/>
          </a:prstGeom>
          <a:solidFill>
            <a:srgbClr val="1F3B6E"/>
          </a:solidFill>
          <a:ln w="12700">
            <a:solidFill>
              <a:srgbClr val="1F3B6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182880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" y="2377440"/>
            <a:ext cx="1417320" cy="1280160"/>
          </a:xfrm>
          <a:prstGeom prst="rect">
            <a:avLst/>
          </a:prstGeom>
          <a:solidFill>
            <a:srgbClr val="F5F7FA"/>
          </a:solidFill>
          <a:ln w="12700">
            <a:solidFill>
              <a:srgbClr val="D0D5D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423160"/>
            <a:ext cx="1234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2971800"/>
            <a:ext cx="12344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High-res frame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light tunnel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874520" y="2697480"/>
            <a:ext cx="228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2606040" y="1828800"/>
            <a:ext cx="411480" cy="411480"/>
          </a:xfrm>
          <a:prstGeom prst="ellipse">
            <a:avLst/>
          </a:prstGeom>
          <a:solidFill>
            <a:srgbClr val="1F3B6E"/>
          </a:solidFill>
          <a:ln w="12700">
            <a:solidFill>
              <a:srgbClr val="1F3B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606040" y="182880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2103120" y="2377440"/>
            <a:ext cx="1417320" cy="1280160"/>
          </a:xfrm>
          <a:prstGeom prst="rect">
            <a:avLst/>
          </a:prstGeom>
          <a:solidFill>
            <a:srgbClr val="F5F7FA"/>
          </a:solidFill>
          <a:ln w="12700">
            <a:solidFill>
              <a:srgbClr val="D0D5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194560" y="2423160"/>
            <a:ext cx="1234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194560" y="2971800"/>
            <a:ext cx="12344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 model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&lt;200ms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520440" y="2697480"/>
            <a:ext cx="228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4251960" y="1828800"/>
            <a:ext cx="411480" cy="411480"/>
          </a:xfrm>
          <a:prstGeom prst="ellipse">
            <a:avLst/>
          </a:prstGeom>
          <a:solidFill>
            <a:srgbClr val="1F3B6E"/>
          </a:solidFill>
          <a:ln w="12700">
            <a:solidFill>
              <a:srgbClr val="1F3B6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251960" y="182880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3749040" y="2377440"/>
            <a:ext cx="1417320" cy="1280160"/>
          </a:xfrm>
          <a:prstGeom prst="rect">
            <a:avLst/>
          </a:prstGeom>
          <a:solidFill>
            <a:srgbClr val="F5F7FA"/>
          </a:solidFill>
          <a:ln w="12700">
            <a:solidFill>
              <a:srgbClr val="D0D5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40480" y="2423160"/>
            <a:ext cx="1234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840480" y="2971800"/>
            <a:ext cx="12344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Kafka topic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score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166360" y="2697480"/>
            <a:ext cx="228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5897880" y="1828800"/>
            <a:ext cx="411480" cy="411480"/>
          </a:xfrm>
          <a:prstGeom prst="ellipse">
            <a:avLst/>
          </a:prstGeom>
          <a:solidFill>
            <a:srgbClr val="1F3B6E"/>
          </a:solidFill>
          <a:ln w="12700">
            <a:solidFill>
              <a:srgbClr val="1F3B6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897880" y="182880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5394960" y="2377440"/>
            <a:ext cx="1417320" cy="1280160"/>
          </a:xfrm>
          <a:prstGeom prst="rect">
            <a:avLst/>
          </a:prstGeom>
          <a:solidFill>
            <a:srgbClr val="F5F7FA"/>
          </a:solidFill>
          <a:ln w="12700">
            <a:solidFill>
              <a:srgbClr val="D0D5D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86400" y="2423160"/>
            <a:ext cx="1234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Line-Hold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486400" y="2971800"/>
            <a:ext cx="12344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 API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auto-trigger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812280" y="2697480"/>
            <a:ext cx="228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7543800" y="1828800"/>
            <a:ext cx="411480" cy="411480"/>
          </a:xfrm>
          <a:prstGeom prst="ellipse">
            <a:avLst/>
          </a:prstGeom>
          <a:solidFill>
            <a:srgbClr val="1F3B6E"/>
          </a:solidFill>
          <a:ln w="12700">
            <a:solidFill>
              <a:srgbClr val="1F3B6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543800" y="182880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7040880" y="2377440"/>
            <a:ext cx="1417320" cy="1280160"/>
          </a:xfrm>
          <a:prstGeom prst="rect">
            <a:avLst/>
          </a:prstGeom>
          <a:solidFill>
            <a:srgbClr val="F5F7FA"/>
          </a:solidFill>
          <a:ln w="12700">
            <a:solidFill>
              <a:srgbClr val="D0D5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32320" y="2423160"/>
            <a:ext cx="1234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DB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7132320" y="2971800"/>
            <a:ext cx="12344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traceability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458200" y="2697480"/>
            <a:ext cx="228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9189720" y="1828800"/>
            <a:ext cx="411480" cy="411480"/>
          </a:xfrm>
          <a:prstGeom prst="ellipse">
            <a:avLst/>
          </a:prstGeom>
          <a:solidFill>
            <a:srgbClr val="1F3B6E"/>
          </a:solidFill>
          <a:ln w="12700">
            <a:solidFill>
              <a:srgbClr val="1F3B6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89720" y="182880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8686800" y="2377440"/>
            <a:ext cx="1417320" cy="1280160"/>
          </a:xfrm>
          <a:prstGeom prst="rect">
            <a:avLst/>
          </a:prstGeom>
          <a:solidFill>
            <a:srgbClr val="F5F7FA"/>
          </a:solidFill>
          <a:ln w="12700">
            <a:solidFill>
              <a:srgbClr val="D0D5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778240" y="2423160"/>
            <a:ext cx="1234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8778240" y="2971800"/>
            <a:ext cx="12344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UI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10104120" y="2697480"/>
            <a:ext cx="228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40" name="Shape 38"/>
          <p:cNvSpPr/>
          <p:nvPr/>
        </p:nvSpPr>
        <p:spPr>
          <a:xfrm>
            <a:off x="10835640" y="1828800"/>
            <a:ext cx="411480" cy="411480"/>
          </a:xfrm>
          <a:prstGeom prst="ellipse">
            <a:avLst/>
          </a:prstGeom>
          <a:solidFill>
            <a:srgbClr val="1F3B6E"/>
          </a:solidFill>
          <a:ln w="12700">
            <a:solidFill>
              <a:srgbClr val="1F3B6E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0835640" y="182880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10332720" y="2377440"/>
            <a:ext cx="1417320" cy="1280160"/>
          </a:xfrm>
          <a:prstGeom prst="rect">
            <a:avLst/>
          </a:prstGeom>
          <a:solidFill>
            <a:srgbClr val="F5F7FA"/>
          </a:solidFill>
          <a:ln w="12700">
            <a:solidFill>
              <a:srgbClr val="D0D5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0424160" y="2423160"/>
            <a:ext cx="1234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Retrain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OTA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10424160" y="2971800"/>
            <a:ext cx="12344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SageMaker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Edge push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57200" y="4114800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Maintenance Flow</a:t>
            </a:r>
            <a:endParaRPr lang="en-US" sz="2000" dirty="0"/>
          </a:p>
        </p:txBody>
      </p:sp>
      <p:sp>
        <p:nvSpPr>
          <p:cNvPr id="46" name="Shape 44"/>
          <p:cNvSpPr/>
          <p:nvPr/>
        </p:nvSpPr>
        <p:spPr>
          <a:xfrm>
            <a:off x="1188720" y="4572000"/>
            <a:ext cx="365760" cy="365760"/>
          </a:xfrm>
          <a:prstGeom prst="ellipse">
            <a:avLst/>
          </a:prstGeom>
          <a:solidFill>
            <a:srgbClr val="1F3B6E"/>
          </a:solidFill>
          <a:ln w="12700">
            <a:solidFill>
              <a:srgbClr val="1F3B6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188720" y="45720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457200" y="5029200"/>
            <a:ext cx="1920240" cy="1005840"/>
          </a:xfrm>
          <a:prstGeom prst="rect">
            <a:avLst/>
          </a:prstGeom>
          <a:solidFill>
            <a:srgbClr val="F5F7FA"/>
          </a:solidFill>
          <a:ln w="12700">
            <a:solidFill>
              <a:srgbClr val="D0D5DD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48640" y="5047488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548640" y="5440680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Vibration, acoustic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thermal data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2377440" y="525780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52" name="Shape 50"/>
          <p:cNvSpPr/>
          <p:nvPr/>
        </p:nvSpPr>
        <p:spPr>
          <a:xfrm>
            <a:off x="3383280" y="4572000"/>
            <a:ext cx="365760" cy="365760"/>
          </a:xfrm>
          <a:prstGeom prst="ellipse">
            <a:avLst/>
          </a:prstGeom>
          <a:solidFill>
            <a:srgbClr val="1F3B6E"/>
          </a:solidFill>
          <a:ln w="12700">
            <a:solidFill>
              <a:srgbClr val="1F3B6E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383280" y="45720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54" name="Shape 52"/>
          <p:cNvSpPr/>
          <p:nvPr/>
        </p:nvSpPr>
        <p:spPr>
          <a:xfrm>
            <a:off x="2651760" y="5029200"/>
            <a:ext cx="1920240" cy="1005840"/>
          </a:xfrm>
          <a:prstGeom prst="rect">
            <a:avLst/>
          </a:prstGeom>
          <a:solidFill>
            <a:srgbClr val="F5F7FA"/>
          </a:solidFill>
          <a:ln w="12700">
            <a:solidFill>
              <a:srgbClr val="D0D5DD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743200" y="5047488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2743200" y="5440680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Windowed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4572000" y="525780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58" name="Shape 56"/>
          <p:cNvSpPr/>
          <p:nvPr/>
        </p:nvSpPr>
        <p:spPr>
          <a:xfrm>
            <a:off x="5577840" y="4572000"/>
            <a:ext cx="365760" cy="365760"/>
          </a:xfrm>
          <a:prstGeom prst="ellipse">
            <a:avLst/>
          </a:prstGeom>
          <a:solidFill>
            <a:srgbClr val="1F3B6E"/>
          </a:solidFill>
          <a:ln w="12700">
            <a:solidFill>
              <a:srgbClr val="1F3B6E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577840" y="45720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60" name="Shape 58"/>
          <p:cNvSpPr/>
          <p:nvPr/>
        </p:nvSpPr>
        <p:spPr>
          <a:xfrm>
            <a:off x="4846320" y="5029200"/>
            <a:ext cx="1920240" cy="1005840"/>
          </a:xfrm>
          <a:prstGeom prst="rect">
            <a:avLst/>
          </a:prstGeom>
          <a:solidFill>
            <a:srgbClr val="F5F7FA"/>
          </a:solidFill>
          <a:ln w="12700">
            <a:solidFill>
              <a:srgbClr val="D0D5DD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937760" y="5047488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4937760" y="5440680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Autoencoder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survival model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6766560" y="525780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64" name="Shape 62"/>
          <p:cNvSpPr/>
          <p:nvPr/>
        </p:nvSpPr>
        <p:spPr>
          <a:xfrm>
            <a:off x="7772400" y="4572000"/>
            <a:ext cx="365760" cy="365760"/>
          </a:xfrm>
          <a:prstGeom prst="ellipse">
            <a:avLst/>
          </a:prstGeom>
          <a:solidFill>
            <a:srgbClr val="1F3B6E"/>
          </a:solidFill>
          <a:ln w="12700">
            <a:solidFill>
              <a:srgbClr val="1F3B6E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772400" y="45720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66" name="Shape 64"/>
          <p:cNvSpPr/>
          <p:nvPr/>
        </p:nvSpPr>
        <p:spPr>
          <a:xfrm>
            <a:off x="7040880" y="5029200"/>
            <a:ext cx="1920240" cy="1005840"/>
          </a:xfrm>
          <a:prstGeom prst="rect">
            <a:avLst/>
          </a:prstGeom>
          <a:solidFill>
            <a:srgbClr val="F5F7FA"/>
          </a:solidFill>
          <a:ln w="12700">
            <a:solidFill>
              <a:srgbClr val="D0D5DD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132320" y="5047488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Order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7132320" y="5440680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 PM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auto-create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8961120" y="525780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70" name="Shape 68"/>
          <p:cNvSpPr/>
          <p:nvPr/>
        </p:nvSpPr>
        <p:spPr>
          <a:xfrm>
            <a:off x="9966960" y="4572000"/>
            <a:ext cx="365760" cy="365760"/>
          </a:xfrm>
          <a:prstGeom prst="ellipse">
            <a:avLst/>
          </a:prstGeom>
          <a:solidFill>
            <a:srgbClr val="1F3B6E"/>
          </a:solidFill>
          <a:ln w="12700">
            <a:solidFill>
              <a:srgbClr val="1F3B6E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9966960" y="45720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72" name="Shape 70"/>
          <p:cNvSpPr/>
          <p:nvPr/>
        </p:nvSpPr>
        <p:spPr>
          <a:xfrm>
            <a:off x="9235440" y="5029200"/>
            <a:ext cx="1920240" cy="1005840"/>
          </a:xfrm>
          <a:prstGeom prst="rect">
            <a:avLst/>
          </a:prstGeom>
          <a:solidFill>
            <a:srgbClr val="F5F7FA"/>
          </a:solidFill>
          <a:ln w="12700">
            <a:solidFill>
              <a:srgbClr val="D0D5DD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9326880" y="5047488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Technician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Notify</a:t>
            </a:r>
            <a:endParaRPr lang="en-US" sz="1100" dirty="0"/>
          </a:p>
        </p:txBody>
      </p:sp>
      <p:sp>
        <p:nvSpPr>
          <p:cNvPr id="74" name="Text 72"/>
          <p:cNvSpPr/>
          <p:nvPr/>
        </p:nvSpPr>
        <p:spPr>
          <a:xfrm>
            <a:off x="9326880" y="5440680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push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risk queue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&amp; Next Steps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356616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371600"/>
            <a:ext cx="3566160" cy="347472"/>
          </a:xfrm>
          <a:prstGeom prst="rect">
            <a:avLst/>
          </a:prstGeom>
          <a:solidFill>
            <a:srgbClr val="0D3B5E"/>
          </a:solidFill>
          <a:ln w="12700">
            <a:solidFill>
              <a:srgbClr val="0D3B5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426464"/>
            <a:ext cx="334670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Platform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66928" y="1773936"/>
            <a:ext cx="3346704" cy="2048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infrastructure for 8 use cases. Shared edge compute, event bus, data lake, and MLOps pipeline. Adding a new use case is a model deployment — not an infrastructure project. Amortize cost across the entire program.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297680" y="1371600"/>
            <a:ext cx="356616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297680" y="1371600"/>
            <a:ext cx="3566160" cy="347472"/>
          </a:xfrm>
          <a:prstGeom prst="rect">
            <a:avLst/>
          </a:prstGeom>
          <a:solidFill>
            <a:srgbClr val="0D3B5E"/>
          </a:solidFill>
          <a:ln w="12700">
            <a:solidFill>
              <a:srgbClr val="0D3B5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07408" y="1426464"/>
            <a:ext cx="334670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Integration-First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407408" y="1773936"/>
            <a:ext cx="3346704" cy="2048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Plugs into SAP MES/ERP, SAP PM, AVEVA PI — no rip-and-replace. AI outputs flow into the systems operators already use. Automated line-hold, work-order generation, and escalation. Pre-built connector library cuts integration time 40–60%.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138160" y="1371600"/>
            <a:ext cx="356616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138160" y="1371600"/>
            <a:ext cx="3566160" cy="347472"/>
          </a:xfrm>
          <a:prstGeom prst="rect">
            <a:avLst/>
          </a:prstGeom>
          <a:solidFill>
            <a:srgbClr val="0D3B5E"/>
          </a:solidFill>
          <a:ln w="12700">
            <a:solidFill>
              <a:srgbClr val="0D3B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47888" y="1426464"/>
            <a:ext cx="334670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Pilot-First Scale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247888" y="1773936"/>
            <a:ext cx="3346704" cy="2048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2 pilots on one line: Visual Inspection at HMGMA (IONIQ paint) + Predictive Maintenance at Ulsan stamping. Prove ROI in 12 weeks. Scale to plant-wide without re-architecture. Go/no-go gate before any commitment to expand.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4206240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Design Decisions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57200" y="4663440"/>
            <a:ext cx="1127455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Edge-first inference — &lt;200ms latency for real-time line-side decisions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retraining — weekly model improvement with drift detection and auto-retrain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data lake — enables cross-use-case fusion (e.g., vision + sensor for predictive quality)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Modular add-a-use-case — deploy model to existing infra in 4–6 weeks vs. 3–6 months from scratch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0" y="6217920"/>
            <a:ext cx="12188952" cy="640080"/>
          </a:xfrm>
          <a:prstGeom prst="rect">
            <a:avLst/>
          </a:prstGeom>
          <a:solidFill>
            <a:srgbClr val="0D3B5E"/>
          </a:solidFill>
          <a:ln w="12700">
            <a:solidFill>
              <a:srgbClr val="0D3B5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6263640"/>
            <a:ext cx="1145743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step: Pilot Scoping Workshop — walk the line, agree the baseline, lock dates.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2026-05-19T17:54:01Z</dcterms:created>
  <dcterms:modified xsi:type="dcterms:W3CDTF">2026-05-19T17:54:01Z</dcterms:modified>
</cp:coreProperties>
</file>
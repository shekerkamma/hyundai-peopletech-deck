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91695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076895" y="0"/>
            <a:ext cx="411480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4800" b="1">
                <a:solidFill>
                  <a:srgbClr val="FFFFFF"/>
                </a:solidFill>
                <a:latin typeface="Calibri"/>
              </a:defRPr>
            </a:pPr>
            <a:r>
              <a:t>AI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4400" b="1">
                <a:solidFill>
                  <a:srgbClr val="00C9A7"/>
                </a:solidFill>
                <a:latin typeface="Calibri"/>
              </a:defRPr>
            </a:pPr>
            <a:r>
              <a:t>Business Use Cases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34640"/>
            <a:ext cx="1371600" cy="36576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800" b="0">
                <a:solidFill>
                  <a:srgbClr val="E0F7F1"/>
                </a:solidFill>
                <a:latin typeface="Calibri"/>
              </a:defRPr>
            </a:pPr>
            <a:r>
              <a:t>Comprehensive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24 Production-Ready Use Cases Across 7 Verticals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200" b="0">
                <a:solidFill>
                  <a:srgbClr val="88CCBB"/>
                </a:solidFill>
                <a:latin typeface="Calibri"/>
              </a:defRPr>
            </a:pPr>
            <a:r>
              <a:t>with YC Competitive Intelligence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754880"/>
            <a:ext cx="86868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77316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Manufacturing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4754880"/>
            <a:ext cx="86868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477316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Healthcare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4754880"/>
            <a:ext cx="86868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0" y="477316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Legal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4754880"/>
            <a:ext cx="86868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40" y="477316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Real Estate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4754880"/>
            <a:ext cx="86868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0" y="477316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Marketing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4754880"/>
            <a:ext cx="86868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0" y="477316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AI Platforms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60" y="4754880"/>
            <a:ext cx="86868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4773168"/>
            <a:ext cx="868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1">
                <a:solidFill>
                  <a:srgbClr val="FFFFFF"/>
                </a:solidFill>
                <a:latin typeface="Calibri"/>
              </a:defRPr>
            </a:pPr>
            <a:r>
              <a:t>Software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669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100" b="0">
                <a:solidFill>
                  <a:srgbClr val="888899"/>
                </a:solidFill>
                <a:latin typeface="Calibri"/>
              </a:defRPr>
            </a:pPr>
            <a:r>
              <a:t>May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 / 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AI Strategy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8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Enterprise AI Adoption Maturity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Stage 1 Experimental: Chatbot pilots, single-task automation, manual prompt engineering</a:t>
            </a:r>
            <a:br/>
            <a:r>
              <a:t>• Stage 2 Departmental: Department-specific agents, RAG pipelines, basic MCP integration — MOST ORGS ARE HERE</a:t>
            </a:r>
            <a:br/>
            <a:r>
              <a:t>• Stage 3 Enterprise: Cross-functional agent orchestration, shared MCP infrastructure, model governance platform</a:t>
            </a:r>
            <a:br/>
            <a:r>
              <a:t>• Stage 4 Autonomous: Self-improving agent networks, autonomous decision loops, real-time optimization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Key Performance Indicators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User adoption rate → Process cycle time reduction → Enterprise productivity gain → Autonomous decision accuracy</a:t>
            </a:r>
            <a:br/>
            <a:r>
              <a:t>• Org Structure evolves: Innovation lab → Dedicated AI team → Central AI CoE → AI-native operating model</a:t>
            </a:r>
            <a:br/>
            <a:r>
              <a:t>• Governance scales: Informal policies → Model registry → SOC 2/HIPAA frameworks → Continuous audit + kill switches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7619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Stage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Most Orgs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7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Stage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7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Target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4 Stages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Maturity Levels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1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12 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1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Typical Journey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 /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Governance &amp; Security —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8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Data Classification &amp; Access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Level 1 (Public): Marketing content, public APIs, anonymized analytics</a:t>
            </a:r>
            <a:br/>
            <a:r>
              <a:t>• Level 2 (Internal): Sensor data, operational metrics, internal comms</a:t>
            </a:r>
            <a:br/>
            <a:r>
              <a:t>• Level 3 (Confidential): Financial records, contracts, employee PII</a:t>
            </a:r>
            <a:br/>
            <a:r>
              <a:t>• Level 4 (Restricted): Patient records (PHI), SSN, PCI, biometric data</a:t>
            </a:r>
            <a:br/>
            <a:r>
              <a:t>• RBAC: Agent → Production Data read-only, scoped, audit-logged</a:t>
            </a:r>
            <a:br/>
            <a:r>
              <a:t>• API Keys: 90-day rotation, per-environment scoping, HashiCorp Vault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Compliance &amp; Model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SOC 2 Type II: Annual audit, continuous monitoring via Vanta</a:t>
            </a:r>
            <a:br/>
            <a:r>
              <a:t>• HIPAA BAA: Required for healthcare, PHI encryption AES-256</a:t>
            </a:r>
            <a:br/>
            <a:r>
              <a:t>• GDPR Article 25: Data protection by design, right to explanation</a:t>
            </a:r>
            <a:br/>
            <a:r>
              <a:t>• Prompt versioning: Git-tracked, semantic versioning, rollback</a:t>
            </a:r>
            <a:br/>
            <a:r>
              <a:t>• Bias monitoring: Demographic parity testing quarterly</a:t>
            </a:r>
            <a:br/>
            <a:r>
              <a:t>• Drift detection: KL divergence, auto-retrain at 5% drift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Technology Stack — 6-Layer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8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Presentation → Orchestration → Sub-Agents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PRESENTATION: React 18 + Next.js 14, Tailwind CSS, Recharts/D3.js, Vercel Edge, PWA, WebSocket</a:t>
            </a:r>
            <a:br/>
            <a:r>
              <a:t>• ORCHESTRATION: LangGraph / CrewAI, Claude 3.5 Sonnet (primary), GPT-4o (fallback), Temporal.io, Redis queues</a:t>
            </a:r>
            <a:br/>
            <a:r>
              <a:t>• SUB-AGENTS: Specialist agents per vertical, tool-use MCP clients, RAG retrieval, validation/guardrail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Models → MCP Layer →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MODELS: Claude 4.5 Opus (reasoning), GPT-4o (vision), Whisper v3 (audio), YOLO v8 (detection), XGBoost (tabular)</a:t>
            </a:r>
            <a:br/>
            <a:r>
              <a:t>• MCP LAYER: SAP MES connector, FHIR R4, DocuSign eSign, Stripe/QuickBooks, Google Analytics + Search Console</a:t>
            </a:r>
            <a:br/>
            <a:r>
              <a:t>• INFRA: AWS EKS + Lambda + S3, PostgreSQL 16 + pgvector, Pinecone, Terraform IaC, DataDog APM, HashiCorp Vault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7619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6 Layers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Production Stack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7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20+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7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MCP Connectors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Multi-Model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No Vendor Lock-in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1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99.9%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1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Uptime Target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4 /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UC01 | Visual Inspection — Computer Vision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15-20% false positive rate in manual visual inspection across production lines</a:t>
            </a:r>
            <a:br/>
            <a:r>
              <a:t>• Inspector fatigue: accuracy degrades after 2-3 hours of repetitive inspection</a:t>
            </a:r>
            <a:br/>
            <a:r>
              <a:t>• $2.3M average annual quality cost per plant from missed defects and rework</a:t>
            </a:r>
            <a:br/>
            <a:r>
              <a:t>• Inconsistent inspection criteria across shifts and personnel</a:t>
            </a:r>
            <a:br/>
            <a:r>
              <a:t>• Hyundai operates 12+ global plants producing 4M+ vehicles/year — scale demands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CNN-based real-time defect detection with edge-deployed YOLOv8 models (640×640 input, 1.2ms inference)</a:t>
            </a:r>
            <a:br/>
            <a:r>
              <a:t>• Multi-camera fusion covering 360° component inspection at line speed (120 units/hr)</a:t>
            </a:r>
            <a:br/>
            <a:r>
              <a:t>• Automated MES feedback loop: defect triggers line-stop within 200ms via OPC-UA</a:t>
            </a:r>
            <a:br/>
            <a:r>
              <a:t>• Continuous model retraining from operator-labeled corrections using active learning</a:t>
            </a:r>
            <a:br/>
            <a:r>
              <a:t>• Transfer learning: pre-trained on ImageNet, fine-tuned on 50K+ plant-specific defect images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99.2%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Detection 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85%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False Positive Reduction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$1.8M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Annual Savings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4-6 wk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Deployment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Camera captures → Edge GPU (Jetson Orin) runs YOLOv8 inference in &lt;2ms → Defect classification (scratch/dent/weld/paint)</a:t>
            </a:r>
            <a:br/>
            <a:r>
              <a:t>→ Confidence &gt;0.85 triggers auto-reject; 0.5-0.85 routes to operator review queue; &lt;0.5 passes</a:t>
            </a:r>
            <a:br/>
            <a:r>
              <a:t>→ Rejected parts logged to MES with defect image, location coordinates, and shift context for root-cause 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Model validation per IEC 62443 industrial cybersecurity standard</a:t>
            </a:r>
            <a:br/>
            <a:r>
              <a:t>• Image data retention: 7 years for traceability, encrypted at rest (AES-256)</a:t>
            </a:r>
            <a:br/>
            <a:r>
              <a:t>• Edge device certificate rotation every 90 days, firmware signed with HSM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Instrumental (W14, 80 emp) — manufacturing CV analytics platform</a:t>
            </a:r>
            <a:br/>
            <a:r>
              <a:t>• Ocular AI (W24, 6 emp) — real-time defect detection</a:t>
            </a:r>
            <a:br/>
            <a:r>
              <a:t>• Landing AI (founded by Andrew Ng) — visual inspection platform</a:t>
            </a:r>
            <a:br/>
            <a:r>
              <a:t>• Eigen Innovations — thermal + visual inspection for automotive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GigE Vision cameras</a:t>
            </a:r>
            <a:br/>
            <a:r>
              <a:t>Jetson Orin NX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YOLOv8 + EfficientNet</a:t>
            </a:r>
            <a:br/>
            <a:r>
              <a:t>ONNX Runtime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OPC-UA → SAP MES</a:t>
            </a:r>
            <a:br/>
            <a:r>
              <a:t>MQTT broker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Quality dashboard</a:t>
            </a:r>
            <a:br/>
            <a:r>
              <a:t>Defect heatmap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SAP MES  |  GigE Vision  |  Jetson Orin  |  TF Serving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Quality Engineers | Line Supervisors | Plant Managers</a:t>
            </a:r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5 /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UC02 | Model &amp; Variant — Confirmation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3-5% assembly mismatch rate causing costly rework and warranty claims</a:t>
            </a:r>
            <a:br/>
            <a:r>
              <a:t>• $500K average warranty cost per variant error across production batches</a:t>
            </a:r>
            <a:br/>
            <a:r>
              <a:t>• Manual VIN validation bottleneck: 45-sec per unit slowing line throughput</a:t>
            </a:r>
            <a:br/>
            <a:r>
              <a:t>• BOM version sync lag between engineering and production floor (avg 4-hr delay)</a:t>
            </a:r>
            <a:br/>
            <a:r>
              <a:t>• Hyundai's 200+ trim variants per model line multiply configuration 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Automated VIN/barcode scanning with real-time BOM cross-validation at every station</a:t>
            </a:r>
            <a:br/>
            <a:r>
              <a:t>• Variant mismatch alerting with instant operator HMI notification + audio alarm</a:t>
            </a:r>
            <a:br/>
            <a:r>
              <a:t>• Multi-source BOM reconciliation: engineering ECO, production BOM, supplier ASN in real-time</a:t>
            </a:r>
            <a:br/>
            <a:r>
              <a:t>• Historical mismatch pattern analysis for proactive fixture verification before shift start</a:t>
            </a:r>
            <a:br/>
            <a:r>
              <a:t>• Digital twin integration: virtual BOM validated against physical assembly sequence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99.8%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Variant 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Mismatch Reduction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&lt;2 sec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Validation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2-3 wk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Deployment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VIN scanned at station entry → BOM lookup via SAP RFC call (&lt;500ms) → Component list validated against pick sequence</a:t>
            </a:r>
            <a:br/>
            <a:r>
              <a:t>→ Mismatch detected → HMI flashes red + audio alert → Operator confirms or overrides with supervisor PIN</a:t>
            </a:r>
            <a:br/>
            <a:r>
              <a:t>→ Every scan event persisted to event store: VIN, station, BOM revision, timestamp — enables 15-year traceability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BOM version control: every scan logged with BOM revision hash and ECO reference</a:t>
            </a:r>
            <a:br/>
            <a:r>
              <a:t>• Recall-grade traceability: component-to-VIN linkage retained 15 years per NHTSA</a:t>
            </a:r>
            <a:br/>
            <a:r>
              <a:t>• Scanner calibration audit per ISO 15416 barcode quality standard (quarterly)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Fictiv (S14, 300+ emp) — digital manufacturing platform</a:t>
            </a:r>
            <a:br/>
            <a:r>
              <a:t>• Tulip Interfaces (W15, 200+ emp) — manufacturing apps platform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Cognex readers</a:t>
            </a:r>
            <a:br/>
            <a:r>
              <a:t>RFID UHF scanners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BOM validation engine</a:t>
            </a:r>
            <a:br/>
            <a:r>
              <a:t>Anomaly detection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SAP RFC + OData</a:t>
            </a:r>
            <a:br/>
            <a:r>
              <a:t>ECO sync service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Operator HMI alerts</a:t>
            </a:r>
            <a:br/>
            <a:r>
              <a:t>Shift dashboard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SAP MES  |  Cognex Scanners  |  BOM Database  |  ECO System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Assembly Operators | Quality Auditors | Production Engineers</a:t>
            </a:r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6 /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UC03 | Seating &amp; Component —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Torque compliance failures undetected until end-of-line QA, causing 12% rework rate</a:t>
            </a:r>
            <a:br/>
            <a:r>
              <a:t>• Fitment issues cause line stops costing $15K/minute in lost throughput</a:t>
            </a:r>
            <a:br/>
            <a:r>
              <a:t>• Manual torque verification logs incomplete — only 60% of fasteners digitally recorded</a:t>
            </a:r>
            <a:br/>
            <a:r>
              <a:t>• Multi-variant seating configs (leather/cloth/heated/cooled) increase error probability 3x</a:t>
            </a:r>
            <a:br/>
            <a:r>
              <a:t>• IATF 16949 audit findings: 23% of plants cited for incomplete torque documentation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Vision-based fitment validation confirming correct component seating before fastening</a:t>
            </a:r>
            <a:br/>
            <a:r>
              <a:t>• Smart torque tools (Atlas Copco/Desoutter): digital values streamed via open protocol</a:t>
            </a:r>
            <a:br/>
            <a:r>
              <a:t>• Real-time compliance dashboards aggregating torque, fitment, sequence, and angle data</a:t>
            </a:r>
            <a:br/>
            <a:r>
              <a:t>• Automated non-conformance reports (NCRs) generated within seconds with root-cause hints</a:t>
            </a:r>
            <a:br/>
            <a:r>
              <a:t>• Statistical process control (SPC) with Cp/Cpk monitoring per fastener group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60%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Integration Effort 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Undetected Failures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Real-time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Compliance Monitor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&lt;1 sec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Validation Latency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Camera verifies component placement → Torque tool activated only after vision OK → Value streamed to MES</a:t>
            </a:r>
            <a:br/>
            <a:r>
              <a:t>→ SPC engine calculates Cpk in real-time; Cpk &lt;1.33 triggers process alert to quality engineer</a:t>
            </a:r>
            <a:br/>
            <a:r>
              <a:t>→ End-of-line QA receives pre-validated pass/fail per VIN — audit trail complete before vehicle exits station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Torque data retention per IATF 16949 clause 8.5.2 — complete production records</a:t>
            </a:r>
            <a:br/>
            <a:r>
              <a:t>• Vision model validated against golden reference images quarterly (&gt;99% match threshold)</a:t>
            </a:r>
            <a:br/>
            <a:r>
              <a:t>• Calibration records linked to torque tool serial numbers with ISO 6789 compliance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Arch Systems (S14) — manufacturing data platform</a:t>
            </a:r>
            <a:br/>
            <a:r>
              <a:t>• Pico MES (W21, 15 emp) — lightweight manufacturing execution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Smart torque tools</a:t>
            </a:r>
            <a:br/>
            <a:r>
              <a:t>Inline cameras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Fitment CV models</a:t>
            </a:r>
            <a:br/>
            <a:r>
              <a:t>SPC 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MES + open protocol</a:t>
            </a:r>
            <a:br/>
            <a:r>
              <a:t>SCADA OPC-UA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SPC dashboard</a:t>
            </a:r>
            <a:br/>
            <a:r>
              <a:t>NCR generator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Atlas Copco  |  MES  |  Vision Cameras  |  SCADA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Assembly Technicians | Quality Engineers | Process Engineers</a:t>
            </a:r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7 /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UC04 | SOP Compliance — Monitoring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12% SOP deviation rate undetected in manual observation audits</a:t>
            </a:r>
            <a:br/>
            <a:r>
              <a:t>• Safety incidents from skipped steps: avg 3.2 recordable incidents/quarter per plant</a:t>
            </a:r>
            <a:br/>
            <a:r>
              <a:t>• Audit prep requires 80+ hours of manual video review per quarter per line</a:t>
            </a:r>
            <a:br/>
            <a:r>
              <a:t>• Inconsistent adherence across 3 shifts with no real-time correction mechanism</a:t>
            </a:r>
            <a:br/>
            <a:r>
              <a:t>• Training investment ($2.5M/yr) not translating to measurable compliance improvement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Pose estimation (MediaPipe/OpenPose) + activity recognition for real-time SOP adherence</a:t>
            </a:r>
            <a:br/>
            <a:r>
              <a:t>• Step-sequence verification: alerts within 5 sec if operator skips critical safety steps</a:t>
            </a:r>
            <a:br/>
            <a:r>
              <a:t>• Automated audit evidence with timestamped video clips per procedure (MPEG-DASH)</a:t>
            </a:r>
            <a:br/>
            <a:r>
              <a:t>• Shift-level compliance scoring with trend analysis, coaching recommendations, and gamification</a:t>
            </a:r>
            <a:br/>
            <a:r>
              <a:t>• Integration with LMS: non-compliant patterns auto-trigger targeted retraining modules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Compliance Detection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Safety Deviation 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Hrs→Min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Audit Prep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Real-time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Alert Delivery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Edge GPU processes CCTV feed → Skeleton extraction (17 keypoints) → Activity classified against SOP model</a:t>
            </a:r>
            <a:br/>
            <a:r>
              <a:t>→ Sequence engine validates step order: e.g., 'gloves on' must precede 'chemical handling' — violation = instant alert</a:t>
            </a:r>
            <a:br/>
            <a:r>
              <a:t>→ Compliance score = (completed steps / required steps) × time-in-zone factor — aggregated per shift/line/plant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Worker privacy: pose data anonymized (no facial recognition), skeleton-only storage, GDPR Article 35 DPIA</a:t>
            </a:r>
            <a:br/>
            <a:r>
              <a:t>• Video retention limited to 30 days unless flagged for incident review (then 1 year)</a:t>
            </a:r>
            <a:br/>
            <a:r>
              <a:t>• Works council / union notification required in EU jurisdictions before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Protex AI (S21, 5 emp) — workplace safety CV platform</a:t>
            </a:r>
            <a:br/>
            <a:r>
              <a:t>• Voxel (W18, 50 emp) — workplace analytics from cameras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CCTV + Jetson</a:t>
            </a:r>
            <a:br/>
            <a:r>
              <a:t>MediaPipe pipeline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Pose estimation</a:t>
            </a:r>
            <a:br/>
            <a:r>
              <a:t>LSTM sequence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EHS API + LMS</a:t>
            </a:r>
            <a:br/>
            <a:r>
              <a:t>Alert gateway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Supervisor mobile</a:t>
            </a:r>
            <a:br/>
            <a:r>
              <a:t>Compliance heatmaps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CCTV  |  EHS Platform  |  Training LMS  |  MES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Line Supervisors | EHS Managers | Training Coordinators</a:t>
            </a:r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UC05 | Predictive Quality — Analytics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2-4% scrap rate from undetected process drift across 50+ sensor variables per station</a:t>
            </a:r>
            <a:br/>
            <a:r>
              <a:t>• Root cause analysis takes 48+ hours of manual cross-correlation by senior engineers</a:t>
            </a:r>
            <a:br/>
            <a:r>
              <a:t>• Feature engineering bottleneck: data scientists spend 70% of time on data prep, not modeling</a:t>
            </a:r>
            <a:br/>
            <a:r>
              <a:t>• Siloed sensor data (temperature, pressure, vibration) prevents cross-process correlation</a:t>
            </a:r>
            <a:br/>
            <a:r>
              <a:t>• Hyundai's 6-sigma quality target requires &lt;3.4 DPMO — current: 15-25 DPMO on critical dims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Sensor fusion: unified time-series from 200+ sensors across welding, stamping, painting</a:t>
            </a:r>
            <a:br/>
            <a:r>
              <a:t>• AutoML feature store with automated feature engineering, selection, and drift monitoring</a:t>
            </a:r>
            <a:br/>
            <a:r>
              <a:t>• Explainability dashboards showing SHAP values — operators understand why model flags risk</a:t>
            </a:r>
            <a:br/>
            <a:r>
              <a:t>• Preemptive process adjustment recommendations pushed to HMI before defects materialize</a:t>
            </a:r>
            <a:br/>
            <a:r>
              <a:t>• Federated learning: models train across plants without sharing raw sensor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Scrap Rate 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48hr→15m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Root Cause Analysis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Auto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ML Pipeline Gen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50+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Cross-Variable Corr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IoT gateway aggregates 200+ sensor streams at 1Hz → Kafka → Feature store computes 500+ derived features</a:t>
            </a:r>
            <a:br/>
            <a:r>
              <a:t>→ XGBoost ensemble predicts defect probability per part → SHAP waterfall explains top 5 contributing factors</a:t>
            </a:r>
            <a:br/>
            <a:r>
              <a:t>→ Risk score &gt;0.7 → HMI shows adjustment recommendation (e.g., 'reduce weld current 3A') → operator confirms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Feature store lineage: every feature traceable to raw sensor source with transformation DAG</a:t>
            </a:r>
            <a:br/>
            <a:r>
              <a:t>• Model explainability required per ISO 22989 (AI concepts and terminology)</a:t>
            </a:r>
            <a:br/>
            <a:r>
              <a:t>• Sensor calibration validation automated: drift &gt;2% from baseline triggers maintenance ticket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Sight Machine (S12, 100+ emp) — manufacturing analytics platform</a:t>
            </a:r>
            <a:br/>
            <a:r>
              <a:t>• Uptake (analytics) — industrial AI for asset performance</a:t>
            </a:r>
            <a:br/>
            <a:r>
              <a:t>• Arch Systems (S14) — manufacturing data infrastructure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IoT gateway + OPC-UA</a:t>
            </a:r>
            <a:br/>
            <a:r>
              <a:t>200+ sensor array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XGBoost + SHAP</a:t>
            </a:r>
            <a:br/>
            <a:r>
              <a:t>AutoML feature store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Kafka → InfluxDB</a:t>
            </a:r>
            <a:br/>
            <a:r>
              <a:t>SAP MES writeback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SHAP dashboard</a:t>
            </a:r>
            <a:br/>
            <a:r>
              <a:t>HMI recommendations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IoT Sensors  |  InfluxDB  |  Kafka  |  Feature Store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Process Engineers | Data Scientists | Quality Managers</a:t>
            </a:r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9 /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UC06 | Predictive — Maintenance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Unplanned downtime costs $260K/hour avg across automotive manufacturing lines</a:t>
            </a:r>
            <a:br/>
            <a:r>
              <a:t>• Reactive maintenance 3-5x costlier than predictive approaches (Deloitte 2024 study)</a:t>
            </a:r>
            <a:br/>
            <a:r>
              <a:t>• Maintenance scheduling based on fixed OEM intervals, not actual equipment health</a:t>
            </a:r>
            <a:br/>
            <a:r>
              <a:t>• Vibration/acoustic anomaly patterns missed by periodic manual inspections (monthly)</a:t>
            </a:r>
            <a:br/>
            <a:r>
              <a:t>• Hyundai's 20,000+ rotating assets across 12 plants — manual monitoring impossible at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Vibration (MEMS accelerometer) + acoustic (ultrasonic) + thermal anomaly detection via LSTM autoencoders</a:t>
            </a:r>
            <a:br/>
            <a:r>
              <a:t>• Equipment health scoring: 0-100 composite from multi-sensor fusion with trend extrapolation</a:t>
            </a:r>
            <a:br/>
            <a:r>
              <a:t>• Auto-generated SAP PM work orders when health score drops below configurable threshold</a:t>
            </a:r>
            <a:br/>
            <a:r>
              <a:t>• Remaining useful life (RUL) prediction with confidence intervals for maintenance planning</a:t>
            </a:r>
            <a:br/>
            <a:r>
              <a:t>• NASA CMAPSS-inspired degradation modeling adapted for automotive press/stamp/robot assets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45%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Downtime 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Maintenance Cost 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0-100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Health 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Faster Implementation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Vibration sensor (10kHz sampling) → FFT spectrum analysis → LSTM autoencoder detects anomalous frequency patterns</a:t>
            </a:r>
            <a:br/>
            <a:r>
              <a:t>→ Health score = weighted ensemble of vibration, thermal, acoustic, and operational (cycle count) signals</a:t>
            </a:r>
            <a:br/>
            <a:r>
              <a:t>→ Score &lt;70 → yellow alert (plan maintenance) → Score &lt;40 → red alert (SAP PM work order auto-created)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Sensor data Level 2 (Internal), encrypted in transit via TLS 1.3, at rest AES-256</a:t>
            </a:r>
            <a:br/>
            <a:r>
              <a:t>• Maintenance decision audit trail: work order linked to model prediction, sensor snapshot, and confidence</a:t>
            </a:r>
            <a:br/>
            <a:r>
              <a:t>• False alarm rate monitored continuously: target &lt;5%, model retrained if exceeded for 2 consecutive weeks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Augury (W18, 200+ emp) — machine health diagnostics</a:t>
            </a:r>
            <a:br/>
            <a:r>
              <a:t>• Petasense (S16) — wireless vibration monitoring</a:t>
            </a:r>
            <a:br/>
            <a:r>
              <a:t>• InfluxData (W13, 210 emp) — time-series database</a:t>
            </a:r>
            <a:br/>
            <a:r>
              <a:t>• Inviscid AI (W26) — physics-informed ML for equipment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MEMS accel + ultrasonic</a:t>
            </a:r>
            <a:br/>
            <a:r>
              <a:t>Edge gateway (Raspberry Pi 5)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LSTM autoencoder</a:t>
            </a:r>
            <a:br/>
            <a:r>
              <a:t>RUL regression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SAP PM RFC</a:t>
            </a:r>
            <a:br/>
            <a:r>
              <a:t>MQTT → InfluxDB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Health dashboard</a:t>
            </a:r>
            <a:br/>
            <a:r>
              <a:t>Maintenance planner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SAP PM  |  IoT Gateways  |  InfluxDB  |  Edge Compute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Maintenance Technicians | Reliability Engineers | Plant Managers</a:t>
            </a:r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10 /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UC07 | Safety Monitoring — &amp; PPE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PPE non-compliance observed in 8-12% of shift observations across auto plants</a:t>
            </a:r>
            <a:br/>
            <a:r>
              <a:t>• Restricted zone violations undetected until post-incident review (avg 6-hr delay)</a:t>
            </a:r>
            <a:br/>
            <a:r>
              <a:t>• Manual incident reports take 2+ hours per event, delaying corrective action</a:t>
            </a:r>
            <a:br/>
            <a:r>
              <a:t>• OSHA recordable rate stagnant at 4.2/100 workers despite $3M annual training spend</a:t>
            </a:r>
            <a:br/>
            <a:r>
              <a:t>• Thermal hazard zones near welding/painting require real-time proximity awareness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Real-time PPE detection: hard hat, vest, goggles, gloves, ear protection via YOLOv8-seg</a:t>
            </a:r>
            <a:br/>
            <a:r>
              <a:t>• Geofenced zone intrusion alerts with &lt;3 second supervisor SMS/push notification</a:t>
            </a:r>
            <a:br/>
            <a:r>
              <a:t>• AI-generated incident reports from video evidence with auto-classification (OSHA 300 log)</a:t>
            </a:r>
            <a:br/>
            <a:r>
              <a:t>• Safety trend analytics: heatmaps by zone, shift, role with weekly digest for EHS leadership</a:t>
            </a:r>
            <a:br/>
            <a:r>
              <a:t>• Thermal camera integration for heat stress monitoring near furnace/paint booth areas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PPE Compliance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Zone Violation Capture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Faster Documentation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2-3 wk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Deployment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CCTV feed → YOLOv8-seg model detects PPE items on body regions → Missing item triggers zone-specific alert</a:t>
            </a:r>
            <a:br/>
            <a:r>
              <a:t>→ Geofence engine: GPS + BLE beacons define restricted zones → Worker badge enters zone → Supervisor notified &lt;3s</a:t>
            </a:r>
            <a:br/>
            <a:r>
              <a:t>→ Incident report auto-generated: video clip + PPE status + zone + worker role + timestamp → EHS platform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No facial recognition: PPE detection uses body-region segmentation only — fully anonymous</a:t>
            </a:r>
            <a:br/>
            <a:r>
              <a:t>• Alert data retained 1 year per OSHA 1904 recordkeeping requirements</a:t>
            </a:r>
            <a:br/>
            <a:r>
              <a:t>• Thermal camera data classified Level 2, not shared with HR systems, not used for performance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Protex AI (S21, 5 emp) — workplace safety CV</a:t>
            </a:r>
            <a:br/>
            <a:r>
              <a:t>• Voxel (W18, 50 emp) — workplace safety analytics</a:t>
            </a:r>
            <a:br/>
            <a:r>
              <a:t>• Intenseye (S21) — AI-powered EHS platform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CCTV + FLIR thermal</a:t>
            </a:r>
            <a:br/>
            <a:r>
              <a:t>BLE beacons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YOLOv8-seg PPE model</a:t>
            </a:r>
            <a:br/>
            <a:r>
              <a:t>Geofence 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EHS API + Twilio</a:t>
            </a:r>
            <a:br/>
            <a:r>
              <a:t>OSHA 300 formatter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Supervisor mobile app</a:t>
            </a:r>
            <a:br/>
            <a:r>
              <a:t>Safety heatmaps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CCTV  |  EHS Platform  |  Twilio  |  BLE Beacons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EHS Managers | Shift Supervisors | Safety Officers</a:t>
            </a:r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11 /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UC08 | Digital Traceability — &amp; Recall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Recall investigation takes 2-4 weeks of manual component genealogy tracing</a:t>
            </a:r>
            <a:br/>
            <a:r>
              <a:t>• Component genealogy gaps across tier 1-3 suppliers create liability exposure ($100M+)</a:t>
            </a:r>
            <a:br/>
            <a:r>
              <a:t>• $35M average recall cost; scope overestimation adds 20-40% unnecessary remediation</a:t>
            </a:r>
            <a:br/>
            <a:r>
              <a:t>• Paper-based lot tracking prevents real-time genealogy queries for quality holds</a:t>
            </a:r>
            <a:br/>
            <a:r>
              <a:t>• NHTSA requires full traceability within 48 hours — current avg: 14 days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Neo4j graph database: full component-to-vehicle genealogy with 5-level supplier depth</a:t>
            </a:r>
            <a:br/>
            <a:r>
              <a:t>• RFID + barcode tracking at every station creating immutable production record (30M+ events/day)</a:t>
            </a:r>
            <a:br/>
            <a:r>
              <a:t>• Automated recall scope analysis: pinpoint affected VINs in minutes, not weeks</a:t>
            </a:r>
            <a:br/>
            <a:r>
              <a:t>• Supplier integration: ASN data linked to production genealogy via EDI 856 + API</a:t>
            </a:r>
            <a:br/>
            <a:r>
              <a:t>• Blockchain-anchored audit trail: cryptographic hash of daily genealogy state for tamper evidence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Faster Recall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Production Genealogy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Auto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Recall Scope Analysis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Audit-Ready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Compliance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RFID scan at station → Event stored: (part_id, VIN, station, operator, timestamp, supplier_lot) → Neo4j ingestion</a:t>
            </a:r>
            <a:br/>
            <a:r>
              <a:t>→ Recall query: MATCH path from defective supplier lot → affected parts → installed VINs → owner records in &lt;60 sec</a:t>
            </a:r>
            <a:br/>
            <a:r>
              <a:t>→ Scope analyzer: statistical sampling validates recall boundaries — prevents over-recall (saves 20-40% of remediation cost)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Traceability data retained 15+ years per NHTSA TREAD Act and Hyundai corporate policy</a:t>
            </a:r>
            <a:br/>
            <a:r>
              <a:t>• Immutable audit log: append-only ledger with daily blockchain anchor hash</a:t>
            </a:r>
            <a:br/>
            <a:r>
              <a:t>• Supplier data governed by mutual NDA, classification Level 3, access audit logged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Fictiv (S14, 300+ emp) — digital manufacturing network</a:t>
            </a:r>
            <a:br/>
            <a:r>
              <a:t>• Cognitio Labs (S23) — supply chain intelligence</a:t>
            </a:r>
            <a:br/>
            <a:r>
              <a:t>• Autumn Labs (S24) — manufacturing traceability platform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UHF RFID readers</a:t>
            </a:r>
            <a:br/>
            <a:r>
              <a:t>Cognex scanners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Neo4j graph analytics</a:t>
            </a:r>
            <a:br/>
            <a:r>
              <a:t>Recall scope 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SAP + EDI 856</a:t>
            </a:r>
            <a:br/>
            <a:r>
              <a:t>Supplier portal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Genealogy explorer</a:t>
            </a:r>
            <a:br/>
            <a:r>
              <a:t>Recall simulator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SAP  |  RFID  |  Neo4j  |  Supplier Portal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Quality Directors | Compliance Officers | Supply Chain Managers</a:t>
            </a:r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12 /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UC09 | Patient Intake — Automation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15-minute avg intake time per patient creating bottlenecks and wait-time complaints</a:t>
            </a:r>
            <a:br/>
            <a:r>
              <a:t>• 23% form error rate from manual data entry causing billing rejections and claim denials</a:t>
            </a:r>
            <a:br/>
            <a:r>
              <a:t>• Clinical staff spend 60% of time on admin vs patient care — burnout drives 35% annual turnover</a:t>
            </a:r>
            <a:br/>
            <a:r>
              <a:t>• Multi-system data entry: same info keyed into EHR, billing, scheduling — 4x redundant effort</a:t>
            </a:r>
            <a:br/>
            <a:r>
              <a:t>• No-show rate 18% without automated appointment reminders and pre-visit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AI-powered form validation with real-time error detection and auto-correction suggestions</a:t>
            </a:r>
            <a:br/>
            <a:r>
              <a:t>• Auto EHR population via FHIR R4 API: demographics, insurance, history, medications, allergies</a:t>
            </a:r>
            <a:br/>
            <a:r>
              <a:t>• Intelligent scheduling via Calendly + provider availability matching + wait-time prediction</a:t>
            </a:r>
            <a:br/>
            <a:r>
              <a:t>• SMS/voice intake via Twilio for patients without portal access — 95% mobile completion rate</a:t>
            </a:r>
            <a:br/>
            <a:r>
              <a:t>• Pre-visit engagement: automated reminders, intake forms, insurance card photo upload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Intake (from 15)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Form Accuracy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Admin Time 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$3-5K/mo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Savings per Practice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Patient receives SMS link 48hr before appointment → Completes intake on mobile → AI validates insurance + demographics</a:t>
            </a:r>
            <a:br/>
            <a:r>
              <a:t>→ FHIR R4 write-back: validated data auto-populates EHR patient record + scheduling system + billing module</a:t>
            </a:r>
            <a:br/>
            <a:r>
              <a:t>→ Incomplete forms flagged for staff follow-up call; 85% of patients complete without staff intervention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HIPAA BAA required; PHI encryption AES-256 at rest, TLS 1.3 in transit</a:t>
            </a:r>
            <a:br/>
            <a:r>
              <a:t>• Audit logging per HITECH Act: every PHI access timestamped with user, action, and IP</a:t>
            </a:r>
            <a:br/>
            <a:r>
              <a:t>• Patient consent management: opt-in/opt-out tracked per FHIR Consent resource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Understood Care (S24) — patient engagement</a:t>
            </a:r>
            <a:br/>
            <a:r>
              <a:t>• HealthKey (W25) — health records</a:t>
            </a:r>
            <a:br/>
            <a:r>
              <a:t>• Morf Health (S22) — care coordination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Web portal</a:t>
            </a:r>
            <a:br/>
            <a:r>
              <a:t>Mobile + SMS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Claude NLP</a:t>
            </a:r>
            <a:br/>
            <a:r>
              <a:t>Form validation ML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FHIR R4 + Twilio</a:t>
            </a:r>
            <a:br/>
            <a:r>
              <a:t>Calendly + EHR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Patient dashboard</a:t>
            </a:r>
            <a:br/>
            <a:r>
              <a:t>Staff queue view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Epic/Cerner EHR  |  FHIR R4 API  |  Calendly  |  Twilio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Front Desk Staff | Clinical Coordinators | Practice Managers</a:t>
            </a:r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13 /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UC10 | Insurance — Verification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30% claim denial rate from eligibility errors — $262B in denied claims annually (US)</a:t>
            </a:r>
            <a:br/>
            <a:r>
              <a:t>• 48-hour avg verification turnaround delays patient scheduling and revenue recognition</a:t>
            </a:r>
            <a:br/>
            <a:r>
              <a:t>• $25 cost per manual verification call, 12 min per call — 15 calls/day per FTE</a:t>
            </a:r>
            <a:br/>
            <a:r>
              <a:t>• Prior auth requirements change frequently; staff miss updates causing retroactive denials</a:t>
            </a:r>
            <a:br/>
            <a:r>
              <a:t>• Multiple payer portals: staff toggle between 8-12 different systems 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Pre-appointment AI eligibility verification against real-time payer feeds (EDI 270/271)</a:t>
            </a:r>
            <a:br/>
            <a:r>
              <a:t>• Automated prior auth submission with clinical documentation auto-attached from EHR</a:t>
            </a:r>
            <a:br/>
            <a:r>
              <a:t>• Denial prediction model: flags high-risk claims before submission — prevents denials proactively</a:t>
            </a:r>
            <a:br/>
            <a:r>
              <a:t>• Payer rule change monitoring: scrapes payer bulletins, auto-updates workflow rules within 24hrs</a:t>
            </a:r>
            <a:br/>
            <a:r>
              <a:t>• Batch verification: entire next-day schedule verified overnight — staff reviews exceptions only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First-Pass Approval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Verification (from 48hr)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$5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Cost per Verif (from $25)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Denial Rate 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Scheduler triggers nightly batch → EDI 270 sent per patient → Payer responds 271 → AI parses coverage details</a:t>
            </a:r>
            <a:br/>
            <a:r>
              <a:t>→ High-risk claims scored by denial prediction model (XGBoost on 500K+ historical claims) → Staff reviews flagged items</a:t>
            </a:r>
            <a:br/>
            <a:r>
              <a:t>→ Prior auth: clinical notes auto-extracted → Medical necessity letter generated → Submitted via payer portal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EDI 270/271 compliance per HIPAA X12 standards — all transactions logged</a:t>
            </a:r>
            <a:br/>
            <a:r>
              <a:t>• Claims data Level 3 (Confidential), encrypted end-to-end with per-payer isolation</a:t>
            </a:r>
            <a:br/>
            <a:r>
              <a:t>• Denial prediction model audited for demographic bias quarterly — disparate impact &lt;5%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Stream (S22) — claims processing</a:t>
            </a:r>
            <a:br/>
            <a:r>
              <a:t>• Avallon AI (Sp25) — insurance verification</a:t>
            </a:r>
            <a:br/>
            <a:r>
              <a:t>• Curacel (W22) — claims AI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Payer EDI feeds</a:t>
            </a:r>
            <a:br/>
            <a:r>
              <a:t>Fax OCR ingestion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Claims ML models</a:t>
            </a:r>
            <a:br/>
            <a:r>
              <a:t>Denial prediction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Payer API + EHR</a:t>
            </a:r>
            <a:br/>
            <a:r>
              <a:t>Clearinghouse EDI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Verification dashboard</a:t>
            </a:r>
            <a:br/>
            <a:r>
              <a:t>Denial analytics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Payer EDI/APIs  |  EHR  |  Billing System  |  Clearinghouse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Billing Staff | Prior Auth Specialists | Revenue Cycle Managers</a:t>
            </a:r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14 /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UC11 | HIPAA Compliance — Portal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Manual audit prep consumes 120+ staff-hours per year across compliance team</a:t>
            </a:r>
            <a:br/>
            <a:r>
              <a:t>• PHI access logging gaps: 15% of access events untracked across EHR, email, file shares</a:t>
            </a:r>
            <a:br/>
            <a:r>
              <a:t>• $1.5M avg HIPAA breach penalty; $6.3M for willful neglect — 725+ breaches reported in 2024</a:t>
            </a:r>
            <a:br/>
            <a:r>
              <a:t>• Risk assessments annual but threats evolve continuously — gap between audits is blind spot</a:t>
            </a:r>
            <a:br/>
            <a:r>
              <a:t>• Business associate (BA) management: 50+ BAs per health system, each requiring BAA tracking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Automated audit trail aggregation from EHR, IAM, email, cloud storage into unified view</a:t>
            </a:r>
            <a:br/>
            <a:r>
              <a:t>• Real-time PHI access monitoring with anomaly detection — flags unusual access patterns in &lt;5 min</a:t>
            </a:r>
            <a:br/>
            <a:r>
              <a:t>• Continuous compliance scoring with gap identification mapped to HIPAA Security Rule safeguards</a:t>
            </a:r>
            <a:br/>
            <a:r>
              <a:t>• Breach risk scoring: quantified risk per system, updated daily, with remediation priority ranking</a:t>
            </a:r>
            <a:br/>
            <a:r>
              <a:t>• BA management automation: BAA tracking, annual review reminders, termination workflow triggers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Audit Prep Time 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PHI Access Logging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Real-time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Compliance 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Daily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Breach Risk Scoring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Log collectors ingest from EHR audit logs + Okta/Azure AD + email DLP + S3 access logs → Unified compliance lake</a:t>
            </a:r>
            <a:br/>
            <a:r>
              <a:t>→ Anomaly detection: baseline access patterns per role → Flag deviations (e.g., billing staff accessing clinical notes at 2am)</a:t>
            </a:r>
            <a:br/>
            <a:r>
              <a:t>→ Compliance score = (controls_met / controls_required) per HIPAA safeguard category — drill-down to individual control gaps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HIPAA Security Rule: admin, physical, tech safeguards automated with evidence collection</a:t>
            </a:r>
            <a:br/>
            <a:r>
              <a:t>• HITECH Breach Notification: 60-day automated workflow with OCR-assisted notification letter generation</a:t>
            </a:r>
            <a:br/>
            <a:r>
              <a:t>• BA management: BAA tracking, annual review, termination workflow with automated reminders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Access log collectors</a:t>
            </a:r>
            <a:br/>
            <a:r>
              <a:t>SIEM feeds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Anomaly detection ML</a:t>
            </a:r>
            <a:br/>
            <a:r>
              <a:t>Compliance 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IAM + EHR + email</a:t>
            </a:r>
            <a:br/>
            <a:r>
              <a:t>S3 audit storage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Compliance dashboard</a:t>
            </a:r>
            <a:br/>
            <a:r>
              <a:t>Risk heat map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EHR  |  IAM (Okta/Azure AD)  |  S3 Storage  |  SIEM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Compliance Officers | HIPAA Privacy Officers | IT Security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UC12 | Contract Generation — &amp;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4-6 hours per contract draft for routine agreements — 60% of associate billable time</a:t>
            </a:r>
            <a:br/>
            <a:r>
              <a:t>• Inconsistent clause usage creating enforceability risks across 500+ active templates</a:t>
            </a:r>
            <a:br/>
            <a:r>
              <a:t>• $350/hr attorney time on routine document assembly that AI can handle in minutes</a:t>
            </a:r>
            <a:br/>
            <a:r>
              <a:t>• 15% of contracts sent with outdated clause libraries — liability exposure per engagement</a:t>
            </a:r>
            <a:br/>
            <a:r>
              <a:t>• Cross-jurisdictional complexity: 50-state variations for employment, lease, NDA agreements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AI drafting from firm-specific templates + Git-versioned clause library with approval workflow</a:t>
            </a:r>
            <a:br/>
            <a:r>
              <a:t>• Automated review: risk scoring per clause with deviation flagging against firm standards</a:t>
            </a:r>
            <a:br/>
            <a:r>
              <a:t>• Clause recommendation engine based on deal type, jurisdiction, counterparty risk profile</a:t>
            </a:r>
            <a:br/>
            <a:r>
              <a:t>• DocuSign integration for seamless review-sign workflow with parallel routing</a:t>
            </a:r>
            <a:br/>
            <a:r>
              <a:t>• Redline comparison: AI highlights substantive changes vs formatting noise in counterparty edits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45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Draft Time (from 4-6h)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Clause Consistency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Attorney Time 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$3-5K/mo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Savings per Firm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Attorney selects deal type + jurisdiction → AI pulls matching template + clause variants → Draft generated with firm-standard language</a:t>
            </a:r>
            <a:br/>
            <a:r>
              <a:t>→ Risk scoring: each clause analyzed for deviation from firm baseline → RED/YELLOW/GREEN per section → Attorney focuses on RED</a:t>
            </a:r>
            <a:br/>
            <a:r>
              <a:t>→ Counterparty redline: AI compares incoming vs sent version → Highlights substantive changes → Ignores formatting deltas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Attorney-client privilege: generated drafts access-controlled per matter, audit logged</a:t>
            </a:r>
            <a:br/>
            <a:r>
              <a:t>• Clause library Git-backed: partner-approved changes only, semantic versioning, rollback capability</a:t>
            </a:r>
            <a:br/>
            <a:r>
              <a:t>• Output always marked DRAFT; human sign-off required before client delivery — no autonomous sending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Ironclad (S15, 700 emp) — contract lifecycle</a:t>
            </a:r>
            <a:br/>
            <a:r>
              <a:t>• Draftwise (S20, 50 emp) — contract drafting</a:t>
            </a:r>
            <a:br/>
            <a:r>
              <a:t>• General Legal (W26) — AI legal assistant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Document upload</a:t>
            </a:r>
            <a:br/>
            <a:r>
              <a:t>OCR ingestion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Claude + templates</a:t>
            </a:r>
            <a:br/>
            <a:r>
              <a:t>Risk scoring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DocuSign + DMS APIs</a:t>
            </a:r>
            <a:br/>
            <a:r>
              <a:t>Email integration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Attorney review portal</a:t>
            </a:r>
            <a:br/>
            <a:r>
              <a:t>Clause library UI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DocuSign  |  iManage  |  Gmail  |  Billing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Associates | Partners | Paralegals | Legal Ops</a:t>
            </a:r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16 /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UC13 | Legal Research — Summarization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8-12 hours per research task for junior associates — $350/hr average cost</a:t>
            </a:r>
            <a:br/>
            <a:r>
              <a:t>• Manual search covers only 60-70% of relevant case law — critical precedents missed</a:t>
            </a:r>
            <a:br/>
            <a:r>
              <a:t>• 65% of billable hours spent on research vs actual legal analysis and strategy</a:t>
            </a:r>
            <a:br/>
            <a:r>
              <a:t>• Citation verification manual; LLM hallucinated citations are a documented professional risk</a:t>
            </a:r>
            <a:br/>
            <a:r>
              <a:t>• Multi-jurisdictional research multiplies effort 3-5x for interstate or federal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AI precedent search across Westlaw, LexisNexis, firm brief archives simultaneously</a:t>
            </a:r>
            <a:br/>
            <a:r>
              <a:t>• Structured summaries with jurisdiction-specific relevance scoring and authority ranking</a:t>
            </a:r>
            <a:br/>
            <a:r>
              <a:t>• Citation-linked outputs: every claim traced to source document with pinpoint paragraph reference</a:t>
            </a:r>
            <a:br/>
            <a:r>
              <a:t>• Collaborative research workspace: multiple attorneys can build on shared research threads</a:t>
            </a:r>
            <a:br/>
            <a:r>
              <a:t>• Shepard's/KeyCite integration: auto-checks if cited cases are still good law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2 hrs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Research (from 8-12)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Precedent Coverage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70%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Junior Workload 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Verified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Citation Accuracy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Attorney enters research question → RAG pipeline searches firm briefs + Westlaw + LexisNexis → Ranked results by relevance</a:t>
            </a:r>
            <a:br/>
            <a:r>
              <a:t>→ Claude reasoning: synthesizes findings into structured memo with headings, holdings, and distinguishing factors</a:t>
            </a:r>
            <a:br/>
            <a:r>
              <a:t>→ Every citation auto-validated: Shepard's check confirms case is still good law → Bad citations flagged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Every citation validated against source database — zero tolerance for hallucinated references</a:t>
            </a:r>
            <a:br/>
            <a:r>
              <a:t>• Research memos marked AI-assisted per state bar disclosure rules (ABA Formal Opinion 512)</a:t>
            </a:r>
            <a:br/>
            <a:r>
              <a:t>• No client data sent to external models; on-premise RAG pipeline for privileged materials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Vector Legal (W26) — AI legal research</a:t>
            </a:r>
            <a:br/>
            <a:r>
              <a:t>• Docsum (S23) — document summarization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Legal DB connectors</a:t>
            </a:r>
            <a:br/>
            <a:r>
              <a:t>Brief bank indexer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RAG pipeline</a:t>
            </a:r>
            <a:br/>
            <a:r>
              <a:t>Claude reasoning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Westlaw + LexisNexis</a:t>
            </a:r>
            <a:br/>
            <a:r>
              <a:t>DMS 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Brief generator</a:t>
            </a:r>
            <a:br/>
            <a:r>
              <a:t>Citation viewer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Westlaw  |  LexisNexis  |  iManage DMS  |  Brief Bank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Junior Associates | Senior Associates | Research Librarians</a:t>
            </a:r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17 /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UC14 | Legal Billing — Automation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15-20% revenue leakage from unbilled time entries — $50K+/yr per attorney lost</a:t>
            </a:r>
            <a:br/>
            <a:r>
              <a:t>• Manual timesheet reconciliation: 5+ hrs/week per billing coordinator</a:t>
            </a:r>
            <a:br/>
            <a:r>
              <a:t>• 30-day avg invoice cycle from capture to payment — cash flow impact on smaller firms</a:t>
            </a:r>
            <a:br/>
            <a:r>
              <a:t>• 8% of invoices rejected for LEDES/UTBMS formatting errors — delays payment by 30+ days</a:t>
            </a:r>
            <a:br/>
            <a:r>
              <a:t>• Expense categorization: receipts pile up, 25% of reimbursable expenses go unclaimed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AI activity capture from calendar, email, document edits — reconstructs billable day</a:t>
            </a:r>
            <a:br/>
            <a:r>
              <a:t>• Auto timesheet generation with matter-code assignment based on email subject + doc metadata</a:t>
            </a:r>
            <a:br/>
            <a:r>
              <a:t>• LEDES-compliant invoice automation with client rate cards and volume discount rules</a:t>
            </a:r>
            <a:br/>
            <a:r>
              <a:t>• Expense auto-categorization from receipt OCR and travel booking confirmations</a:t>
            </a:r>
            <a:br/>
            <a:r>
              <a:t>• Narrative generation: AI writes time entry descriptions matching firm's billing guidelines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Billable Capture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15%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Revenue Recovery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5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Invoice Cycle (from 30)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Auto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Expense Categorization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Calendar + email + doc edits monitored → AI reconstructs daily activity log → Suggests time entries with matter codes</a:t>
            </a:r>
            <a:br/>
            <a:r>
              <a:t>→ Attorney reviews AI suggestions in 5 min (vs 30 min manual entry) → Approves/edits → Timesheet submitted</a:t>
            </a:r>
            <a:br/>
            <a:r>
              <a:t>→ Month-end: LEDES formatter validates all entries → Client rate card applied → Invoice generated and emailed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Billing data Level 3, SOX-adjacent controls for &gt;$10M revenue firms</a:t>
            </a:r>
            <a:br/>
            <a:r>
              <a:t>• Time entry audit trail: AI suggestion vs attorney-approved final entry preserved</a:t>
            </a:r>
            <a:br/>
            <a:r>
              <a:t>• LEDES/UTBMS validation before submission — rejected entries flagged for correction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JustPaid (W23, 20 emp) — invoice automation</a:t>
            </a:r>
            <a:br/>
            <a:r>
              <a:t>• Peakflo (W22, 45 emp) — accounts receivable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Email/calendar monitors</a:t>
            </a:r>
            <a:br/>
            <a:r>
              <a:t>Doc edit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Activity classification</a:t>
            </a:r>
            <a:br/>
            <a:r>
              <a:t>Narrative generation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QB + Stripe APIs</a:t>
            </a:r>
            <a:br/>
            <a:r>
              <a:t>LEDES formatter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Billing dashboard</a:t>
            </a:r>
            <a:br/>
            <a:r>
              <a:t>Client portal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QuickBooks  |  Gmail  |  Calendar  |  Stripe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Associates | Billing Coordinators | Managing Partners</a:t>
            </a:r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18 /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UC15 | Lease Document —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2-3 hours per lease with manual clause selection from 200+ clause variants</a:t>
            </a:r>
            <a:br/>
            <a:r>
              <a:t>• $45K avg litigation cost per lease dispute — preventable with consistent language</a:t>
            </a:r>
            <a:br/>
            <a:r>
              <a:t>• Inconsistent terms across 50+ agents creating uneven liability exposure</a:t>
            </a:r>
            <a:br/>
            <a:r>
              <a:t>• Jurisdiction requirements missed in 6% of leases — state/county disclosure laws vary widely</a:t>
            </a:r>
            <a:br/>
            <a:r>
              <a:t>• Lease renewals: 30% of renewals processed late due to manual calendar tracking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AI lease generation pulling property/tenant data from CRM + county-specific requirements</a:t>
            </a:r>
            <a:br/>
            <a:r>
              <a:t>• Jurisdiction-aware clause library by state/county with auto-disclosure attachment</a:t>
            </a:r>
            <a:br/>
            <a:r>
              <a:t>• E-signature via DocuSign with tenant identity verification and income validation</a:t>
            </a:r>
            <a:br/>
            <a:r>
              <a:t>• Lease comparison tool: highlights deviations from brokerage standard in counterparty edits</a:t>
            </a:r>
            <a:br/>
            <a:r>
              <a:t>• Renewal automation: 90-day notice triggers, terms adjustment recommendations based on market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15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Generation (from 2-3h)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Clause Accuracy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Jurisdiction Errors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$2-4K/mo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Savings per Brokerage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Agent enters property + tenant info → AI selects jurisdiction template → Clauses auto-populated with market-rate terms</a:t>
            </a:r>
            <a:br/>
            <a:r>
              <a:t>→ County disclosure check: cross-references property against county requirements → Auto-attaches lead paint, mold, flood zone disclosures</a:t>
            </a:r>
            <a:br/>
            <a:r>
              <a:t>→ DocuSign envelope created → Tenant reviews + signs on mobile → Executed lease filed to DMS + CRM automatically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PII handling: tenant SSN/income encrypted AES-256, purged 30 days after lease execution</a:t>
            </a:r>
            <a:br/>
            <a:r>
              <a:t>• State-specific rules updated quarterly from legal database — Lexis state survey integration</a:t>
            </a:r>
            <a:br/>
            <a:r>
              <a:t>• Fair housing compliance: AI terms audited quarterly for discriminatory language patterns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Clau (S20, 90 emp) — real estate AI</a:t>
            </a:r>
            <a:br/>
            <a:r>
              <a:t>• Homeflow (W23) — property management</a:t>
            </a:r>
            <a:br/>
            <a:r>
              <a:t>• Goldbridge (F25) — RE technology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CRM data feed</a:t>
            </a:r>
            <a:br/>
            <a:r>
              <a:t>Property DB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Claude + lease templates</a:t>
            </a:r>
            <a:br/>
            <a:r>
              <a:t>Clause selector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DocuSign + CRM APIs</a:t>
            </a:r>
            <a:br/>
            <a:r>
              <a:t>County lookup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Agent portal</a:t>
            </a:r>
            <a:br/>
            <a:r>
              <a:t>Tenant self-service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CRM  |  DocuSign  |  Zillow API  |  County Records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Leasing Agents | Property Managers | Broker Compliance</a:t>
            </a:r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19 /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UC16 | Lead Scoring &amp; — Smart Routing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40% of leads receive first response &gt;4 hours — industry benchmark: &lt;5 min for 9x conversion</a:t>
            </a:r>
            <a:br/>
            <a:r>
              <a:t>• Unqualified leads consume 60% of agent follow-up time — $200+ wasted per dead-end lead</a:t>
            </a:r>
            <a:br/>
            <a:r>
              <a:t>• Manual CRM entry: 45 min/day per agent on data entry vs client engagement</a:t>
            </a:r>
            <a:br/>
            <a:r>
              <a:t>• Lead source attribution broken across 8+ channels: marketing ROI unmeasurable</a:t>
            </a:r>
            <a:br/>
            <a:r>
              <a:t>• Round-robin routing ignores agent expertise — luxury lead goes to starter-home specialist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AI lead scoring using 30+ interest signals: Zillow saves, ad clicks, email opens, price range, pre-approval</a:t>
            </a:r>
            <a:br/>
            <a:r>
              <a:t>• Smart routing to best-fit agent by expertise, geography, availability, and historical conversion rate</a:t>
            </a:r>
            <a:br/>
            <a:r>
              <a:t>• Auto CRM enrichment from Zillow views, Meta ad interactions, email engagement, website behavior</a:t>
            </a:r>
            <a:br/>
            <a:r>
              <a:t>• Campaign trigger automation: high-score leads get immediate SMS + agent notification + property matches</a:t>
            </a:r>
            <a:br/>
            <a:r>
              <a:t>• Lead nurture sequences: automated drip campaigns personalized by property preference and timeline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15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Response (from 4 hrs)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35%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Conversion Lift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Unqualified 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Auto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CRM Enrichment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Lead submits form/calls → 30+ signals scored by XGBoost model → Score 0-100 with confidence interval</a:t>
            </a:r>
            <a:br/>
            <a:r>
              <a:t>→ Score &gt;70 → Instant SMS to best-match agent + auto-CRM entry → Agent sees lead profile + property matches on mobile</a:t>
            </a:r>
            <a:br/>
            <a:r>
              <a:t>→ Score 30-70 → Nurture sequence activated → Weekly property updates + market insights → Re-scored on engagement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Fair housing: scoring model audited for demographic bias quarterly — disparate impact &lt;5%</a:t>
            </a:r>
            <a:br/>
            <a:r>
              <a:t>• Lead data: 2yr active retention, 5yr archived per broker compliance requirements</a:t>
            </a:r>
            <a:br/>
            <a:r>
              <a:t>• CAN-SPAM and TCPA compliance for all automated outreach — opt-out honored within 24 hours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PropReturns (S21, 40 emp) — RE analytics</a:t>
            </a:r>
            <a:br/>
            <a:r>
              <a:t>• Smart Alto (W17) — lead qualification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Lead capture forms</a:t>
            </a:r>
            <a:br/>
            <a:r>
              <a:t>Zillow API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XGBoost scoring</a:t>
            </a:r>
            <a:br/>
            <a:r>
              <a:t>Behavioral ML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CRM + Meta + email</a:t>
            </a:r>
            <a:br/>
            <a:r>
              <a:t>Zapier triggers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Agent assignment UI</a:t>
            </a:r>
            <a:br/>
            <a:r>
              <a:t>Lead pipeline view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CRM  |  Zillow  |  Meta Ads  |  Email/SMS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Listing Agents | Buyer Agents | Team Leads | Marketing</a:t>
            </a:r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20 /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UC17 | Commission Analytics — &amp; Reporting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Month-end calculations take 3+ days of manual spreadsheet work across 50+ agents</a:t>
            </a:r>
            <a:br/>
            <a:r>
              <a:t>• 12% of agents dispute commissions monthly — trust erosion and admin overhead</a:t>
            </a:r>
            <a:br/>
            <a:r>
              <a:t>• No real-time visibility into earned vs pending vs paid — agents can't forecast income</a:t>
            </a:r>
            <a:br/>
            <a:r>
              <a:t>• Split commission scenarios (co-listing, referral, team) miscalculated 8% of the time</a:t>
            </a:r>
            <a:br/>
            <a:r>
              <a:t>• 1099 preparation: year-end reconciliation takes 2 weeks of dedicated accounting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Auto commission engine with configurable splits, tiers, bonuses, and override rules</a:t>
            </a:r>
            <a:br/>
            <a:r>
              <a:t>• Deal attribution: listing agreements linked to closing, payment, and commission disbursement</a:t>
            </a:r>
            <a:br/>
            <a:r>
              <a:t>• Real-time financial dashboards for agents (earnings) and management (P&amp;L, agent economics)</a:t>
            </a:r>
            <a:br/>
            <a:r>
              <a:t>• Agent performance ranking with trend analysis, conversion funnels, and coaching insights</a:t>
            </a:r>
            <a:br/>
            <a:r>
              <a:t>• Automated 1099 generation from commission data with IRS e-filing integration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Same-day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Commission Reports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99.5%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Calculation Accuracy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Dispute Reduction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Performance Ranking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Closing data from MLS/title company → Commission rules engine applies split/tier/bonus formulas → Agent sees earnings instantly</a:t>
            </a:r>
            <a:br/>
            <a:r>
              <a:t>→ Dispute resolution: agent clicks disputed entry → System shows calculation trace with rule version + input data → Transparent resolution</a:t>
            </a:r>
            <a:br/>
            <a:r>
              <a:t>→ Year-end: 1099 data pre-compiled from disbursements → Accounting reviews → IRS e-file submitted with one click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Financial data Level 3, SOX-adjacent controls for &gt;$10M revenue brokerages</a:t>
            </a:r>
            <a:br/>
            <a:r>
              <a:t>• Commission audit trail: every calculation step logged with rule version and input values</a:t>
            </a:r>
            <a:br/>
            <a:r>
              <a:t>• 1099 generation from commission data, IRS-compliant with e-filing and agent portal access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Transaction feeds</a:t>
            </a:r>
            <a:br/>
            <a:r>
              <a:t>MLS closing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Commission rules</a:t>
            </a:r>
            <a:br/>
            <a:r>
              <a:t>Split calculator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QB + Stripe + CRM</a:t>
            </a:r>
            <a:br/>
            <a:r>
              <a:t>1099 generator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Financial dashboard</a:t>
            </a:r>
            <a:br/>
            <a:r>
              <a:t>Agent leaderboard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CRM  |  QuickBooks  |  Stripe  |  MLS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Agents | Brokerage Managers | Accounting | Team Leads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21 /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UC18 | SEO Audit &amp; — Optimization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Manual SEO audits take 20+ hours per client site — limits agency to 5-8 clients per strategist</a:t>
            </a:r>
            <a:br/>
            <a:r>
              <a:t>• Recommendations outdated by publish time: 2-week lag between audit and implementation</a:t>
            </a:r>
            <a:br/>
            <a:r>
              <a:t>• No competitive position tracking: flying blind on SERP movements and competitor content strategy</a:t>
            </a:r>
            <a:br/>
            <a:r>
              <a:t>• Technical SEO issues (Core Web Vitals, crawlability, schema) missed without engineering support</a:t>
            </a:r>
            <a:br/>
            <a:r>
              <a:t>• Content gap analysis: manual keyword research covers &lt;30% of opportunity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Automated crawl with technical SEO scoring: Core Web Vitals, mobile usability, schema validation</a:t>
            </a:r>
            <a:br/>
            <a:r>
              <a:t>• AI content recommendations: keyword gaps, topical authority mapping, content cannibalization detection</a:t>
            </a:r>
            <a:br/>
            <a:r>
              <a:t>• Weekly competitive position monitoring with SERP tracking and movement alerts</a:t>
            </a:r>
            <a:br/>
            <a:r>
              <a:t>• Prioritized fix list with estimated traffic impact per recommendation — ROI-ranked actions</a:t>
            </a:r>
            <a:br/>
            <a:r>
              <a:t>• Content brief generation: AI creates detailed briefs with target keywords, structure, and competitor analysis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2 hrs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Audit (from 20+)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Per-page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Recommendations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Weekly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Competitive Tracking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$2-4K/mo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Revenue per Client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Crawler scans site (respecting robots.txt) → Technical issues scored → Content analyzed for keyword gaps and authority</a:t>
            </a:r>
            <a:br/>
            <a:r>
              <a:t>→ AI generates prioritized fix list: each item has estimated traffic impact + implementation difficulty → ROI ranking</a:t>
            </a:r>
            <a:br/>
            <a:r>
              <a:t>→ Weekly SERP tracker: monitors 500+ keywords per client → Alerts on position changes &gt;5 → Competitor content flagged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Crawl rate limiting: respects robots.txt, max 5 req/sec, polite user-agent identification</a:t>
            </a:r>
            <a:br/>
            <a:r>
              <a:t>• Competitor data from public SERPs only, no scraping behind authentication or paywalls</a:t>
            </a:r>
            <a:br/>
            <a:r>
              <a:t>• Client data isolated: multi-tenant architecture with per-client encryption keys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Positional (S21, acquired) — SEO tooling</a:t>
            </a:r>
            <a:br/>
            <a:r>
              <a:t>• Clearscope — content optimization platform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Web crawler</a:t>
            </a:r>
            <a:br/>
            <a:r>
              <a:t>Sitemap parser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NLP content analysis</a:t>
            </a:r>
            <a:br/>
            <a:r>
              <a:t>Keyword gap ML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GA + Search Console</a:t>
            </a:r>
            <a:br/>
            <a:r>
              <a:t>SERP tracker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SEO dashboard</a:t>
            </a:r>
            <a:br/>
            <a:r>
              <a:t>Client report gen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Google Analytics  |  Search Console  |  WordPress  |  Screaming Frog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SEO Specialists | Content Strategists | Agency Managers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22 /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UC19 | Campaign Performance —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8+ hrs/week per account manager on manual reporting across 4-6 ad platforms</a:t>
            </a:r>
            <a:br/>
            <a:r>
              <a:t>• Inconsistent metrics: each platform defines conversion, attribution, and ROAS differently</a:t>
            </a:r>
            <a:br/>
            <a:r>
              <a:t>• Client reporting delays: 3-5 days from period end — clients demand real-time visibility</a:t>
            </a:r>
            <a:br/>
            <a:r>
              <a:t>• Anomaly detection manual: budget overspend and CPA spikes caught 24-48 hrs late</a:t>
            </a:r>
            <a:br/>
            <a:r>
              <a:t>• Cross-channel attribution: customer journey spans 5+ touchpoints — no unified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Automated ingestion from Google Ads, Meta, LinkedIn, TikTok, programmatic DSPs</a:t>
            </a:r>
            <a:br/>
            <a:r>
              <a:t>• Unified metric normalization: standardized attribution model across all channels</a:t>
            </a:r>
            <a:br/>
            <a:r>
              <a:t>• AI insight generation: auto-surfaces trends, anomalies, and actionable optimization recommendations</a:t>
            </a:r>
            <a:br/>
            <a:r>
              <a:t>• White-label client dashboards with auto report generation (PDF, email digest, Slack alerts)</a:t>
            </a:r>
            <a:br/>
            <a:r>
              <a:t>• Budget pacing: real-time spend tracking with automated bid adjustments when pacing off-target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Real-time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Unified Dashboard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Reporting Time 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Auto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Client Reports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Instant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Anomaly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Platform APIs polled every 15 min → ETL normalizes metrics to unified schema → Data warehouse (BigQuery/Snowflake)</a:t>
            </a:r>
            <a:br/>
            <a:r>
              <a:t>→ Anomaly engine: statistical process control on CPA, CTR, spend → Alert if &gt;2σ deviation from 7-day rolling avg</a:t>
            </a:r>
            <a:br/>
            <a:r>
              <a:t>→ Weekly AI digest: Claude summarizes performance, highlights top/bottom campaigns, recommends budget reallocation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Platform API usage within rate limits and ToS — OAuth tokens rotated per platform policy</a:t>
            </a:r>
            <a:br/>
            <a:r>
              <a:t>• Client ad spend data Level 2, segregated per client with row-level security in warehouse</a:t>
            </a:r>
            <a:br/>
            <a:r>
              <a:t>• GDPR: no PII in analytics; all data aggregated — individual user journeys anonymized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Platform API connectors</a:t>
            </a:r>
            <a:br/>
            <a:r>
              <a:t>ETL pipelines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Analytics aggregation</a:t>
            </a:r>
            <a:br/>
            <a:r>
              <a:t>Anomaly detection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Multi-platform APIs</a:t>
            </a:r>
            <a:br/>
            <a:r>
              <a:t>Data warehouse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Client dashboard</a:t>
            </a:r>
            <a:br/>
            <a:r>
              <a:t>Report PDF generator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Google Analytics  |  Meta Ads API  |  LinkedIn Ads  |  Buffer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Account Managers | Media Buyers | Agency Directors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23 /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UC20 | Content Pipeline — Automation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5-day avg content cycle from brief to publish — competitors publish daily</a:t>
            </a:r>
            <a:br/>
            <a:r>
              <a:t>• Approval bottlenecks: content sits 2+ days in review queues across 3-4 stakeholders</a:t>
            </a:r>
            <a:br/>
            <a:r>
              <a:t>• Inconsistent brand voice across blog, social, email, ad copy — 5 writers, 5 styles</a:t>
            </a:r>
            <a:br/>
            <a:r>
              <a:t>• Manual A/B testing: 3+ hrs per test setup limiting experimentation volume</a:t>
            </a:r>
            <a:br/>
            <a:r>
              <a:t>• Content repurposing: blog → social → email done manually — 2hrs per piece per channel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AI content generation from structured briefs + fine-tuned brand voice model</a:t>
            </a:r>
            <a:br/>
            <a:r>
              <a:t>• Automated approval workflows with parallel reviewer routing and deadline escalation</a:t>
            </a:r>
            <a:br/>
            <a:r>
              <a:t>• Multi-channel publishing: one brief → blog post + 5 social variants + email + ad copy</a:t>
            </a:r>
            <a:br/>
            <a:r>
              <a:t>• Auto A/B variant generation with performance-based winner selection after 48hr test</a:t>
            </a:r>
            <a:br/>
            <a:r>
              <a:t>• Content calendar: AI suggests topics based on trending keywords, competitor gaps, seasonal patterns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1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Cycle (from 5 days)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Faster Approvals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Consistent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Brand Voice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Auto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A/B Variants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Content brief submitted → Claude generates draft + 3 headline variants + social adaptations → Brand voice score checked</a:t>
            </a:r>
            <a:br/>
            <a:r>
              <a:t>→ Parallel approval: content, legal, and brand reviewers notified simultaneously → Majority approval = proceed → Escalation at 24hr</a:t>
            </a:r>
            <a:br/>
            <a:r>
              <a:t>→ A/B engine: 2 variants published → Performance measured for 48hr → Winner auto-promoted → Loser paused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Brand guidelines enforced via fine-tuned style model — voice consistency score &gt;85% required</a:t>
            </a:r>
            <a:br/>
            <a:r>
              <a:t>• Content audit trail: every generation, edit, and approval timestamped with reviewer identity</a:t>
            </a:r>
            <a:br/>
            <a:r>
              <a:t>• FTC compliance: AI-generated content flagged for disclosure where required by advertising standards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EDGE / CAPTURE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Content brief input</a:t>
            </a:r>
            <a:br/>
            <a:r>
              <a:t>Asset library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Claude generation</a:t>
            </a:r>
            <a:br/>
            <a:r>
              <a:t>Brand voice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CMS + social APIs</a:t>
            </a:r>
            <a:br/>
            <a:r>
              <a:t>Email platform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Editorial dashboard</a:t>
            </a:r>
            <a:br/>
            <a:r>
              <a:t>Publishing scheduler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WordPress  |  Buffer  |  CMS  |  Slack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Content Managers | Copywriters | Brand Managers</a:t>
            </a:r>
          </a:p>
        </p:txBody>
      </p:sp>
      <p:pic>
        <p:nvPicPr>
          <p:cNvPr id="39" name="Picture 3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24 /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UC21 | AI-Powered Code —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30-40% of engineering hours on routine bug fixes and boilerplate code</a:t>
            </a:r>
            <a:br/>
            <a:r>
              <a:t>• PR review bottleneck: avg 2-day cycle time from issue to merge across teams</a:t>
            </a:r>
            <a:br/>
            <a:r>
              <a:t>• Legacy codebases accumulate 200+ open issues with no bandwidth to address</a:t>
            </a:r>
            <a:br/>
            <a:r>
              <a:t>• Junior onboarding takes 3-6 months before meaningful contributions to production</a:t>
            </a:r>
            <a:br/>
            <a:r>
              <a:t>• Engineering hiring costs $150-250K/yr per dev — autonomous agents offer 10x leverage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OpenHands (68.6k★, $18.8M Series A) autonomous agents: analyze issues, write fixes, open PRs end-to-end</a:t>
            </a:r>
            <a:br/>
            <a:r>
              <a:t>• CodeAct agent framework: agents execute bash, Python, and browser actions in natural language loop</a:t>
            </a:r>
            <a:br/>
            <a:r>
              <a:t>• Event-sourced architecture: every action/observation logged as typed event — deterministic replay and full audit trail</a:t>
            </a:r>
            <a:br/>
            <a:r>
              <a:t>• Sandboxed execution: every agent runs in isolated Docker container — no host access, secrets masked</a:t>
            </a:r>
            <a:br/>
            <a:r>
              <a:t>• Model-agnostic: Claude Opus 4.6 (80.8% SWE-Bench), GPT-5.2 (80.0%), or self-hosted Qwen/DeepSeek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80.8%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SWE-Bench Verified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~$3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Cost per PR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68.6k★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GitHub Stars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6 Providers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Git Platform Support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GitHub issue created → OpenHands resolver agent reads issue + codebase → CodeAct generates fix → Runs tests in sandbox → Opens PR</a:t>
            </a:r>
            <a:br/>
            <a:r>
              <a:t>→ EventStream hub: User Message → LLM → Action (bash/code/browser) → Runtime sandbox → Observation → next cycle</a:t>
            </a:r>
            <a:br/>
            <a:r>
              <a:t>→ AgentHub registry: CodeActAgent (generalist), BrowsingAgent (web tasks), micro-agents (from natural language specs)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All AI-generated code marked AI-assisted per GitHub metadata; human approval required before merge</a:t>
            </a:r>
            <a:br/>
            <a:r>
              <a:t>• Sandboxed runtime: Docker container with no host filesystem access, network restricted, secrets never exposed</a:t>
            </a:r>
            <a:br/>
            <a:r>
              <a:t>• SecurityAnalyzer rates every tool call LOW/MEDIUM/HIGH risk — HIGH requires human confirmation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OpenHands (68.6k★, $18.8M) — open-source AI dev platform</a:t>
            </a:r>
            <a:br/>
            <a:r>
              <a:t>• Devin/Cognition ($175M raised) — commercial autonomous developer</a:t>
            </a:r>
            <a:br/>
            <a:r>
              <a:t>• Cursor (background agents, 65.7% SWE-Bench) — AI-native IDE</a:t>
            </a:r>
            <a:br/>
            <a:r>
              <a:t>• Codex (GPT-5.5, 56.8% SWE-Bench Pro) — OpenAI's coding 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AGENT / SDK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OpenHands SDK</a:t>
            </a:r>
            <a:br/>
            <a:r>
              <a:t>CodeAct + AgentHub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Claude Opus 4.6</a:t>
            </a:r>
            <a:br/>
            <a:r>
              <a:t>GPT-5.2 / Qwen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GitHub/GitLab/Bitbucket</a:t>
            </a:r>
            <a:br/>
            <a:r>
              <a:t>MCP + FastMCP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PR review portal</a:t>
            </a:r>
            <a:br/>
            <a:r>
              <a:t>EventStream viewer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GitHub  |  GitLab  |  Docker  |  CI/CD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Engineering Leads | DevOps Managers | VP Engineering</a:t>
            </a:r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UC22 | Automated Test —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Legacy codebases average 35% test coverage — most critical paths untested</a:t>
            </a:r>
            <a:br/>
            <a:r>
              <a:t>• 15% of deployments cause incidents in first 24 hours due to missing regression tests</a:t>
            </a:r>
            <a:br/>
            <a:r>
              <a:t>• Test maintenance: 20% of test suites break with each major refactor — flaky tests ignored</a:t>
            </a:r>
            <a:br/>
            <a:r>
              <a:t>• Security testing requires specialized expertise most teams lack — OWASP coverage &lt;20%</a:t>
            </a:r>
            <a:br/>
            <a:r>
              <a:t>• Manual test writing: senior engineer produces ~15 test cases/day at $150/hr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OpenHands agents generate comprehensive test suites validated on SWT-Bench (testing benchmark)</a:t>
            </a:r>
            <a:br/>
            <a:r>
              <a:t>• Multi-agent fan-out: parallel generation across unit/integration/E2E layers simultaneously</a:t>
            </a:r>
            <a:br/>
            <a:r>
              <a:t>• Automated test maintenance: detect broken tests post-refactor, auto-fix assertions and mocks</a:t>
            </a:r>
            <a:br/>
            <a:r>
              <a:t>• Security-focused generation: OWASP Top 10 coverage with pen-test scenarios auto-generated</a:t>
            </a:r>
            <a:br/>
            <a:r>
              <a:t>• OpenHands Index testing category: measures real-world test generation quality across models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35→85%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Test Coverage 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60%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Fewer Prod Regressions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10x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Test Gen Speed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1-2 wk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Setup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Agent reads source code + existing tests → Identifies untested paths via coverage gap analysis → Generates test files</a:t>
            </a:r>
            <a:br/>
            <a:r>
              <a:t>→ SWT-Bench validation: generated tests verified against known-buggy code — must catch the bug to pass benchmark</a:t>
            </a:r>
            <a:br/>
            <a:r>
              <a:t>→ CI integration: agent opens PR with test files → Coverage diff shown → Human reviews → Merge adds to CI pipeline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Generated tests reviewed by senior engineer before inclusion in CI pipeline</a:t>
            </a:r>
            <a:br/>
            <a:r>
              <a:t>• No production PII in test fixtures; synthetic data generation via Faker/factory patterns</a:t>
            </a:r>
            <a:br/>
            <a:r>
              <a:t>• Coverage metrics: minimum 80% threshold enforced via CI gates — PR blocked below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QA Wolf (W19, 80 emp) — E2E testing as service ($4M ARR)</a:t>
            </a:r>
            <a:br/>
            <a:r>
              <a:t>• Carbonate (S23) — AI test generation from user flows</a:t>
            </a:r>
            <a:br/>
            <a:r>
              <a:t>• Momentic (S23) — autonomous E2E testing with self-healing</a:t>
            </a:r>
            <a:br/>
            <a:r>
              <a:t>• CodiumAI (now Qodo) — AI test generation IDE extension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AGENT / SDK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OpenHands agents</a:t>
            </a:r>
            <a:br/>
            <a:r>
              <a:t>SWT-Bench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Claude reasoning</a:t>
            </a:r>
            <a:br/>
            <a:r>
              <a:t>Coverage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CI/CD hooks</a:t>
            </a:r>
            <a:br/>
            <a:r>
              <a:t>Coverage APIs (lcov)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Coverage dashboard</a:t>
            </a:r>
            <a:br/>
            <a:r>
              <a:t>Risk heatmap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GitHub  |  Jest/Pytest  |  CI/CD  |  SAST Tools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QA Engineers | Engineering Managers | Security Teams</a:t>
            </a:r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26 /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UC23 | Code Modernization — &amp; Tech Debt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40% of dev time spent navigating and working around legacy code (Stripe 2023 study)</a:t>
            </a:r>
            <a:br/>
            <a:r>
              <a:t>• Framework migrations (Angular→React, Python 2→3) take 6-18 months manually</a:t>
            </a:r>
            <a:br/>
            <a:r>
              <a:t>• Average enterprise has 200+ outdated packages deferred due to risk of breaking changes</a:t>
            </a:r>
            <a:br/>
            <a:r>
              <a:t>• Monolith decomposition requires deep institutional knowledge often lost to attrition</a:t>
            </a:r>
            <a:br/>
            <a:r>
              <a:t>• Technical debt costs the average company $3.6M/yr in lost productivity (McKinsey)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OpenHands multi-repo dependency upgrades at ~$3 per PR across hundreds of services automatically</a:t>
            </a:r>
            <a:br/>
            <a:r>
              <a:t>• Autonomous framework migration: CodeAct agent generates idiomatic code in target framework with tests</a:t>
            </a:r>
            <a:br/>
            <a:r>
              <a:t>• Monolith decomposition: agent analyzes dependency graph, identifies service boundaries, extracts and tests</a:t>
            </a:r>
            <a:br/>
            <a:r>
              <a:t>• Commit0 benchmark: validates greenfield development quality — agent builds working app from spec</a:t>
            </a:r>
            <a:br/>
            <a:r>
              <a:t>• Dead code elimination: agent identifies unused exports, unreachable branches, and orphaned files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~$3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Cost per Migration PR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Tech Debt 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6→1 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Migration Timeline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100+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Repos per Sprint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Dependency scanner identifies outdated packages → Agent creates branch → Updates package + fixes breaking changes → Runs tests → Opens PR</a:t>
            </a:r>
            <a:br/>
            <a:r>
              <a:t>→ Migration: agent reads source in framework A → Generates equivalent in framework B → Validates output matches behavioral tests</a:t>
            </a:r>
            <a:br/>
            <a:r>
              <a:t>→ Commit0 pipeline: spec document → Agent scaffolds project → Builds features iteratively → Integration tests validate completeness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All migration PRs include automated regression test results and diff size metrics</a:t>
            </a:r>
            <a:br/>
            <a:r>
              <a:t>• Security patches (CVE fixes) auto-merged after CI pass; major versions require human approval</a:t>
            </a:r>
            <a:br/>
            <a:r>
              <a:t>• Architecture Decision Records (ADRs) auto-generated for each decomposition or migration step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Grit.io (W22) — automated code migrations at scale</a:t>
            </a:r>
            <a:br/>
            <a:r>
              <a:t>• Moderne (S21, 50 emp) — large-scale refactoring platform</a:t>
            </a:r>
            <a:br/>
            <a:r>
              <a:t>• Sourcegraph Cody (S14, 300+) — code intelligence + search</a:t>
            </a:r>
            <a:br/>
            <a:r>
              <a:t>• CodeRabbit — AI-powered code review and refactoring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ANALYSIS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Dependency graph</a:t>
            </a:r>
            <a:br/>
            <a:r>
              <a:t>Dead code scanner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Claude Opus 4.6</a:t>
            </a:r>
            <a:br/>
            <a:r>
              <a:t>Multi-agent chain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npm/pip/maven registries</a:t>
            </a:r>
            <a:br/>
            <a:r>
              <a:t>CI validation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Migration tracker</a:t>
            </a:r>
            <a:br/>
            <a:r>
              <a:t>Risk scoring board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GitHub  |  npm/pip/maven  |  Docker  |  Terraform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Platform Engineers | Tech Leads | CTOs</a:t>
            </a:r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27 /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UC24 | DevOps &amp; Incident —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MTTR averages 4+ hours for production incidents — 65% of time spent on log correlation</a:t>
            </a:r>
            <a:br/>
            <a:r>
              <a:t>• On-call engineers spend 60% of incident time correlating logs across 10+ services</a:t>
            </a:r>
            <a:br/>
            <a:r>
              <a:t>• CI/CD pipeline failures block 15-20% of deployments — most are config/dependency issues</a:t>
            </a:r>
            <a:br/>
            <a:r>
              <a:t>• Terraform state diverges from reality across 50+ microservices — drift detected monthly, not daily</a:t>
            </a:r>
            <a:br/>
            <a:r>
              <a:t>• Alert fatigue: avg SRE receives 200+ alerts/week — 85% are non-actionable noise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6012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OpenHands agents analyze logs + metrics, pinpoint root causes, generate fix PRs autonomously</a:t>
            </a:r>
            <a:br/>
            <a:r>
              <a:t>• Automated CI/CD debugging: agent reads build logs, identifies failure cause, pushes fix within minutes</a:t>
            </a:r>
            <a:br/>
            <a:r>
              <a:t>• IaC auto-remediation: drift detection → Terraform PR → validated plan → human-approved apply</a:t>
            </a:r>
            <a:br/>
            <a:r>
              <a:t>• Runbook automation: agent executes playbook steps with human escalation for destructive actions</a:t>
            </a:r>
            <a:br/>
            <a:r>
              <a:t>• Alert triage: agent classifies alerts, correlates with recent deploys, auto-resolves known patterns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4hr→15m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MTTR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7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027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7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Auto-Resolved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85%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79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CI/CD Fix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19" y="2331720"/>
            <a:ext cx="1645920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19" y="23774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000" b="1">
                <a:solidFill>
                  <a:srgbClr val="FFB800"/>
                </a:solidFill>
                <a:latin typeface="Calibri"/>
              </a:defRPr>
            </a:pPr>
            <a:r>
              <a:t>24/7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19" y="27706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  <a:r>
              <a:t>Always-On 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2461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800" b="1">
                <a:solidFill>
                  <a:srgbClr val="0A162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429000"/>
            <a:ext cx="74368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→ PagerDuty alert fires → Agent reads alert context + recent deploys + logs → Identifies root cause → Generates fix PR or rollback</a:t>
            </a:r>
            <a:br/>
            <a:r>
              <a:t>→ CI failure: agent reads build log → Classifies error (dep/config/test/compile) → Pushes targeted fix → Re-triggers pipeline</a:t>
            </a:r>
            <a:br/>
            <a:r>
              <a:t>→ Terraform drift: daily plan comparison → Drift detected → Agent generates corrective PR with plan output → Human approves apply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GOVERNANCE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Production access read-only for agents; all write operations require human approval via Slack/PagerDuty</a:t>
            </a:r>
            <a:br/>
            <a:r>
              <a:t>• Every agent action logged with timestamp, rationale, confidence score, and blast radius assessment</a:t>
            </a:r>
            <a:br/>
            <a:r>
              <a:t>• Blast radius controls: auto-remediation limited to non-critical services; critical services require human-in-the-loop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06908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A1628"/>
                </a:solidFill>
                <a:latin typeface="Calibri"/>
              </a:defRPr>
            </a:pPr>
            <a:r>
              <a:t>COMPETITIVE LANDSCAPE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251960"/>
            <a:ext cx="3520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0A1628"/>
                </a:solidFill>
                <a:latin typeface="Calibri"/>
              </a:defRPr>
            </a:pPr>
            <a:r>
              <a:t>• Rootly (S21, 45 emp) — incident management platform</a:t>
            </a:r>
            <a:br/>
            <a:r>
              <a:t>• incident.io (S21, 120 emp) — incident response automation</a:t>
            </a:r>
            <a:br/>
            <a:r>
              <a:t>• Firehydrant (W20, 90 emp) — reliability platform</a:t>
            </a:r>
            <a:br/>
            <a:r>
              <a:t>• Shoreline.io (acquired by DataDog) — incident automation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74920"/>
            <a:ext cx="7619695" cy="777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51114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1">
                <a:solidFill>
                  <a:srgbClr val="00C9A7"/>
                </a:solidFill>
                <a:latin typeface="Calibri"/>
              </a:defRPr>
            </a:pPr>
            <a:r>
              <a:t>SOLUTION STACK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OBSERVE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DataDog + Loki logs</a:t>
            </a:r>
            <a:br/>
            <a:r>
              <a:t>PagerDuty alerts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7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COMPUTE /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7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OpenHands agent</a:t>
            </a:r>
            <a:br/>
            <a:r>
              <a:t>Log analysis LLM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Terraform API + K8s</a:t>
            </a:r>
            <a:br/>
            <a:r>
              <a:t>GitHub Actions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19" y="5276088"/>
            <a:ext cx="1737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1">
                <a:solidFill>
                  <a:srgbClr val="00C9A7"/>
                </a:solidFill>
                <a:latin typeface="Calibri"/>
              </a:defRPr>
            </a:pPr>
            <a:r>
              <a:t>UX / DECISION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19" y="5458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0">
                <a:solidFill>
                  <a:srgbClr val="FFFFFF"/>
                </a:solidFill>
                <a:latin typeface="Calibri"/>
              </a:defRPr>
            </a:pPr>
            <a:r>
              <a:t>Incident dashboard</a:t>
            </a:r>
            <a:br/>
            <a:r>
              <a:t>Runbook executor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43600"/>
            <a:ext cx="3657600" cy="320040"/>
          </a:xfrm>
          <a:prstGeom prst="rect">
            <a:avLst/>
          </a:prstGeom>
          <a:solidFill>
            <a:srgbClr val="009B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SYSTEMS: PagerDuty  |  DataDog  |  Terraform  |  GitHub Actions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943600"/>
            <a:ext cx="3657600" cy="320040"/>
          </a:xfrm>
          <a:prstGeom prst="rect">
            <a:avLst/>
          </a:prstGeom>
          <a:solidFill>
            <a:srgbClr val="008F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98017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650" b="1">
                <a:solidFill>
                  <a:srgbClr val="FFFFFF"/>
                </a:solidFill>
                <a:latin typeface="Calibri"/>
              </a:defRPr>
            </a:pPr>
            <a:r>
              <a:t>USERS: SRE Teams | DevOps Engineers | Incident Commanders</a:t>
            </a:r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28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YC Competitive — Landscape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8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Threat Matrix by Vertical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Manufacturing (30 YC cos): MEDIUM threat — our MCP-native integration differentiates vs niche point solutions</a:t>
            </a:r>
            <a:br/>
            <a:r>
              <a:t>• Healthcare (20+ YC cos): HIGH threat — our FHIR-native + compliance-first architecture differentiates</a:t>
            </a:r>
            <a:br/>
            <a:r>
              <a:t>• Legal (14 YC cos): HIGH threat — full-practice automation vs single-workflow tools like Ironclad</a:t>
            </a:r>
            <a:br/>
            <a:r>
              <a:t>• Real Estate (24 YC cos): LOW threat — integrated lease+lead+commission vs fragmented solutions</a:t>
            </a:r>
            <a:br/>
            <a:r>
              <a:t>• Marketing (3 YC cos): LOW threat — underserved vertical; multi-channel unification opportunity</a:t>
            </a:r>
            <a:br/>
            <a:r>
              <a:t>• AI Platforms (30+ YC cos): HIGH threat — vertical-specific agents on general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Strategic Implications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Key insight: Manufacturing and Marketing offer least contested entry points</a:t>
            </a:r>
            <a:br/>
            <a:r>
              <a:t>• Healthcare and Legal offer highest ACV ($3-5K/mo) but well-funded competition</a:t>
            </a:r>
            <a:br/>
            <a:r>
              <a:t>• Our edge: end-to-end vertical coverage vs single-feature YC startups</a:t>
            </a:r>
            <a:br/>
            <a:r>
              <a:t>• MCP-native architecture provides 40% faster integration than competitors</a:t>
            </a:r>
            <a:br/>
            <a:r>
              <a:t>• Multi-model approach (Claude + GPT-4o) eliminates vendor lock-in risk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7619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120+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YC Competitors Mapped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7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7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Verticals Analyzed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Avg Threat Level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1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1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Our Differentiator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29 /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Revenue Model &amp; — Unit Economics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8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Revenue per Vertical (Monthly)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Manufacturing: $5,000-$10,000/mo — complex integration, high-value outcomes</a:t>
            </a:r>
            <a:br/>
            <a:r>
              <a:t>• Healthcare: $3,000-$5,000/mo — HIPAA compliance overhead, multi-system</a:t>
            </a:r>
            <a:br/>
            <a:r>
              <a:t>• Legal: $3,000-$5,000/mo — high attorney labor displacement value</a:t>
            </a:r>
            <a:br/>
            <a:r>
              <a:t>• Real Estate: $2,000-$4,000/mo — high volume, lower complexity per transaction</a:t>
            </a:r>
            <a:br/>
            <a:r>
              <a:t>• Marketing: $2,000-$4,000/mo — multi-channel, agency white-label premium</a:t>
            </a:r>
            <a:br/>
            <a:r>
              <a:t>• Cost: API $200-500/client, Infra $40-50/client. Gross margin: 65-75% at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Scaling Economics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Solo (1-5 clients): 40% margin, $15-30K MRR, founder-led</a:t>
            </a:r>
            <a:br/>
            <a:r>
              <a:t>• Team (6-20 clients): 55% margin, $50-150K MRR, 3-5 person team</a:t>
            </a:r>
            <a:br/>
            <a:r>
              <a:t>• Agency (21-50 clients): 65% margin, $150-400K MRR, self-service onboarding</a:t>
            </a:r>
            <a:br/>
            <a:r>
              <a:t>• Enterprise (50+ clients): 72% margin, $400K+ MRR, platform economics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7619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18 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Avg Client Retention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7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3 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7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CAC Payback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$72K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Avg LTV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1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6:1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1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LTV/CAC Ratio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30 /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Implementation Roadmap — 12-Month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8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Phase 1-2: Foundation &amp; Expansion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Month 1-2 — Foundation &amp; Pilots:</a:t>
            </a:r>
            <a:br/>
            <a:r>
              <a:t>• • Select primary vertical (recommend: Manufacturing or Marketing)</a:t>
            </a:r>
            <a:br/>
            <a:r>
              <a:t>• • Deploy core stack: Claude + MCP + 3 connectors</a:t>
            </a:r>
            <a:br/>
            <a:r>
              <a:t>• • Onboard 3-5 pilots at $1.5K/mo for case study development</a:t>
            </a:r>
            <a:br/>
            <a:r>
              <a:t>• • Target: 3 paying pilots, NPS &gt;40, &lt;5% error rate</a:t>
            </a:r>
            <a:br/>
            <a:r>
              <a:t>• Month 3-4 — Expansion &amp; Hardening:</a:t>
            </a:r>
            <a:br/>
            <a:r>
              <a:t>• • Expand to 8-10 use cases, add 4-6 MCP connectors</a:t>
            </a:r>
            <a:br/>
            <a:r>
              <a:t>• • Scale to 10-15 clients at $3-5K/mo standard pricing</a:t>
            </a:r>
            <a:br/>
            <a:r>
              <a:t>• • Target: $50K MRR, 90% retention, SOC 2 readiness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Phase 3-4: Cross-Vertical &amp; Enterprise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Month 5-6 — Cross-Vertical &amp; Self-Service:</a:t>
            </a:r>
            <a:br/>
            <a:r>
              <a:t>• • Launch second vertical (Healthcare or Legal — higher ACV)</a:t>
            </a:r>
            <a:br/>
            <a:r>
              <a:t>• • Self-service onboarding portal for connector setup</a:t>
            </a:r>
            <a:br/>
            <a:r>
              <a:t>• • Scale to 20-30 clients across 2 verticals</a:t>
            </a:r>
            <a:br/>
            <a:r>
              <a:t>• • Target: $120K MRR, self-service activation &lt;48 hrs</a:t>
            </a:r>
            <a:br/>
            <a:r>
              <a:t>• Month 7-12 — Enterprise &amp; Scale:</a:t>
            </a:r>
            <a:br/>
            <a:r>
              <a:t>• • Enterprise tier: dedicated agents, custom connectors, SLA</a:t>
            </a:r>
            <a:br/>
            <a:r>
              <a:t>• • Add remaining verticals from template library</a:t>
            </a:r>
            <a:br/>
            <a:r>
              <a:t>• • Scale to 50+ clients; target $400K+ MRR</a:t>
            </a:r>
            <a:br/>
            <a:r>
              <a:t>• • Target: SOC 2 certified, 4 verticals, 50+ clients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7619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8 wk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Time to First 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7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$50K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7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MRR at Month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$120K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MRR at Month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1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$400K+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1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MRR at Month 12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31 /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Engagement Model — Three Tiers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8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Starter &amp; Growth Tiers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STARTER — $2K/mo:</a:t>
            </a:r>
            <a:br/>
            <a:r>
              <a:t>• • 1 vertical focus, up to 3 use cases deployed</a:t>
            </a:r>
            <a:br/>
            <a:r>
              <a:t>• • Standard MCP connectors (pre-built)</a:t>
            </a:r>
            <a:br/>
            <a:r>
              <a:t>• • Email support (24-hour SLA), shared infrastructure</a:t>
            </a:r>
            <a:br/>
            <a:r>
              <a:t>• • Monthly performance reports, 99.5% uptime SLA</a:t>
            </a:r>
            <a:br/>
            <a:r>
              <a:t>• </a:t>
            </a:r>
            <a:br/>
            <a:r>
              <a:t>• GROWTH — $5K/mo (MOST POPULAR):</a:t>
            </a:r>
            <a:br/>
            <a:r>
              <a:t>• • 2 verticals, up to 10 use cases deployed</a:t>
            </a:r>
            <a:br/>
            <a:r>
              <a:t>• • Custom MCP connectors (2 included)</a:t>
            </a:r>
            <a:br/>
            <a:r>
              <a:t>• • Priority support (4-hour SLA), dedicated compute</a:t>
            </a:r>
            <a:br/>
            <a:r>
              <a:t>• • Custom dashboards, dedicated CSM, 99.9% uptime SLA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Enterprise Tier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ENTERPRISE — $10K+/mo:</a:t>
            </a:r>
            <a:br/>
            <a:r>
              <a:t>• • All verticals unlocked, unlimited use cases</a:t>
            </a:r>
            <a:br/>
            <a:r>
              <a:t>• • Custom agent development</a:t>
            </a:r>
            <a:br/>
            <a:r>
              <a:t>• • Dedicated support engineer (1-hour SLA)</a:t>
            </a:r>
            <a:br/>
            <a:r>
              <a:t>• • Isolated infrastructure (single-tenant option)</a:t>
            </a:r>
            <a:br/>
            <a:r>
              <a:t>• • Custom integrations + API access</a:t>
            </a:r>
            <a:br/>
            <a:r>
              <a:t>• • Executive business reviews (quarterly)</a:t>
            </a:r>
            <a:br/>
            <a:r>
              <a:t>• • 99.95% uptime SLA + penalty credits</a:t>
            </a:r>
            <a:br/>
            <a:r>
              <a:t>• </a:t>
            </a:r>
            <a:br/>
            <a:r>
              <a:t>• All tiers include: SOC 2 compliance, encryption at rest/transit,</a:t>
            </a:r>
            <a:br/>
            <a:r>
              <a:t>• role-based access control, and full audit logging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MCP Integration —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8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Server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Protocol: JSON-RPC 2.0 over stdio or HTTP/SSE transport</a:t>
            </a:r>
            <a:br/>
            <a:r>
              <a:t>• Tool registry: typed schemas with input validation and output formatting</a:t>
            </a:r>
            <a:br/>
            <a:r>
              <a:t>• Resource exposure: structured data access with URI-based addressing</a:t>
            </a:r>
            <a:br/>
            <a:r>
              <a:t>• Authentication: OAuth 2.0 / API key per connector, secrets in Vault</a:t>
            </a:r>
            <a:br/>
            <a:r>
              <a:t>• Rate limiting: per-client quotas with graceful degradation</a:t>
            </a:r>
            <a:br/>
            <a:r>
              <a:t>• Circuit breakers: automatic failover when downstream API degrades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Connector Catalog (20+ Pre-Built)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ERP: SAP MES, SAP PM, SAP S/4HANA (RFC + OData)</a:t>
            </a:r>
            <a:br/>
            <a:r>
              <a:t>• Healthcare: Epic FHIR R4, Cerner FHIR R4, Payer EDI 270/271</a:t>
            </a:r>
            <a:br/>
            <a:r>
              <a:t>• Legal: Westlaw Edge API, LexisNexis, iManage Work 10</a:t>
            </a:r>
            <a:br/>
            <a:r>
              <a:t>• CRM: Salesforce, HubSpot, Zoho (REST + Bulk API)</a:t>
            </a:r>
            <a:br/>
            <a:r>
              <a:t>• Financial: QuickBooks Online, Stripe, Plaid</a:t>
            </a:r>
            <a:br/>
            <a:r>
              <a:t>• Communication: Twilio SMS/Voice, SendGrid, Slack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7619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20+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Pre-Built Connectors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7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&lt;200ms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7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Cached Response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99.9%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Connector Uptime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1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OAuth 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1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Auth Standard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33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Agent Orchestration — Patterns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8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Sequential &amp; Parallel 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Sequential Pipeline: Linear chain of specialist agents</a:t>
            </a:r>
            <a:br/>
            <a:r>
              <a:t>• Example: Contract review: OCR → Clause Extraction → Risk Scoring → Summary</a:t>
            </a:r>
            <a:br/>
            <a:r>
              <a:t>• ✓ Simple, debuggable, deterministic ordering</a:t>
            </a:r>
            <a:br/>
            <a:r>
              <a:t>• ✗ Latency scales linearly, single point of failure</a:t>
            </a:r>
            <a:br/>
            <a:r>
              <a:t>• </a:t>
            </a:r>
            <a:br/>
            <a:r>
              <a:t>• Parallel Fan-Out: Orchestrator dispatches simultaneously, aggregates results</a:t>
            </a:r>
            <a:br/>
            <a:r>
              <a:t>• Example: Lead scoring: Profile + Behavioral + Financial → Composite Score</a:t>
            </a:r>
            <a:br/>
            <a:r>
              <a:t>• ✓ Low latency, independent scaling</a:t>
            </a:r>
            <a:br/>
            <a:r>
              <a:t>• ✗ Complex aggregation logic, partial failure handling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Hierarchical &amp; Human-in-the-Loop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Hierarchical Delegation: Manager decomposes, delegates to sub-agents</a:t>
            </a:r>
            <a:br/>
            <a:r>
              <a:t>• Example: SEO audit: Manager → Crawler + Content Analyzer + Competitor Tracker</a:t>
            </a:r>
            <a:br/>
            <a:r>
              <a:t>• ✓ Dynamic task decomposition, handles novel queries</a:t>
            </a:r>
            <a:br/>
            <a:r>
              <a:t>• ✗ Higher token cost, manager bottleneck</a:t>
            </a:r>
            <a:br/>
            <a:r>
              <a:t>• </a:t>
            </a:r>
            <a:br/>
            <a:r>
              <a:t>• Human-in-the-Loop: Agent processes to confidence threshold, then escalates</a:t>
            </a:r>
            <a:br/>
            <a:r>
              <a:t>• Example: Insurance: Auto-verify 85% → Flag uncertain → Human review queue</a:t>
            </a:r>
            <a:br/>
            <a:r>
              <a:t>• ✓ High accuracy for edge cases, builds training data</a:t>
            </a:r>
            <a:br/>
            <a:r>
              <a:t>• ✗ Requires staffed review queue, variable latency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34 /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Risk Mitigation &amp; — Failure Modes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8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High-Impact Risks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Model Hallucination (MED likelihood / HIGH impact):</a:t>
            </a:r>
            <a:br/>
            <a:r>
              <a:t>• • Output validation schemas, confidence &lt;0.7 triggers human review</a:t>
            </a:r>
            <a:br/>
            <a:r>
              <a:t>• • Citation verification for legal/medical outputs</a:t>
            </a:r>
            <a:br/>
            <a:r>
              <a:t>• </a:t>
            </a:r>
            <a:br/>
            <a:r>
              <a:t>• Data Breach / Leak (LOW / CRITICAL):</a:t>
            </a:r>
            <a:br/>
            <a:r>
              <a:t>• • AES-256 encryption, PII redaction, network segmentation</a:t>
            </a:r>
            <a:br/>
            <a:r>
              <a:t>• • GDPR 72-hr notification, forensic analysis protocol</a:t>
            </a:r>
            <a:br/>
            <a:r>
              <a:t>• </a:t>
            </a:r>
            <a:br/>
            <a:r>
              <a:t>• API Rate Limiting (HIGH / MEDIUM):</a:t>
            </a:r>
            <a:br/>
            <a:r>
              <a:t>• • Request queuing, exponential backoff, Redis caching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Operational &amp; Strategic 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Model Drift (MED / MED):</a:t>
            </a:r>
            <a:br/>
            <a:r>
              <a:t>• • KL divergence monitoring, auto-retrain at 5% drift</a:t>
            </a:r>
            <a:br/>
            <a:r>
              <a:t>• • A/B holdout validation before promotion</a:t>
            </a:r>
            <a:br/>
            <a:r>
              <a:t>• </a:t>
            </a:r>
            <a:br/>
            <a:r>
              <a:t>• Vendor Lock-in (LOW / HIGH):</a:t>
            </a:r>
            <a:br/>
            <a:r>
              <a:t>• • Multi-model: Claude primary, GPT-4o fallback</a:t>
            </a:r>
            <a:br/>
            <a:r>
              <a:t>• • Abstraction layer enables 48hr model swap</a:t>
            </a:r>
            <a:br/>
            <a:r>
              <a:t>• </a:t>
            </a:r>
            <a:br/>
            <a:r>
              <a:t>• Compliance Violation (LOW / CRITICAL):</a:t>
            </a:r>
            <a:br/>
            <a:r>
              <a:t>• • Policy-as-code via Open Policy Agent</a:t>
            </a:r>
            <a:br/>
            <a:r>
              <a:t>• • Continuous monitoring, quarterly audit cycle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35 /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76895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74368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Executive Summary —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80"/>
            <a:ext cx="1828800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24 production-ready use cases across 7 verticals with proven ROI models</a:t>
            </a:r>
            <a:br/>
            <a:r>
              <a:t>• MCP-native architecture enables 40% faster integration than point-solution competitors</a:t>
            </a:r>
            <a:br/>
            <a:r>
              <a:t>• YC competitive analysis: Manufacturing and Marketing are least contested entry points</a:t>
            </a:r>
            <a:br/>
            <a:r>
              <a:t>• Healthcare and Legal offer highest ACV ($3-5K/mo) but face well-funded competition</a:t>
            </a:r>
            <a:br/>
            <a:r>
              <a:t>• Break-even at 8 clients; path to $1M ARR at 21 clients within 12 months</a:t>
            </a:r>
            <a:br/>
            <a:r>
              <a:t>• SOC 2, HIPAA, GDPR compliance framework designed in from day one</a:t>
            </a:r>
            <a:br/>
            <a:r>
              <a:t>• Multi-model architecture eliminates vendor lock-in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77724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900" b="1">
                <a:solidFill>
                  <a:srgbClr val="0A1628"/>
                </a:solidFill>
                <a:latin typeface="Calibri"/>
              </a:defRPr>
            </a:pPr>
            <a:r>
              <a:t>Immediate 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978408"/>
            <a:ext cx="3520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50" b="0">
                <a:solidFill>
                  <a:srgbClr val="0A1628"/>
                </a:solidFill>
                <a:latin typeface="Calibri"/>
              </a:defRPr>
            </a:pPr>
            <a:r>
              <a:t>• Week 1: Vertical selection workshop — align on primary market</a:t>
            </a:r>
            <a:br/>
            <a:r>
              <a:t>• Week 2: Core stack deployment — Claude + MCP + 3 connectors in staging</a:t>
            </a:r>
            <a:br/>
            <a:r>
              <a:t>• Week 3-4: Pilot recruitment — identify 3-5 design partners</a:t>
            </a:r>
            <a:br/>
            <a:r>
              <a:t>• Week 5-6: MVP delivery — 3 core use cases deployed to pilots</a:t>
            </a:r>
            <a:br/>
            <a:r>
              <a:t>• Week 7-8: Feedback loop — iterate on accuracy, UX, and integration</a:t>
            </a:r>
            <a:br/>
            <a:r>
              <a:t>• Month 3: First paying clients with case study documentation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120640"/>
            <a:ext cx="7619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Use Cases 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7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7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Verticals Covered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40+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YC Competitors Mapped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19" y="519379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1">
                <a:solidFill>
                  <a:srgbClr val="FFB800"/>
                </a:solidFill>
                <a:latin typeface="Calibri"/>
              </a:defRPr>
            </a:pPr>
            <a:r>
              <a:t>8-12 wk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19" y="55595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700" b="0">
                <a:solidFill>
                  <a:srgbClr val="FFFFFF"/>
                </a:solidFill>
                <a:latin typeface="Calibri"/>
              </a:defRPr>
            </a:pPr>
            <a:r>
              <a:t>Time to First Revenue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895" y="0"/>
            <a:ext cx="4114800" cy="6858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743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AI Engineering Business Use Cases |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  <a:defRPr sz="700" b="0">
                <a:solidFill>
                  <a:srgbClr val="888888"/>
                </a:solidFill>
                <a:latin typeface="Calibri"/>
              </a:defRPr>
            </a:pPr>
            <a:r>
              <a:t>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
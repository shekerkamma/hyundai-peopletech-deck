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AI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4400" b="1">
                <a:solidFill>
                  <a:srgbClr val="00C9A7"/>
                </a:solidFill>
                <a:latin typeface="Calibri"/>
              </a:defRPr>
            </a:pPr>
            <a:r>
              <a:t>Business Use Cases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137160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0">
                <a:solidFill>
                  <a:srgbClr val="E0F7F1"/>
                </a:solidFill>
                <a:latin typeface="Calibri"/>
              </a:defRPr>
            </a:pPr>
            <a:r>
              <a:t>Comprehensive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24 Production-Ready Use Cases Across 7 Verticals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88CCBB"/>
                </a:solidFill>
                <a:latin typeface="Calibri"/>
              </a:defRPr>
            </a:pPr>
            <a:r>
              <a:t>with YC Competitive Intelligence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754880"/>
            <a:ext cx="868680" cy="32004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7316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700" b="1">
                <a:solidFill>
                  <a:srgbClr val="FFFFFF"/>
                </a:solidFill>
                <a:latin typeface="Calibri"/>
              </a:defRPr>
            </a:pPr>
            <a:r>
              <a:t>Manufacturing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4754880"/>
            <a:ext cx="868680" cy="32004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477316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700" b="1">
                <a:solidFill>
                  <a:srgbClr val="FFFFFF"/>
                </a:solidFill>
                <a:latin typeface="Calibri"/>
              </a:defRPr>
            </a:pPr>
            <a:r>
              <a:t>Healthcare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4754880"/>
            <a:ext cx="868680" cy="32004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477316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700" b="1">
                <a:solidFill>
                  <a:srgbClr val="FFFFFF"/>
                </a:solidFill>
                <a:latin typeface="Calibri"/>
              </a:defRPr>
            </a:pPr>
            <a:r>
              <a:t>Legal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40" y="4754880"/>
            <a:ext cx="868680" cy="32004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477316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700" b="1">
                <a:solidFill>
                  <a:srgbClr val="FFFFFF"/>
                </a:solidFill>
                <a:latin typeface="Calibri"/>
              </a:defRPr>
            </a:pPr>
            <a:r>
              <a:t>Real Estate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4754880"/>
            <a:ext cx="868680" cy="32004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477316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700" b="1">
                <a:solidFill>
                  <a:srgbClr val="FFFFFF"/>
                </a:solidFill>
                <a:latin typeface="Calibri"/>
              </a:defRPr>
            </a:pPr>
            <a:r>
              <a:t>Marketing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4754880"/>
            <a:ext cx="868680" cy="32004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477316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700" b="1">
                <a:solidFill>
                  <a:srgbClr val="FFFFFF"/>
                </a:solidFill>
                <a:latin typeface="Calibri"/>
              </a:defRPr>
            </a:pPr>
            <a:r>
              <a:t>AI Platforms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4754880"/>
            <a:ext cx="868680" cy="32004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477316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700" b="1">
                <a:solidFill>
                  <a:srgbClr val="FFFFFF"/>
                </a:solidFill>
                <a:latin typeface="Calibri"/>
              </a:defRPr>
            </a:pPr>
            <a:r>
              <a:t>Software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1 / 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AI Strategy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Enterprise AI Adoption Maturity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Stage 1 Experimental: Chatbot pilots, single-task automation, manual prompt engineering</a:t>
            </a:r>
            <a:br/>
            <a:r>
              <a:t>• Stage 2 Departmental: Department-specific agents, RAG pipelines, basic MCP integration — MOST ORGS ARE HERE</a:t>
            </a:r>
            <a:br/>
            <a:r>
              <a:t>• Stage 3 Enterprise: Cross-functional agent orchestration, shared MCP infrastructure, model governance platform</a:t>
            </a:r>
            <a:br/>
            <a:r>
              <a:t>• Stage 4 Autonomous: Self-improving agent networks, autonomous decision loops, real-time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Key Performance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User adoption rate → Process cycle time reduction → Enterprise productivity gain → Autonomous decision accuracy</a:t>
            </a:r>
            <a:br/>
            <a:r>
              <a:t>• Org Structure evolves: Innovation lab → Dedicated AI team → Central AI CoE → AI-native operating model</a:t>
            </a:r>
            <a:br/>
            <a:r>
              <a:t>• Governance scales: Informal policies → Model registry → SOC 2/HIPAA frameworks → Continuous audit + kill switches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303520"/>
            <a:ext cx="7528255" cy="914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Most Orgs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19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19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Target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4 Stages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39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Maturity Levels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12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Typical Journey</a:t>
            </a:r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2 / 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Governance &amp; Security</a:t>
            </a:r>
            <a:br/>
            <a:r>
              <a:t>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Data Classification &amp;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Level 1 (Public): Marketing content, public APIs, anonymized analytics</a:t>
            </a:r>
            <a:br/>
            <a:r>
              <a:t>• Level 2 (Internal): Sensor data, operational metrics, internal comms</a:t>
            </a:r>
            <a:br/>
            <a:r>
              <a:t>• Level 3 (Confidential): Financial records, contracts, employee PII</a:t>
            </a:r>
            <a:br/>
            <a:r>
              <a:t>• Level 4 (Restricted): Patient records (PHI), SSN, PCI, biometric data</a:t>
            </a:r>
            <a:br/>
            <a:r>
              <a:t>• RBAC: Agent → Production Data read-only, scoped, audit-logged</a:t>
            </a:r>
            <a:br/>
            <a:r>
              <a:t>• API Keys: 90-day rotation, per-environment scoping, HashiCorp Vault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Compliance &amp; Model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SOC 2 Type II: Annual audit, continuous monitoring via Vanta</a:t>
            </a:r>
            <a:br/>
            <a:r>
              <a:t>• HIPAA BAA: Required for healthcare, PHI encryption AES-256</a:t>
            </a:r>
            <a:br/>
            <a:r>
              <a:t>• GDPR Article 25: Data protection by design, right to explanation</a:t>
            </a:r>
            <a:br/>
            <a:r>
              <a:t>• Prompt versioning: Git-tracked, semantic versioning, rollback</a:t>
            </a:r>
            <a:br/>
            <a:r>
              <a:t>• Bias monitoring: Demographic parity testing quarterly</a:t>
            </a:r>
            <a:br/>
            <a:r>
              <a:t>• Drift detection: KL divergence, auto-retrain at 5% drift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3 / 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  <a:br/>
            <a:r>
              <a:t>6-Layer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Presentation → Orchestration → Sub-Agents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PRESENTATION: React 18 + Next.js 14, Tailwind CSS, Recharts/D3.js, Vercel Edge, PWA, WebSocket</a:t>
            </a:r>
            <a:br/>
            <a:r>
              <a:t>• ORCHESTRATION: LangGraph / CrewAI, Claude 3.5 Sonnet (primary), GPT-4o (fallback), Temporal.io, Redis queues</a:t>
            </a:r>
            <a:br/>
            <a:r>
              <a:t>• SUB-AGENTS: Specialist agents per vertical, tool-use MCP clients, RAG retrieval, validation/guardrail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Models → MCP Layer →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MODELS: Claude 4.5 Opus (reasoning), GPT-4o (vision), Whisper v3 (audio), YOLO v8 (detection), XGBoost (tabular)</a:t>
            </a:r>
            <a:br/>
            <a:r>
              <a:t>• MCP LAYER: SAP MES connector, FHIR R4, DocuSign eSign, Stripe/QuickBooks, Google Analytics + Search Console</a:t>
            </a:r>
            <a:br/>
            <a:r>
              <a:t>• INFRA: AWS EKS + Lambda + S3, PostgreSQL 16 + pgvector, Pinecone, Terraform IaC, DataDog APM, HashiCorp Vault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303520"/>
            <a:ext cx="7528255" cy="914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6 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Production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19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19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MCP Connectors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Multi-Model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39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No Vendor Lock-in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99.9%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Uptime Target</a:t>
            </a:r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4 / 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UC01 | Visual Inspection</a:t>
            </a:r>
            <a:br/>
            <a:r>
              <a:t>Computer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15-20% false positive rate in manual visual inspection across production lines</a:t>
            </a:r>
            <a:br/>
            <a:r>
              <a:t>• Inspector fatigue: accuracy degrades after 2-3 hours of repetitive inspection</a:t>
            </a:r>
            <a:br/>
            <a:r>
              <a:t>• $2.3M average annual quality cost per plant from missed defects and rework</a:t>
            </a:r>
            <a:br/>
            <a:r>
              <a:t>• Inconsistent inspection criteria across shifts and personnel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CNN-based real-time defect detection with edge-deployed YOLOv8 models</a:t>
            </a:r>
            <a:br/>
            <a:r>
              <a:t>• Multi-camera fusion covering 360° component inspection at line speed</a:t>
            </a:r>
            <a:br/>
            <a:r>
              <a:t>• Automated MES feedback loop: defect triggers line-stop within 200ms</a:t>
            </a:r>
            <a:br/>
            <a:r>
              <a:t>• Continuous model retraining from operator-labeled corrections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99.2%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Detection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False Positive Reduction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$1.8M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Annual Savings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4-6 wk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Model validation per IEC 62443 industrial cybersecurity standard</a:t>
            </a:r>
            <a:br/>
            <a:r>
              <a:t>• Image data retention: 7 years for traceability, encrypted at rest</a:t>
            </a:r>
            <a:br/>
            <a:r>
              <a:t>• Edge device certificate rotation every 90 days, firmware signed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YC COMPETITIVE LANDSCAPE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Overview (W19, 40 emp) — general MFG AI</a:t>
            </a:r>
            <a:br/>
            <a:r>
              <a:t>• Ocular AI (W24, 6 emp) — defect detection</a:t>
            </a:r>
            <a:br/>
            <a:r>
              <a:t>• Bucket Robotics (S24, 5 emp) — automated inspection</a:t>
            </a:r>
            <a:br/>
            <a:r>
              <a:t>• F4 Industries (S25) — factory floor CV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EDGE / CAPTURE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Industrial cameras</a:t>
            </a:r>
            <a:br/>
            <a:r>
              <a:t>Edge GPU (Jetson)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YOLOv8</a:t>
            </a:r>
            <a:br/>
            <a:r>
              <a:t>CNN ensemble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SAP MES connector</a:t>
            </a:r>
            <a:br/>
            <a:r>
              <a:t>MQTT broker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Quality dashboard</a:t>
            </a:r>
            <a:br/>
            <a:r>
              <a:t>Real-time alerting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SAP MES  |  Camera Systems  |  Edge GPU  |  TF Serving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Quality Engineers | Line Supervisors | Plant Managers</a:t>
            </a:r>
          </a:p>
        </p:txBody>
      </p:sp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5 / 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UC02 | Model &amp; Variant</a:t>
            </a:r>
            <a:br/>
            <a:r>
              <a:t>Confirmation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3-5% assembly mismatch rate causing costly rework and warranty claims</a:t>
            </a:r>
            <a:br/>
            <a:r>
              <a:t>• $500K average warranty cost per variant error across production batches</a:t>
            </a:r>
            <a:br/>
            <a:r>
              <a:t>• Manual VIN validation bottleneck: 45-sec per unit slowing line throughput</a:t>
            </a:r>
            <a:br/>
            <a:r>
              <a:t>• BOM version sync lag between engineering and production floor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Automated VIN/barcode scanning with real-time BOM cross-validation</a:t>
            </a:r>
            <a:br/>
            <a:r>
              <a:t>• Variant mismatch alerting with instant operator HMI notification</a:t>
            </a:r>
            <a:br/>
            <a:r>
              <a:t>• Multi-source BOM reconciliation: engineering ECO, production BOM, supplier ASN</a:t>
            </a:r>
            <a:br/>
            <a:r>
              <a:t>• Historical mismatch pattern analysis for proactive fixture verification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99.8%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Variant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Mismatch Reduction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&lt;2 sec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Validation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2-3 wk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BOM version control: every scan logged with BOM revision hash</a:t>
            </a:r>
            <a:br/>
            <a:r>
              <a:t>• Recall-grade traceability: component-to-VIN linkage retained 15 years</a:t>
            </a:r>
            <a:br/>
            <a:r>
              <a:t>• Scanner calibration audit per ISO 15416 barcode quality standard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EDGE / CAPTURE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Barcode readers</a:t>
            </a:r>
            <a:br/>
            <a:r>
              <a:t>RFID scanners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BOM validation</a:t>
            </a:r>
            <a:br/>
            <a:r>
              <a:t>Pattern matching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SAP MES API</a:t>
            </a:r>
            <a:br/>
            <a:r>
              <a:t>ECO sync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Operator HMI alerts</a:t>
            </a:r>
            <a:br/>
            <a:r>
              <a:t>Shift reports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SAP MES  |  Barcode Scanners  |  BOM Database  |  ECO System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Assembly Operators | Quality Auditors | Production Engineers</a:t>
            </a:r>
          </a:p>
        </p:txBody>
      </p:sp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6 / 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UC03 | Seating &amp; Component</a:t>
            </a:r>
            <a:br/>
            <a:r>
              <a:t>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Torque compliance failures undetected until end-of-line QA, causing rework</a:t>
            </a:r>
            <a:br/>
            <a:r>
              <a:t>• Fitment issues cause line stops costing $15K/minute in lost throughput</a:t>
            </a:r>
            <a:br/>
            <a:r>
              <a:t>• Manual torque verification logs incomplete, creating audit gaps</a:t>
            </a:r>
            <a:br/>
            <a:r>
              <a:t>• Multi-variant seating configs increase error probability 3x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Vision-based fitment validation confirming correct component seating</a:t>
            </a:r>
            <a:br/>
            <a:r>
              <a:t>• Torque tool integration: digital values streamed and validated against spec</a:t>
            </a:r>
            <a:br/>
            <a:r>
              <a:t>• Real-time compliance dashboards aggregating torque, fitment, and sequence</a:t>
            </a:r>
            <a:br/>
            <a:r>
              <a:t>• Automated non-conformance reports generated within seconds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Integration Effort 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Undetected Failures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Compliance Monitor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&lt;1 sec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Validation 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Torque data retention per IATF 16949 automotive quality management</a:t>
            </a:r>
            <a:br/>
            <a:r>
              <a:t>• Vision model validated against known-good reference images quarterly</a:t>
            </a:r>
            <a:br/>
            <a:r>
              <a:t>• Calibration records linked to torque tool serial numbers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EDGE / CAPTURE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Vision cameras</a:t>
            </a:r>
            <a:br/>
            <a:r>
              <a:t>Torque sensors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Fitment ML models</a:t>
            </a:r>
            <a:br/>
            <a:r>
              <a:t>Spec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MES + torque APIs</a:t>
            </a:r>
            <a:br/>
            <a:r>
              <a:t>SCADA interface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Compliance dashboard</a:t>
            </a:r>
            <a:br/>
            <a:r>
              <a:t>NCR generator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Torque Tools  |  MES  |  Vision Cameras  |  SCADA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Assembly Technicians | Quality Engineers | Process Engineers</a:t>
            </a:r>
          </a:p>
        </p:txBody>
      </p:sp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7 / 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UC04 | SOP Compliance</a:t>
            </a:r>
            <a:br/>
            <a:r>
              <a:t>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12% SOP deviation rate undetected in manual observation audits</a:t>
            </a:r>
            <a:br/>
            <a:r>
              <a:t>• Safety incidents from skipped steps (avg 3.2 incidents/quarter)</a:t>
            </a:r>
            <a:br/>
            <a:r>
              <a:t>• Audit prep requires 80+ hours of manual video review per quarter</a:t>
            </a:r>
            <a:br/>
            <a:r>
              <a:t>• Inconsistent adherence across shifts with no real-time correction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Pose estimation + activity recognition for real-time SOP adherence</a:t>
            </a:r>
            <a:br/>
            <a:r>
              <a:t>• Step-sequence verification: alerts if operator skips critical steps</a:t>
            </a:r>
            <a:br/>
            <a:r>
              <a:t>• Automated audit evidence with timestamped video clips per procedure</a:t>
            </a:r>
            <a:br/>
            <a:r>
              <a:t>• Shift-level compliance scoring with trend analysis and coaching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Compliance 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Safety Deviation 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Hrs→Min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Audit Prep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Alert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Worker privacy: pose data anonymized, no facial recognition, GDPR compliant</a:t>
            </a:r>
            <a:br/>
            <a:r>
              <a:t>• Video retention limited to 30 days unless flagged for incident review</a:t>
            </a:r>
            <a:br/>
            <a:r>
              <a:t>• Works council / union notification required in EU jurisdictions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EDGE / CAPTURE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CCTV cameras</a:t>
            </a:r>
            <a:br/>
            <a:r>
              <a:t>Edge compute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Pose estimation</a:t>
            </a:r>
            <a:br/>
            <a:r>
              <a:t>Activity recognition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EHS platform API</a:t>
            </a:r>
            <a:br/>
            <a:r>
              <a:t>LMS webhook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Supervisor alerts</a:t>
            </a:r>
            <a:br/>
            <a:r>
              <a:t>Coaching reports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CCTV  |  EHS Platform  |  Training LMS  |  MES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Line Supervisors | EHS Managers | Training Coordinators</a:t>
            </a:r>
          </a:p>
        </p:txBody>
      </p:sp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8 / 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UC05 | Predictive Quality</a:t>
            </a:r>
            <a:br/>
            <a:r>
              <a:t>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2-4% scrap rate from undetected process drift across 50+ variables</a:t>
            </a:r>
            <a:br/>
            <a:r>
              <a:t>• Root cause analysis takes 48+ hours of manual cross-correlation</a:t>
            </a:r>
            <a:br/>
            <a:r>
              <a:t>• Feature engineering bottleneck: data scientists spend 70% on data prep</a:t>
            </a:r>
            <a:br/>
            <a:r>
              <a:t>• Siloed sensor data prevents cross-process correlation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Sensor fusion: unified time-series from temperature, pressure, vibration</a:t>
            </a:r>
            <a:br/>
            <a:r>
              <a:t>• ML feature stores with automated feature engineering and selection</a:t>
            </a:r>
            <a:br/>
            <a:r>
              <a:t>• Explainability dashboards showing SHAP values for each prediction</a:t>
            </a:r>
            <a:br/>
            <a:r>
              <a:t>• Preemptive process adjustment recommendations before defects materialize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Scrap Rate 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48hr→15m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Root Cause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Auto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ML Pipeline Gen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Cross-Variable Corr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Feature store lineage: every feature traceable to raw sensor source</a:t>
            </a:r>
            <a:br/>
            <a:r>
              <a:t>• Model explainability required per ISO 22989</a:t>
            </a:r>
            <a:br/>
            <a:r>
              <a:t>• Sensor calibration validation, flagging drift &gt; 2% from baseline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EDGE / CAPTURE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IoT sensor array</a:t>
            </a:r>
            <a:br/>
            <a:r>
              <a:t>Edge aggregation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Sensor fusion</a:t>
            </a:r>
            <a:br/>
            <a:r>
              <a:t>XGBoost + SHAP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InfluxDB + feature store</a:t>
            </a:r>
            <a:br/>
            <a:r>
              <a:t>Kafka streams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Explainability dashboard</a:t>
            </a:r>
            <a:br/>
            <a:r>
              <a:t>Alert engine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IoT Sensors  |  InfluxDB  |  Feature Store  |  Data Lake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Process Engineers | Data Scientists | Quality Managers</a:t>
            </a:r>
          </a:p>
        </p:txBody>
      </p:sp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9 / 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UC06 | Predictive</a:t>
            </a:r>
            <a:br/>
            <a:r>
              <a:t>Maintenance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Unplanned downtime costs $260K/hour avg across automotive manufacturing</a:t>
            </a:r>
            <a:br/>
            <a:r>
              <a:t>• Reactive maintenance 3-5x costlier than predictive approaches</a:t>
            </a:r>
            <a:br/>
            <a:r>
              <a:t>• Maintenance scheduling based on fixed intervals, not equipment health</a:t>
            </a:r>
            <a:br/>
            <a:r>
              <a:t>• Vibration/acoustic anomaly patterns missed by periodic manual inspections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Vibration, acoustic, and temperature anomaly detection via LSTM autoencoders</a:t>
            </a:r>
            <a:br/>
            <a:r>
              <a:t>• Equipment health scoring: 0-100 composite from multi-sensor fusion</a:t>
            </a:r>
            <a:br/>
            <a:r>
              <a:t>• Auto-generated SAP PM work orders when health score drops below threshold</a:t>
            </a:r>
            <a:br/>
            <a:r>
              <a:t>• Remaining useful life (RUL) prediction with confidence intervals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45%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Downtime 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Maintenance Cost 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0-100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Health 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Faster 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Sensor data Level 2 (Internal), encrypted in transit via TLS 1.3</a:t>
            </a:r>
            <a:br/>
            <a:r>
              <a:t>• Maintenance decision audit trail: work order linked to model prediction</a:t>
            </a:r>
            <a:br/>
            <a:r>
              <a:t>• False alarm rate monitored: target &lt;5%, retrained if exceeded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YC COMPETITIVE LANDSCAPE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Inviscid AI (W26, 2 emp) — physics-informed ML</a:t>
            </a:r>
            <a:br/>
            <a:r>
              <a:t>• Palifer (S19, acquired) — predictive analytics</a:t>
            </a:r>
            <a:br/>
            <a:r>
              <a:t>• InfluxData (W13, 210 emp) — time-series 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EDGE / CAPTURE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Vibration sensors</a:t>
            </a:r>
            <a:br/>
            <a:r>
              <a:t>Acoustic sensors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LSTM autoencoder</a:t>
            </a:r>
            <a:br/>
            <a:r>
              <a:t>RUL prediction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SAP PM + IoT gateway</a:t>
            </a:r>
            <a:br/>
            <a:r>
              <a:t>MQTT broker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Maintenance console</a:t>
            </a:r>
            <a:br/>
            <a:r>
              <a:t>Health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SAP PM  |  IoT Gateways  |  MQTT  |  Edge Compute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Maintenance Technicians | Reliability Engineers | Plant Managers</a:t>
            </a:r>
          </a:p>
        </p:txBody>
      </p:sp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10 / 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UC07 | Safety Monitoring</a:t>
            </a:r>
            <a:br/>
            <a:r>
              <a:t>&amp; PPE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PPE non-compliance observed in 8-12% of shift observations</a:t>
            </a:r>
            <a:br/>
            <a:r>
              <a:t>• Restricted zone violations undetected until post-incident review</a:t>
            </a:r>
            <a:br/>
            <a:r>
              <a:t>• Manual incident reports take 2+ hours, delaying corrective action</a:t>
            </a:r>
            <a:br/>
            <a:r>
              <a:t>• OSHA recordable rate stagnant despite increased training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Real-time PPE detection: hard hat, vest, goggles, gloves via edge CV</a:t>
            </a:r>
            <a:br/>
            <a:r>
              <a:t>• Geofenced zone intrusion alerts with &lt;3 second supervisor notification</a:t>
            </a:r>
            <a:br/>
            <a:r>
              <a:t>• AI-generated incident reports from video evidence with auto-classification</a:t>
            </a:r>
            <a:br/>
            <a:r>
              <a:t>• Safety trend analytics: heatmaps by zone, shift, and role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98%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PPE Compliance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Zone Violation Capture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Faster Documentation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2-3 wk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No facial recognition: PPE detection uses body-region segmentation only</a:t>
            </a:r>
            <a:br/>
            <a:r>
              <a:t>• Alert data retained 1 year per OSHA 1904 recordkeeping</a:t>
            </a:r>
            <a:br/>
            <a:r>
              <a:t>• Thermal camera data classified Level 2, not shared with HR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YC COMPETITIVE LANDSCAPE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Protex AI (S21, 5 emp) — workplace safety CV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EDGE / CAPTURE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CCTV + thermal cams</a:t>
            </a:r>
            <a:br/>
            <a:r>
              <a:t>Edge GPU nodes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Safety CV models</a:t>
            </a:r>
            <a:br/>
            <a:r>
              <a:t>Zone geofencing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EHS platform API</a:t>
            </a:r>
            <a:br/>
            <a:r>
              <a:t>SMS/push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Supervisor mobile app</a:t>
            </a:r>
            <a:br/>
            <a:r>
              <a:t>Safety heatmaps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CCTV  |  EHS Platform  |  Alerting Systems  |  Mobile MDM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EHS Managers | Shift Supervisors | Safety Officers</a:t>
            </a:r>
          </a:p>
        </p:txBody>
      </p:sp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11 / 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UC08 | Digital Traceability</a:t>
            </a:r>
            <a:br/>
            <a:r>
              <a:t>&amp; Recall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Recall investigation takes 2-4 weeks of manual component genealogy tracing</a:t>
            </a:r>
            <a:br/>
            <a:r>
              <a:t>• Component genealogy gaps across tier 1-3 suppliers create liability exposure</a:t>
            </a:r>
            <a:br/>
            <a:r>
              <a:t>• $35M average recall cost; scope overestimation adds 20-40%</a:t>
            </a:r>
            <a:br/>
            <a:r>
              <a:t>• Paper-based lot tracking prevents real-time genealogy 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Graph database (Neo4j) product genealogy: full component-to-vehicle lineage</a:t>
            </a:r>
            <a:br/>
            <a:r>
              <a:t>• RFID + barcode tracking at every station creating immutable production record</a:t>
            </a:r>
            <a:br/>
            <a:r>
              <a:t>• Automated recall scope analysis: pinpoint affected VINs in minutes</a:t>
            </a:r>
            <a:br/>
            <a:r>
              <a:t>• Supplier integration: ASN data linked to production genealogy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Faster Recall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Full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Production Genealogy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Auto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Recall Scope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Audit-Ready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Traceability data retained 15+ years per NHTSA TREAD Act</a:t>
            </a:r>
            <a:br/>
            <a:r>
              <a:t>• Immutable audit log: no genealogy deletion, append-only ledger</a:t>
            </a:r>
            <a:br/>
            <a:r>
              <a:t>• Supplier data governed by mutual NDA, classification Level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YC COMPETITIVE LANDSCAPE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Cognitio Labs (S23) — supply chain intelligence</a:t>
            </a:r>
            <a:br/>
            <a:r>
              <a:t>• Autumn Labs (S24, 3 emp) — manufacturing traceability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EDGE / CAPTURE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RFID readers</a:t>
            </a:r>
            <a:br/>
            <a:r>
              <a:t>Barcode scanners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Neo4j graph analytics</a:t>
            </a:r>
            <a:br/>
            <a:r>
              <a:t>Lineage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SAP + supplier APIs</a:t>
            </a:r>
            <a:br/>
            <a:r>
              <a:t>ASN ingestion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Traceability dashboard</a:t>
            </a:r>
            <a:br/>
            <a:r>
              <a:t>Recall analyzer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SAP  |  RFID  |  Neo4j  |  Supplier Portal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Quality Directors | Compliance Officers | Supply Chain Managers</a:t>
            </a:r>
          </a:p>
        </p:txBody>
      </p:sp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12 / 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UC09 | Patient Intake</a:t>
            </a:r>
            <a:br/>
            <a:r>
              <a:t>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15-minute avg intake time per patient creating bottlenecks</a:t>
            </a:r>
            <a:br/>
            <a:r>
              <a:t>• 23% form error rate from manual data entry causing billing issues</a:t>
            </a:r>
            <a:br/>
            <a:r>
              <a:t>• Clinical staff spend 60% of time on admin vs patient care</a:t>
            </a:r>
            <a:br/>
            <a:r>
              <a:t>• Multi-system data entry: same info keyed into EHR, billing, scheduling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AI-powered form validation with real-time error detection</a:t>
            </a:r>
            <a:br/>
            <a:r>
              <a:t>• Auto EHR population via FHIR R4 API: demographics, insurance, history</a:t>
            </a:r>
            <a:br/>
            <a:r>
              <a:t>• Intelligent scheduling via Calendly + provider availability matching</a:t>
            </a:r>
            <a:br/>
            <a:r>
              <a:t>• SMS/voice intake via Twilio for patients without portal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3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Intake (from 15)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Form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Admin Time 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$3-5K/mo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Savings per Practice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HIPAA BAA required; PHI encryption AES-256 at rest</a:t>
            </a:r>
            <a:br/>
            <a:r>
              <a:t>• Audit logging per HITECH Act: every PHI access timestamped</a:t>
            </a:r>
            <a:br/>
            <a:r>
              <a:t>• Patient consent management: opt-in/opt-out tracked per FHIR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YC COMPETITIVE LANDSCAPE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Understood Care (S24) — patient engagement</a:t>
            </a:r>
            <a:br/>
            <a:r>
              <a:t>• HealthKey (W25) — health records</a:t>
            </a:r>
            <a:br/>
            <a:r>
              <a:t>• Morf Health (S22) — care coordination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EDGE / CAPTURE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Web portal</a:t>
            </a:r>
            <a:br/>
            <a:r>
              <a:t>Mobile + SMS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Claude NLP</a:t>
            </a:r>
            <a:br/>
            <a:r>
              <a:t>Form validation 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FHIR + Twilio + Calendly</a:t>
            </a:r>
            <a:br/>
            <a:r>
              <a:t>EHR write-back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Patient dashboard</a:t>
            </a:r>
            <a:br/>
            <a:r>
              <a:t>Staff queue 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Epic/Cerner EHR  |  FHIR R4 API  |  Calendly  |  Twilio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Front Desk Staff | Clinical Coordinators | Practice Managers</a:t>
            </a:r>
          </a:p>
        </p:txBody>
      </p:sp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13 / 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UC10 | Insurance</a:t>
            </a:r>
            <a:br/>
            <a:r>
              <a:t>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30% claim denial rate from eligibility errors</a:t>
            </a:r>
            <a:br/>
            <a:r>
              <a:t>• 48-hour avg verification turnaround delays scheduling</a:t>
            </a:r>
            <a:br/>
            <a:r>
              <a:t>• $25 cost per manual verification call, 12 min per call</a:t>
            </a:r>
            <a:br/>
            <a:r>
              <a:t>• Prior auth requirements change frequently; staff miss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Pre-appointment AI eligibility verification against payer feeds</a:t>
            </a:r>
            <a:br/>
            <a:r>
              <a:t>• Automated prior auth submission with clinical documentation</a:t>
            </a:r>
            <a:br/>
            <a:r>
              <a:t>• Denial prediction model: flags high-risk claims before submission</a:t>
            </a:r>
            <a:br/>
            <a:r>
              <a:t>• Payer rule change monitoring: auto-updates workflows within 24hrs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First-Pass Approval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Verification (from 48hr)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$5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Cost per Verif (from $25)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Denial Rate 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EDI 270/271 compliance per HIPAA X12 standards</a:t>
            </a:r>
            <a:br/>
            <a:r>
              <a:t>• Claims data Level 3 (Confidential), encrypted end-to-end</a:t>
            </a:r>
            <a:br/>
            <a:r>
              <a:t>• Denial prediction audited for demographic bias quarterly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YC COMPETITIVE LANDSCAPE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Stream (S22) — claims processing</a:t>
            </a:r>
            <a:br/>
            <a:r>
              <a:t>• Avallon AI (Sp25) — insurance verification</a:t>
            </a:r>
            <a:br/>
            <a:r>
              <a:t>• Curacel (W22) — claims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EDGE / CAPTURE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Payer EDI feeds</a:t>
            </a:r>
            <a:br/>
            <a:r>
              <a:t>Fax OCR ingestion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Claims ML models</a:t>
            </a:r>
            <a:br/>
            <a:r>
              <a:t>Denial prediction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Payer API + EHR</a:t>
            </a:r>
            <a:br/>
            <a:r>
              <a:t>Clearinghouse EDI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Verification dashboard</a:t>
            </a:r>
            <a:br/>
            <a:r>
              <a:t>Denial analytics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Payer EDI/APIs  |  EHR  |  Billing System  |  Clearinghouse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Billing Staff | Prior Auth Specialists | Revenue Cycle Managers</a:t>
            </a:r>
          </a:p>
        </p:txBody>
      </p:sp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14 / 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UC11 | HIPAA Compliance</a:t>
            </a:r>
            <a:br/>
            <a:r>
              <a:t>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Manual audit prep consumes 120+ staff-hours per year</a:t>
            </a:r>
            <a:br/>
            <a:r>
              <a:t>• PHI access logging gaps: 15% of access events untracked</a:t>
            </a:r>
            <a:br/>
            <a:r>
              <a:t>• $1.5M avg HIPAA breach penalty; $6.3M for willful neglect</a:t>
            </a:r>
            <a:br/>
            <a:r>
              <a:t>• Risk assessments annual but threats evolve continuously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Automated audit trail aggregation from EHR, IAM, email, storage</a:t>
            </a:r>
            <a:br/>
            <a:r>
              <a:t>• Real-time PHI access monitoring with anomaly detection</a:t>
            </a:r>
            <a:br/>
            <a:r>
              <a:t>• Continuous compliance scoring with gap identification</a:t>
            </a:r>
            <a:br/>
            <a:r>
              <a:t>• Breach risk scoring: quantified risk per system, updated daily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Audit Prep Time 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PHI Access Logging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Compliance 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Daily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Breach Risk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HIPAA Security Rule: admin, physical, tech safeguards automated</a:t>
            </a:r>
            <a:br/>
            <a:r>
              <a:t>• HITECH Breach Notification: 60-day automated workflow</a:t>
            </a:r>
            <a:br/>
            <a:r>
              <a:t>• BA management: BAA tracking, annual review, termination workflow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EDGE / CAPTURE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Access log collectors</a:t>
            </a:r>
            <a:br/>
            <a:r>
              <a:t>SIEM feeds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Anomaly detection ML</a:t>
            </a:r>
            <a:br/>
            <a:r>
              <a:t>Compliance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IAM + EHR + email</a:t>
            </a:r>
            <a:br/>
            <a:r>
              <a:t>S3 audit 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Compliance dashboard</a:t>
            </a:r>
            <a:br/>
            <a:r>
              <a:t>Risk heat map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EHR  |  IAM (Okta/Azure AD)  |  S3 Storage  |  SIEM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Compliance Officers | HIPAA Privacy Officers | IT Security</a:t>
            </a:r>
          </a:p>
        </p:txBody>
      </p:sp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15 / 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UC12 | Contract Generation</a:t>
            </a:r>
            <a:br/>
            <a:r>
              <a:t>&amp;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4-6 hours per contract draft for routine agreements</a:t>
            </a:r>
            <a:br/>
            <a:r>
              <a:t>• Inconsistent clause usage creating enforceability risks</a:t>
            </a:r>
            <a:br/>
            <a:r>
              <a:t>• $350/hr attorney time on routine document assembly</a:t>
            </a:r>
            <a:br/>
            <a:r>
              <a:t>• 15% of contracts sent with outdated clause libraries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AI drafting from firm-specific templates + clause library</a:t>
            </a:r>
            <a:br/>
            <a:r>
              <a:t>• Automated review: risk scoring per clause, deviation flagged</a:t>
            </a:r>
            <a:br/>
            <a:r>
              <a:t>• Clause recommendation based on deal type and jurisdiction</a:t>
            </a:r>
            <a:br/>
            <a:r>
              <a:t>• DocuSign integration for seamless review-sign workflow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Draft Time (from 4-6h)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Clause Consistency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Attorney Time 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$3-5K/mo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Savings per Firm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Attorney-client privilege: generated drafts access-controlled</a:t>
            </a:r>
            <a:br/>
            <a:r>
              <a:t>• Clause library Git-backed, partner-approved changes only</a:t>
            </a:r>
            <a:br/>
            <a:r>
              <a:t>• Output always marked draft; human sign-off required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YC COMPETITIVE LANDSCAPE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Ironclad (S15, 700 emp) — contract lifecycle</a:t>
            </a:r>
            <a:br/>
            <a:r>
              <a:t>• Draftwise (S20, 50 emp) — contract drafting</a:t>
            </a:r>
            <a:br/>
            <a:r>
              <a:t>• General Legal (W26) — AI legal assistant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EDGE / CAPTURE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Document upload</a:t>
            </a:r>
            <a:br/>
            <a:r>
              <a:t>OCR ingestion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Claude + templates</a:t>
            </a:r>
            <a:br/>
            <a:r>
              <a:t>Risk scoring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DocuSign + DMS APIs</a:t>
            </a:r>
            <a:br/>
            <a:r>
              <a:t>Email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Attorney review portal</a:t>
            </a:r>
            <a:br/>
            <a:r>
              <a:t>Clause library UI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DocuSign  |  iManage  |  Gmail  |  Billing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Associates | Partners | Paralegals | Legal Ops</a:t>
            </a:r>
          </a:p>
        </p:txBody>
      </p:sp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16 / 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UC13 | Legal Research</a:t>
            </a:r>
            <a:br/>
            <a:r>
              <a:t>Summarization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8-12 hours per research task for junior associates</a:t>
            </a:r>
            <a:br/>
            <a:r>
              <a:t>• Manual search covers only 60-70% of relevant case law</a:t>
            </a:r>
            <a:br/>
            <a:r>
              <a:t>• 65% of billable hours on research vs analysis</a:t>
            </a:r>
            <a:br/>
            <a:r>
              <a:t>• Citation verification manual; hallucinated citations a known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AI precedent search across Westlaw, LexisNexis, brief archives</a:t>
            </a:r>
            <a:br/>
            <a:r>
              <a:t>• Structured summaries with jurisdiction-specific relevance scoring</a:t>
            </a:r>
            <a:br/>
            <a:r>
              <a:t>• Citation-linked outputs: every claim traced to source</a:t>
            </a:r>
            <a:br/>
            <a:r>
              <a:t>• Collaborative research workspace for shared briefs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2 hrs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Research (from 8-12)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Precedent 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Junior Workload 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Citation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Every citation validated against source database</a:t>
            </a:r>
            <a:br/>
            <a:r>
              <a:t>• Research memos marked AI-assisted per bar disclosure rules</a:t>
            </a:r>
            <a:br/>
            <a:r>
              <a:t>• No client data to external models; on-premise RAG for privileged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YC COMPETITIVE LANDSCAPE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Vector Legal (W26) — AI legal research</a:t>
            </a:r>
            <a:br/>
            <a:r>
              <a:t>• Docsum (S23) — document summarization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EDGE / CAPTURE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Legal DB connectors</a:t>
            </a:r>
            <a:br/>
            <a:r>
              <a:t>Brief bank indexer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RAG pipeline</a:t>
            </a:r>
            <a:br/>
            <a:r>
              <a:t>Claude reasoning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Westlaw + LexisNexis</a:t>
            </a:r>
            <a:br/>
            <a:r>
              <a:t>DMS 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Brief generator</a:t>
            </a:r>
            <a:br/>
            <a:r>
              <a:t>Citation viewer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Westlaw  |  LexisNexis  |  iManage DMS  |  Brief Bank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Junior Associates | Senior Associates | Research Librarians</a:t>
            </a:r>
          </a:p>
        </p:txBody>
      </p:sp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17 / 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UC14 | Legal Billing</a:t>
            </a:r>
            <a:br/>
            <a:r>
              <a:t>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15-20% revenue leakage from unbilled time entries</a:t>
            </a:r>
            <a:br/>
            <a:r>
              <a:t>• Manual timesheet reconciliation: 5+ hrs/week per coordinator</a:t>
            </a:r>
            <a:br/>
            <a:r>
              <a:t>• 30-day avg invoice cycle from capture to payment</a:t>
            </a:r>
            <a:br/>
            <a:r>
              <a:t>• 8% of invoices rejected for LEDES/UTBMS formatting errors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AI activity capture from calendar, email, document edits</a:t>
            </a:r>
            <a:br/>
            <a:r>
              <a:t>• Auto timesheet generation with matter-code assignment</a:t>
            </a:r>
            <a:br/>
            <a:r>
              <a:t>• LEDES-compliant invoice automation with client rate cards</a:t>
            </a:r>
            <a:br/>
            <a:r>
              <a:t>• Expense auto-categorization from receipts and travel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Billable Capture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Revenue Recovery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5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Invoice Cycle (from 30)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Auto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Expense Categorization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Billing data Level 3, SOX-adjacent controls for &gt;$10M firms</a:t>
            </a:r>
            <a:br/>
            <a:r>
              <a:t>• Time entry audit: AI suggestion vs attorney-approved entry</a:t>
            </a:r>
            <a:br/>
            <a:r>
              <a:t>• LEDES/UTBMS validation before submission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YC COMPETITIVE LANDSCAPE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JustPaid (W23, 20 emp) — invoice automation</a:t>
            </a:r>
            <a:br/>
            <a:r>
              <a:t>• Peakflo (W22, 45 emp) — accounts receivable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EDGE / CAPTURE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Email/calendar monitors</a:t>
            </a:r>
            <a:br/>
            <a:r>
              <a:t>Doc edit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Activity classification</a:t>
            </a:r>
            <a:br/>
            <a:r>
              <a:t>Narrative 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QB + Stripe APIs</a:t>
            </a:r>
            <a:br/>
            <a:r>
              <a:t>LEDES formatter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Billing dashboard</a:t>
            </a:r>
            <a:br/>
            <a:r>
              <a:t>Client portal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QuickBooks  |  Gmail  |  Calendar  |  Stripe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Associates | Billing Coordinators | Managing Partners</a:t>
            </a:r>
          </a:p>
        </p:txBody>
      </p:sp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18 / 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UC15 | Lease Document</a:t>
            </a:r>
            <a:br/>
            <a:r>
              <a:t>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2-3 hours per lease with manual clause selection</a:t>
            </a:r>
            <a:br/>
            <a:r>
              <a:t>• $45K avg litigation cost per lease dispute</a:t>
            </a:r>
            <a:br/>
            <a:r>
              <a:t>• Inconsistent terms across agents creating liability</a:t>
            </a:r>
            <a:br/>
            <a:r>
              <a:t>• Jurisdiction requirements missed in 6% of leases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AI lease generation pulling property/tenant data from CRM</a:t>
            </a:r>
            <a:br/>
            <a:r>
              <a:t>• Jurisdiction-aware clause library by state/county</a:t>
            </a:r>
            <a:br/>
            <a:r>
              <a:t>• E-signature via DocuSign with tenant identity verification</a:t>
            </a:r>
            <a:br/>
            <a:r>
              <a:t>• Lease comparison tool: highlights deviations from standard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15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Generation (from 2-3h)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98%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Clause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Jurisdiction Errors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$2-4K/mo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Savings per Brokerage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PII handling: tenant SSN/income encrypted AES-256, purged after signing</a:t>
            </a:r>
            <a:br/>
            <a:r>
              <a:t>• State-specific rules updated quarterly from legal database</a:t>
            </a:r>
            <a:br/>
            <a:r>
              <a:t>• Fair housing compliance: AI terms audited for discriminatory 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YC COMPETITIVE LANDSCAPE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Clau (S20, 90 emp) — real estate AI</a:t>
            </a:r>
            <a:br/>
            <a:r>
              <a:t>• Homeflow (W23) — property management</a:t>
            </a:r>
            <a:br/>
            <a:r>
              <a:t>• Goldbridge (F25) — RE technology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EDGE / CAPTURE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CRM data feed</a:t>
            </a:r>
            <a:br/>
            <a:r>
              <a:t>Property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Claude + lease templates</a:t>
            </a:r>
            <a:br/>
            <a:r>
              <a:t>Clause selector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DocuSign + CRM APIs</a:t>
            </a:r>
            <a:br/>
            <a:r>
              <a:t>County lookup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Agent portal</a:t>
            </a:r>
            <a:br/>
            <a:r>
              <a:t>Tenant self-service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CRM  |  DocuSign  |  Zillow API  |  County Records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Leasing Agents | Property Managers | Broker Compliance</a:t>
            </a:r>
          </a:p>
        </p:txBody>
      </p:sp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19 / 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UC16 | Lead Scoring &amp;</a:t>
            </a:r>
            <a:br/>
            <a:r>
              <a:t>Smart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40% of leads receive first response &gt;4 hours after inquiry</a:t>
            </a:r>
            <a:br/>
            <a:r>
              <a:t>• Unqualified leads consume 60% of agent follow-up time</a:t>
            </a:r>
            <a:br/>
            <a:r>
              <a:t>• Manual CRM entry: 45 min/day on data entry vs engagement</a:t>
            </a:r>
            <a:br/>
            <a:r>
              <a:t>• Lead source attribution broken: marketing ROI unmeasurable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AI lead scoring using interest signals and financial readiness</a:t>
            </a:r>
            <a:br/>
            <a:r>
              <a:t>• Smart routing to best-fit agent by expertise and geography</a:t>
            </a:r>
            <a:br/>
            <a:r>
              <a:t>• Auto CRM enrichment from Zillow views, ad clicks, emails</a:t>
            </a:r>
            <a:br/>
            <a:r>
              <a:t>• Campaign trigger automation for high-score leads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15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Response (from 4 hrs)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Conversion Lift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Unqualified 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Auto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CRM Enrichment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Fair housing: scoring audited for demographic bias quarterly</a:t>
            </a:r>
            <a:br/>
            <a:r>
              <a:t>• Lead data: 2yr active, 5yr archived per broker compliance</a:t>
            </a:r>
            <a:br/>
            <a:r>
              <a:t>• CAN-SPAM and TCPA compliance for automated outreach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YC COMPETITIVE LANDSCAPE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PropReturns (S21, 40 emp) — RE analytics</a:t>
            </a:r>
            <a:br/>
            <a:r>
              <a:t>• Smart Alto (W17) — lead qualification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EDGE / CAPTURE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Lead capture forms</a:t>
            </a:r>
            <a:br/>
            <a:r>
              <a:t>Zillow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XGBoost scoring</a:t>
            </a:r>
            <a:br/>
            <a:r>
              <a:t>Behavioral 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CRM + Meta + email</a:t>
            </a:r>
            <a:br/>
            <a:r>
              <a:t>Zapier triggers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Agent assignment UI</a:t>
            </a:r>
            <a:br/>
            <a:r>
              <a:t>Lead pipeline 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CRM  |  Zillow  |  Meta Ads  |  Email/SMS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Listing Agents | Buyer Agents | Team Leads | Marketing</a:t>
            </a:r>
          </a:p>
        </p:txBody>
      </p:sp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20 / 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UC17 | Commission Analytics</a:t>
            </a:r>
            <a:br/>
            <a:r>
              <a:t>&amp;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Month-end calculations take 3+ days of manual spreadsheet work</a:t>
            </a:r>
            <a:br/>
            <a:r>
              <a:t>• 12% of agents dispute commissions monthly</a:t>
            </a:r>
            <a:br/>
            <a:r>
              <a:t>• No real-time visibility into earned vs pending vs paid</a:t>
            </a:r>
            <a:br/>
            <a:r>
              <a:t>• Split commission scenarios miscalculated 8% of the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Auto commission engine with configurable splits, tiers, bonuses</a:t>
            </a:r>
            <a:br/>
            <a:r>
              <a:t>• Deal attribution: listing agreements linked to closing and payment</a:t>
            </a:r>
            <a:br/>
            <a:r>
              <a:t>• Real-time financial dashboards for agents and management</a:t>
            </a:r>
            <a:br/>
            <a:r>
              <a:t>• Agent performance ranking with trend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Same-day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Commission Reports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99.5%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Calculation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Dispute Reduction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Performance 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Financial data Level 3, SOX-adjacent controls for &gt;$10M revenue</a:t>
            </a:r>
            <a:br/>
            <a:r>
              <a:t>• Commission audit trail: every step logged with rule version</a:t>
            </a:r>
            <a:br/>
            <a:r>
              <a:t>• 1099 generation from commission data, IRS-compliant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EDGE / CAPTURE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Transaction feeds</a:t>
            </a:r>
            <a:br/>
            <a:r>
              <a:t>MLS closing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Commission rules</a:t>
            </a:r>
            <a:br/>
            <a:r>
              <a:t>Split calculator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QB + Stripe + CRM</a:t>
            </a:r>
            <a:br/>
            <a:r>
              <a:t>1099 generator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Financial dashboard</a:t>
            </a:r>
            <a:br/>
            <a:r>
              <a:t>Agent leaderboard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CRM  |  QuickBooks  |  Stripe  |  MLS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Agents | Brokerage Managers | Accounting | Team Leads</a:t>
            </a:r>
          </a:p>
        </p:txBody>
      </p:sp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21 / 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UC18 | SEO Audit &amp;</a:t>
            </a:r>
            <a:br/>
            <a:r>
              <a:t>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Manual SEO audits take 20+ hours per client site</a:t>
            </a:r>
            <a:br/>
            <a:r>
              <a:t>• Recommendations outdated by publish time: 2-week lag</a:t>
            </a:r>
            <a:br/>
            <a:r>
              <a:t>• No competitive position tracking: flying blind on SERPs</a:t>
            </a:r>
            <a:br/>
            <a:r>
              <a:t>• Technical SEO issues missed without engineering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Automated crawl with technical SEO scoring (Core Web Vitals)</a:t>
            </a:r>
            <a:br/>
            <a:r>
              <a:t>• AI content recommendations: keyword gaps, topical authority</a:t>
            </a:r>
            <a:br/>
            <a:r>
              <a:t>• Weekly competitive position monitoring with SERP tracking</a:t>
            </a:r>
            <a:br/>
            <a:r>
              <a:t>• Prioritized fix list with estimated traffic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2 hrs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Audit (from 20+)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Per-page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Weekly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Competitive Tracking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$2-4K/mo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Revenue per 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Crawl rate limiting: respects robots.txt, max 5 req/sec</a:t>
            </a:r>
            <a:br/>
            <a:r>
              <a:t>• Competitor data from public SERPs only, no gated scraping</a:t>
            </a:r>
            <a:br/>
            <a:r>
              <a:t>• Client data isolated: multi-tenant with per-client encryption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YC COMPETITIVE LANDSCAPE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Positional (S21, acquired) — SEO tooling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EDGE / CAPTURE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Web crawler</a:t>
            </a:r>
            <a:br/>
            <a:r>
              <a:t>Sitemap parser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NLP content analysis</a:t>
            </a:r>
            <a:br/>
            <a:r>
              <a:t>Keyword gap 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GA + Search Console</a:t>
            </a:r>
            <a:br/>
            <a:r>
              <a:t>SERP tracker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SEO dashboard</a:t>
            </a:r>
            <a:br/>
            <a:r>
              <a:t>Client report gen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Google Analytics  |  Search Console  |  WordPress  |  Screaming Frog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SEO Specialists | Content Strategists | Agency Managers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22 / 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UC19 | Campaign Performance</a:t>
            </a:r>
            <a:br/>
            <a:r>
              <a:t>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8+ hrs/week per account manager on manual reporting</a:t>
            </a:r>
            <a:br/>
            <a:r>
              <a:t>• Inconsistent metrics: each platform defines conversion differently</a:t>
            </a:r>
            <a:br/>
            <a:r>
              <a:t>• Client reporting delays: 3-5 days from period end</a:t>
            </a:r>
            <a:br/>
            <a:r>
              <a:t>• Anomaly detection manual: budget overspend caught 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Automated ingestion from Google Ads, Meta, LinkedIn, TikTok</a:t>
            </a:r>
            <a:br/>
            <a:r>
              <a:t>• Unified metric normalization: standardized attribution model</a:t>
            </a:r>
            <a:br/>
            <a:r>
              <a:t>• AI insight generation: auto-surfaces trends and anomalies</a:t>
            </a:r>
            <a:br/>
            <a:r>
              <a:t>• White-label client dashboards with auto report generation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Unified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Reporting Time 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Auto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Client Reports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Instant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Anomaly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Platform API usage within rate limits and ToS</a:t>
            </a:r>
            <a:br/>
            <a:r>
              <a:t>• Client ad spend data Level 2, segregated per client</a:t>
            </a:r>
            <a:br/>
            <a:r>
              <a:t>• GDPR: no PII in analytics; all data aggregated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EDGE / CAPTURE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Platform API connectors</a:t>
            </a:r>
            <a:br/>
            <a:r>
              <a:t>ETL pipelines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Analytics aggregation</a:t>
            </a:r>
            <a:br/>
            <a:r>
              <a:t>Anomaly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Multi-platform APIs</a:t>
            </a:r>
            <a:br/>
            <a:r>
              <a:t>Data warehouse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Client dashboard</a:t>
            </a:r>
            <a:br/>
            <a:r>
              <a:t>Report PDF generator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Google Analytics  |  Meta Ads API  |  LinkedIn Ads  |  Buffer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Account Managers | Media Buyers | Agency Directors</a:t>
            </a:r>
          </a:p>
        </p:txBody>
      </p:sp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23 / 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UC20 | Content Pipeline</a:t>
            </a:r>
            <a:br/>
            <a:r>
              <a:t>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5-day avg content cycle from brief to publish</a:t>
            </a:r>
            <a:br/>
            <a:r>
              <a:t>• Approval bottlenecks: content sits 2+ days in review queues</a:t>
            </a:r>
            <a:br/>
            <a:r>
              <a:t>• Inconsistent brand voice across blog, social, email, ad copy</a:t>
            </a:r>
            <a:br/>
            <a:r>
              <a:t>• Manual A/B testing: 3+ hrs per test limiting experimentation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AI content generation from structured briefs + brand voice model</a:t>
            </a:r>
            <a:br/>
            <a:r>
              <a:t>• Automated approval workflows with parallel reviewer routing</a:t>
            </a:r>
            <a:br/>
            <a:r>
              <a:t>• Multi-channel publishing: one brief → blog, social, email, ad</a:t>
            </a:r>
            <a:br/>
            <a:r>
              <a:t>• Auto A/B variant generation with performance-based selection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1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Cycle (from 5 days)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Faster Approvals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Consistent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Brand Voice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Auto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A/B Variants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Brand guidelines enforced via style model</a:t>
            </a:r>
            <a:br/>
            <a:r>
              <a:t>• Content audit trail: every generation and approval timestamped</a:t>
            </a:r>
            <a:br/>
            <a:r>
              <a:t>• FTC compliance: AI-generated content flagged for disclosure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EDGE / CAPTURE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Content brief input</a:t>
            </a:r>
            <a:br/>
            <a:r>
              <a:t>Asset library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Claude generation</a:t>
            </a:r>
            <a:br/>
            <a:r>
              <a:t>Brand voice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CMS + social APIs</a:t>
            </a:r>
            <a:br/>
            <a:r>
              <a:t>Email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Editorial dashboard</a:t>
            </a:r>
            <a:br/>
            <a:r>
              <a:t>Publishing scheduler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WordPress  |  Buffer  |  CMS  |  Slack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Content Managers | Copywriters | Brand Managers</a:t>
            </a:r>
          </a:p>
        </p:txBody>
      </p:sp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24 / 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UC21 | AI-Powered Code</a:t>
            </a:r>
            <a:br/>
            <a:r>
              <a:t>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30-40% of engineering hours on routine bug fixes</a:t>
            </a:r>
            <a:br/>
            <a:r>
              <a:t>• PR review bottleneck: avg 2-day cycle time from issue to merge</a:t>
            </a:r>
            <a:br/>
            <a:r>
              <a:t>• Legacy codebases accumulate 200+ open issues with no bandwidth</a:t>
            </a:r>
            <a:br/>
            <a:r>
              <a:t>• Junior onboarding takes 3-6 months before meaningful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OpenHands autonomous agents: analyze issues, write fixes, open PRs</a:t>
            </a:r>
            <a:br/>
            <a:r>
              <a:t>• Sandboxed execution: every agent in isolated Docker container</a:t>
            </a:r>
            <a:br/>
            <a:r>
              <a:t>• Event-sourced architecture: deterministic replay, full audit trail</a:t>
            </a:r>
            <a:br/>
            <a:r>
              <a:t>• Self-improving: 37% of agent's own commits written by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77.6%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SWE-Bench Resolve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~$3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Cost per PR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37%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Self-Written Commits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2-4 wk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All AI code marked AI-assisted; human approval before merge</a:t>
            </a:r>
            <a:br/>
            <a:r>
              <a:t>• Sandboxed execution prevents host access; secrets masked</a:t>
            </a:r>
            <a:br/>
            <a:r>
              <a:t>• SecurityAnalyzer rates tool calls LOW/MEDIUM/HIGH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YC COMPETITIVE LANDSCAPE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OpenHands (74.6k★) — open-source autonomous dev</a:t>
            </a:r>
            <a:br/>
            <a:r>
              <a:t>• Devin/Cognition ($175M) — commercial AI developer</a:t>
            </a:r>
            <a:br/>
            <a:r>
              <a:t>• Factory AI (S24) — autonomous code agents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AGENT / SDK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OpenHands SDK</a:t>
            </a:r>
            <a:br/>
            <a:r>
              <a:t>CodeAct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Claude 4.5 Opus</a:t>
            </a:r>
            <a:br/>
            <a:r>
              <a:t>GPT-5.2 Codex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GitHub Actions</a:t>
            </a:r>
            <a:br/>
            <a:r>
              <a:t>MCP connectors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PR review portal</a:t>
            </a:r>
            <a:br/>
            <a:r>
              <a:t>Agent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GitHub  |  GitLab  |  Docker  |  CI/CD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Engineering Leads | DevOps Managers | VP Engineering</a:t>
            </a:r>
          </a:p>
        </p:txBody>
      </p:sp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25 / 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UC22 | Automated Test</a:t>
            </a:r>
            <a:br/>
            <a:r>
              <a:t>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Legacy codebases average 35% test coverage</a:t>
            </a:r>
            <a:br/>
            <a:r>
              <a:t>• 15% of deployments cause incidents in first 24 hours</a:t>
            </a:r>
            <a:br/>
            <a:r>
              <a:t>• Test maintenance: 20% of suites break with each refactor</a:t>
            </a:r>
            <a:br/>
            <a:r>
              <a:t>• Security testing requires specialized expertise most 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AI agents generate comprehensive test suites (SWT-Bench validated)</a:t>
            </a:r>
            <a:br/>
            <a:r>
              <a:t>• Multi-agent fan-out: parallel generation across unit/integration/E2E</a:t>
            </a:r>
            <a:br/>
            <a:r>
              <a:t>• Automated test maintenance: detect broken tests, auto-fix after refactor</a:t>
            </a:r>
            <a:br/>
            <a:r>
              <a:t>• Security-focused: OWASP Top 10 coverage with pen-test scenarios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35→85%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Test Coverage 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Fewer Prod Regressions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10x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Test Gen Speed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1-2 wk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Generated tests reviewed by senior engineer before CI</a:t>
            </a:r>
            <a:br/>
            <a:r>
              <a:t>• No production PII in fixtures; synthetic data generation</a:t>
            </a:r>
            <a:br/>
            <a:r>
              <a:t>• Coverage metrics: minimum 80% threshold enforced via CI gates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YC COMPETITIVE LANDSCAPE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QA Wolf (W19, 80 emp) — E2E testing as service</a:t>
            </a:r>
            <a:br/>
            <a:r>
              <a:t>• Carbonate (S23) — AI test generation</a:t>
            </a:r>
            <a:br/>
            <a:r>
              <a:t>• Momentic (S23) — autonomous E2E testing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AGENT / SDK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OpenHands agents</a:t>
            </a:r>
            <a:br/>
            <a:r>
              <a:t>SWT-Bench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Claude reasoning</a:t>
            </a:r>
            <a:br/>
            <a:r>
              <a:t>Code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CI/CD hooks</a:t>
            </a:r>
            <a:br/>
            <a:r>
              <a:t>Coverage APIs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Coverage dashboard</a:t>
            </a:r>
            <a:br/>
            <a:r>
              <a:t>Risk heatmap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GitHub  |  Jest/Pytest  |  CI/CD  |  SAST Tools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QA Engineers | Engineering Managers | Security Teams</a:t>
            </a:r>
          </a:p>
        </p:txBody>
      </p:sp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26 / 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UC23 | Code Modernization</a:t>
            </a:r>
            <a:br/>
            <a:r>
              <a:t>&amp; Tech Debt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40% of dev time navigating and working around legacy code</a:t>
            </a:r>
            <a:br/>
            <a:r>
              <a:t>• Framework migrations (Angular→React) take 6-18 months manually</a:t>
            </a:r>
            <a:br/>
            <a:r>
              <a:t>• Average enterprise has 200+ outdated packages deferred due to risk</a:t>
            </a:r>
            <a:br/>
            <a:r>
              <a:t>• Monolith decomposition requires deep knowledge often lost to attrition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AI multi-repo dependency upgrades at ~$3 per PR across hundreds of services</a:t>
            </a:r>
            <a:br/>
            <a:r>
              <a:t>• Autonomous framework migration: generates idiomatic code in target framework</a:t>
            </a:r>
            <a:br/>
            <a:r>
              <a:t>• Monolith decomposition: identifies service boundaries, extracts and tests</a:t>
            </a:r>
            <a:br/>
            <a:r>
              <a:t>• Greenfield scaffolding: commit0-validated development from specs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~$3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Cost per Migration PR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Tech Debt 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6→1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Migration Timeline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100+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Repos per Sprint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All migration PRs include automated regression test results</a:t>
            </a:r>
            <a:br/>
            <a:r>
              <a:t>• Security patches auto-merged; major versions require human approval</a:t>
            </a:r>
            <a:br/>
            <a:r>
              <a:t>• ADRs auto-generated for each decomposition 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YC COMPETITIVE LANDSCAPE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Grit.io (W22) — automated code migrations</a:t>
            </a:r>
            <a:br/>
            <a:r>
              <a:t>• Moderne (S21, 50 emp) — large-scale refactoring</a:t>
            </a:r>
            <a:br/>
            <a:r>
              <a:t>• Sourcegraph Cody (S14, 300+) — code intelligence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Dependency graph</a:t>
            </a:r>
            <a:br/>
            <a:r>
              <a:t>Dead code scan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Claude Opus</a:t>
            </a:r>
            <a:br/>
            <a:r>
              <a:t>Multi-agent 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Package registries</a:t>
            </a:r>
            <a:br/>
            <a:r>
              <a:t>CI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Migration tracker</a:t>
            </a:r>
            <a:br/>
            <a:r>
              <a:t>Risk scoring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GitHub  |  npm/pip/maven  |  Docker  |  Terraform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Platform Engineers | Tech Leads | CTOs</a:t>
            </a:r>
          </a:p>
        </p:txBody>
      </p:sp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27 / 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UC24 | DevOps &amp; Incident</a:t>
            </a:r>
            <a:br/>
            <a:r>
              <a:t>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MTTR averages 4+ hours for production incidents</a:t>
            </a:r>
            <a:br/>
            <a:r>
              <a:t>• On-call spends 60% of incident time on log correlation</a:t>
            </a:r>
            <a:br/>
            <a:r>
              <a:t>• CI/CD pipeline failures block 15-20% of deployments</a:t>
            </a:r>
            <a:br/>
            <a:r>
              <a:t>• Terraform state diverges from reality across 50+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AI agents analyze logs, pinpoint root causes, generate fix PRs</a:t>
            </a:r>
            <a:br/>
            <a:r>
              <a:t>• Automated CI/CD debugging: reads build logs, identifies failures, pushes fixes</a:t>
            </a:r>
            <a:br/>
            <a:r>
              <a:t>• IaC auto-remediation: drift detection → Terraform PR → validated apply</a:t>
            </a:r>
            <a:br/>
            <a:r>
              <a:t>• Runbook automation: executes playbooks with human escalation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4hr→15m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MTTR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Auto-Resolved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3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CI/CD Fix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926080"/>
            <a:ext cx="164592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B800"/>
                </a:solidFill>
                <a:latin typeface="Calibri"/>
              </a:defRPr>
            </a:pPr>
            <a:r>
              <a:t>24/7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Always-On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Production access read-only for agents; writes require approval</a:t>
            </a:r>
            <a:br/>
            <a:r>
              <a:t>• Every agent action logged with timestamp and rationale</a:t>
            </a:r>
            <a:br/>
            <a:r>
              <a:t>• Blast radius controls: auto-remediation limited to non-critical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A1628"/>
                </a:solidFill>
                <a:latin typeface="Calibri"/>
              </a:defRPr>
            </a:pPr>
            <a:r>
              <a:t>YC COMPETITIVE LANDSCAPE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062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0A1628"/>
                </a:solidFill>
                <a:latin typeface="Calibri"/>
              </a:defRPr>
            </a:pPr>
            <a:r>
              <a:t>• Rootly (S21, 45 emp) — incident management</a:t>
            </a:r>
            <a:br/>
            <a:r>
              <a:t>• incident.io (S21, 120 emp) — incident response</a:t>
            </a:r>
            <a:br/>
            <a:r>
              <a:t>• Firehydrant (W20, 90 emp) — incident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29200"/>
            <a:ext cx="752825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C9A7"/>
                </a:solidFill>
                <a:latin typeface="Calibri"/>
              </a:defRPr>
            </a:pPr>
            <a:r>
              <a:t>SOLUTION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OBSERVE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DataDog logs</a:t>
            </a:r>
            <a:br/>
            <a:r>
              <a:t>PagerDuty alerts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1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COMPUTE /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1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Log analysis LLM</a:t>
            </a:r>
            <a:br/>
            <a:r>
              <a:t>Root cause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3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3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Terraform API</a:t>
            </a:r>
            <a:br/>
            <a:r>
              <a:t>K8s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5303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UX /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Incident dashboard</a:t>
            </a:r>
            <a:br/>
            <a:r>
              <a:t>Runbook executor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3657600" cy="36576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SYSTEMS: PagerDuty  |  DataDog  |  Terraform  |  GitHub Actions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989320"/>
            <a:ext cx="3657600" cy="365760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USERS: SRE Teams | DevOps Engineers | Incident Commanders</a:t>
            </a:r>
          </a:p>
        </p:txBody>
      </p:sp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28 / 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YC Competitive</a:t>
            </a:r>
            <a:br/>
            <a:r>
              <a:t>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Threat Matrix by Vertical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Manufacturing (30 YC cos): MEDIUM threat — our MCP-native integration differentiates vs niche point solutions</a:t>
            </a:r>
            <a:br/>
            <a:r>
              <a:t>• Healthcare (20+ YC cos): HIGH threat — our FHIR-native + compliance-first architecture differentiates</a:t>
            </a:r>
            <a:br/>
            <a:r>
              <a:t>• Legal (14 YC cos): HIGH threat — full-practice automation vs single-workflow tools like Ironclad</a:t>
            </a:r>
            <a:br/>
            <a:r>
              <a:t>• Real Estate (24 YC cos): LOW threat — integrated lease+lead+commission vs fragmented solutions</a:t>
            </a:r>
            <a:br/>
            <a:r>
              <a:t>• Marketing (3 YC cos): LOW threat — underserved vertical; multi-channel unification opportunity</a:t>
            </a:r>
            <a:br/>
            <a:r>
              <a:t>• AI Platforms (30+ YC cos): HIGH threat — vertical-specific agents on general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Strategic Implications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Key insight: Manufacturing and Marketing offer least contested entry points</a:t>
            </a:r>
            <a:br/>
            <a:r>
              <a:t>• Healthcare and Legal offer highest ACV ($3-5K/mo) but well-funded competition</a:t>
            </a:r>
            <a:br/>
            <a:r>
              <a:t>• Our edge: end-to-end vertical coverage vs single-feature YC startups</a:t>
            </a:r>
            <a:br/>
            <a:r>
              <a:t>• MCP-native architecture provides 40% faster integration than competitors</a:t>
            </a:r>
            <a:br/>
            <a:r>
              <a:t>• Multi-model approach (Claude + GPT-4o) eliminates vendor lock-in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303520"/>
            <a:ext cx="7528255" cy="914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120+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YC Competitors Mapped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19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19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Verticals Analyzed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39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Avg Threat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Our Differentiator</a:t>
            </a:r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29 / 36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Revenue Model &amp;</a:t>
            </a:r>
            <a:br/>
            <a:r>
              <a:t>Unit Economics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Revenue per Vertical (Monthly)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Manufacturing: $5,000-$10,000/mo — complex integration, high-value outcomes</a:t>
            </a:r>
            <a:br/>
            <a:r>
              <a:t>• Healthcare: $3,000-$5,000/mo — HIPAA compliance overhead, multi-system</a:t>
            </a:r>
            <a:br/>
            <a:r>
              <a:t>• Legal: $3,000-$5,000/mo — high attorney labor displacement value</a:t>
            </a:r>
            <a:br/>
            <a:r>
              <a:t>• Real Estate: $2,000-$4,000/mo — high volume, lower complexity per transaction</a:t>
            </a:r>
            <a:br/>
            <a:r>
              <a:t>• Marketing: $2,000-$4,000/mo — multi-channel, agency white-label premium</a:t>
            </a:r>
            <a:br/>
            <a:r>
              <a:t>• Cost: API $200-500/client, Infra $40-50/client. Gross margin: 65-75% at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Scaling Economics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Solo (1-5 clients): 40% margin, $15-30K MRR, founder-led</a:t>
            </a:r>
            <a:br/>
            <a:r>
              <a:t>• Team (6-20 clients): 55% margin, $50-150K MRR, 3-5 person team</a:t>
            </a:r>
            <a:br/>
            <a:r>
              <a:t>• Agency (21-50 clients): 65% margin, $150-400K MRR, self-service onboarding</a:t>
            </a:r>
            <a:br/>
            <a:r>
              <a:t>• Enterprise (50+ clients): 72% margin, $400K+ MRR, platform economics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303520"/>
            <a:ext cx="7528255" cy="914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18 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Avg Client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19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3 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19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CAC Payback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$72K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39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Avg LTV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6:1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LTV/CAC Ratio</a:t>
            </a:r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30 / 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Implementation Roadmap</a:t>
            </a:r>
            <a:br/>
            <a:r>
              <a:t>12-Month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Phase 1-2: Foundation &amp;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Month 1-2 — Foundation &amp; Pilots:</a:t>
            </a:r>
            <a:br/>
            <a:r>
              <a:t>• • Select primary vertical (recommend: Manufacturing or Marketing)</a:t>
            </a:r>
            <a:br/>
            <a:r>
              <a:t>• • Deploy core stack: Claude + MCP + 3 connectors</a:t>
            </a:r>
            <a:br/>
            <a:r>
              <a:t>• • Onboard 3-5 pilots at $1.5K/mo for case study development</a:t>
            </a:r>
            <a:br/>
            <a:r>
              <a:t>• • Target: 3 paying pilots, NPS &gt;40, &lt;5% error rate</a:t>
            </a:r>
            <a:br/>
            <a:r>
              <a:t>• Month 3-4 — Expansion &amp; Hardening:</a:t>
            </a:r>
            <a:br/>
            <a:r>
              <a:t>• • Expand to 8-10 use cases, add 4-6 MCP connectors</a:t>
            </a:r>
            <a:br/>
            <a:r>
              <a:t>• • Scale to 10-15 clients at $3-5K/mo standard pricing</a:t>
            </a:r>
            <a:br/>
            <a:r>
              <a:t>• • Target: $50K MRR, 90% retention, SOC 2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Phase 3-4: Cross-Vertical &amp; Enterprise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Month 5-6 — Cross-Vertical &amp; Self-Service:</a:t>
            </a:r>
            <a:br/>
            <a:r>
              <a:t>• • Launch second vertical (Healthcare or Legal — higher ACV)</a:t>
            </a:r>
            <a:br/>
            <a:r>
              <a:t>• • Self-service onboarding portal for connector setup</a:t>
            </a:r>
            <a:br/>
            <a:r>
              <a:t>• • Scale to 20-30 clients across 2 verticals</a:t>
            </a:r>
            <a:br/>
            <a:r>
              <a:t>• • Target: $120K MRR, self-service activation &lt;48 hrs</a:t>
            </a:r>
            <a:br/>
            <a:r>
              <a:t>• Month 7-12 — Enterprise &amp; Scale:</a:t>
            </a:r>
            <a:br/>
            <a:r>
              <a:t>• • Enterprise tier: dedicated agents, custom connectors, SLA</a:t>
            </a:r>
            <a:br/>
            <a:r>
              <a:t>• • Add remaining verticals from template library</a:t>
            </a:r>
            <a:br/>
            <a:r>
              <a:t>• • Scale to 50+ clients; target $400K+ MRR</a:t>
            </a:r>
            <a:br/>
            <a:r>
              <a:t>• • Target: SOC 2 certified, 4 verticals, 50+ clients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303520"/>
            <a:ext cx="7528255" cy="914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8 wk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Time to First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19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$50K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19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MRR at Month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$120K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39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MRR at Month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$400K+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MRR at Month 12</a:t>
            </a:r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31 / 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Engagement Model</a:t>
            </a:r>
            <a:br/>
            <a:r>
              <a:t>Three Tiers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Starter &amp; Growth 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STARTER — $2K/mo:</a:t>
            </a:r>
            <a:br/>
            <a:r>
              <a:t>• • 1 vertical focus, up to 3 use cases deployed</a:t>
            </a:r>
            <a:br/>
            <a:r>
              <a:t>• • Standard MCP connectors (pre-built)</a:t>
            </a:r>
            <a:br/>
            <a:r>
              <a:t>• • Email support (24-hour SLA), shared infrastructure</a:t>
            </a:r>
            <a:br/>
            <a:r>
              <a:t>• • Monthly performance reports, 99.5% uptime SLA</a:t>
            </a:r>
            <a:br/>
            <a:r>
              <a:t>• </a:t>
            </a:r>
            <a:br/>
            <a:r>
              <a:t>• GROWTH — $5K/mo (MOST POPULAR):</a:t>
            </a:r>
            <a:br/>
            <a:r>
              <a:t>• • 2 verticals, up to 10 use cases deployed</a:t>
            </a:r>
            <a:br/>
            <a:r>
              <a:t>• • Custom MCP connectors (2 included)</a:t>
            </a:r>
            <a:br/>
            <a:r>
              <a:t>• • Priority support (4-hour SLA), dedicated compute</a:t>
            </a:r>
            <a:br/>
            <a:r>
              <a:t>• • Custom dashboards, dedicated CSM, 99.9% uptime SLA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Enterprise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ENTERPRISE — $10K+/mo:</a:t>
            </a:r>
            <a:br/>
            <a:r>
              <a:t>• • All verticals unlocked, unlimited use cases</a:t>
            </a:r>
            <a:br/>
            <a:r>
              <a:t>• • Custom agent development</a:t>
            </a:r>
            <a:br/>
            <a:r>
              <a:t>• • Dedicated support engineer (1-hour SLA)</a:t>
            </a:r>
            <a:br/>
            <a:r>
              <a:t>• • Isolated infrastructure (single-tenant option)</a:t>
            </a:r>
            <a:br/>
            <a:r>
              <a:t>• • Custom integrations + API access</a:t>
            </a:r>
            <a:br/>
            <a:r>
              <a:t>• • Executive business reviews (quarterly)</a:t>
            </a:r>
            <a:br/>
            <a:r>
              <a:t>• • 99.95% uptime SLA + penalty credits</a:t>
            </a:r>
            <a:br/>
            <a:r>
              <a:t>• </a:t>
            </a:r>
            <a:br/>
            <a:r>
              <a:t>• All tiers include: SOC 2 compliance, encryption at rest/transit,</a:t>
            </a:r>
            <a:br/>
            <a:r>
              <a:t>• role-based access control, and full audit logging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32 / 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MCP Integration</a:t>
            </a:r>
            <a:br/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Server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Protocol: JSON-RPC 2.0 over stdio or HTTP/SSE transport</a:t>
            </a:r>
            <a:br/>
            <a:r>
              <a:t>• Tool registry: typed schemas with input validation and output formatting</a:t>
            </a:r>
            <a:br/>
            <a:r>
              <a:t>• Resource exposure: structured data access with URI-based addressing</a:t>
            </a:r>
            <a:br/>
            <a:r>
              <a:t>• Authentication: OAuth 2.0 / API key per connector, secrets in Vault</a:t>
            </a:r>
            <a:br/>
            <a:r>
              <a:t>• Rate limiting: per-client quotas with graceful degradation</a:t>
            </a:r>
            <a:br/>
            <a:r>
              <a:t>• Circuit breakers: automatic failover when downstream API degrades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Connector Catalog (20+ Pre-Built)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ERP: SAP MES, SAP PM, SAP S/4HANA (RFC + OData)</a:t>
            </a:r>
            <a:br/>
            <a:r>
              <a:t>• Healthcare: Epic FHIR R4, Cerner FHIR R4, Payer EDI 270/271</a:t>
            </a:r>
            <a:br/>
            <a:r>
              <a:t>• Legal: Westlaw Edge API, LexisNexis, iManage Work 10</a:t>
            </a:r>
            <a:br/>
            <a:r>
              <a:t>• CRM: Salesforce, HubSpot, Zoho (REST + Bulk API)</a:t>
            </a:r>
            <a:br/>
            <a:r>
              <a:t>• Financial: QuickBooks Online, Stripe, Plaid</a:t>
            </a:r>
            <a:br/>
            <a:r>
              <a:t>• Communication: Twilio SMS/Voice, SendGrid, Slack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303520"/>
            <a:ext cx="7528255" cy="914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Pre-Built Connectors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19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&lt;200ms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19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Cached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99.9%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39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Connector Uptime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OAuth 2.0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Auth Standard</a:t>
            </a:r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33 / 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Agent Orchestration</a:t>
            </a:r>
            <a:br/>
            <a:r>
              <a:t>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Sequential &amp; Parallel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Sequential Pipeline: Linear chain of specialist agents</a:t>
            </a:r>
            <a:br/>
            <a:r>
              <a:t>• Example: Contract review: OCR → Clause Extraction → Risk Scoring → Summary</a:t>
            </a:r>
            <a:br/>
            <a:r>
              <a:t>• ✓ Simple, debuggable, deterministic ordering</a:t>
            </a:r>
            <a:br/>
            <a:r>
              <a:t>• ✗ Latency scales linearly, single point of failure</a:t>
            </a:r>
            <a:br/>
            <a:r>
              <a:t>• </a:t>
            </a:r>
            <a:br/>
            <a:r>
              <a:t>• Parallel Fan-Out: Orchestrator dispatches simultaneously, aggregates results</a:t>
            </a:r>
            <a:br/>
            <a:r>
              <a:t>• Example: Lead scoring: Profile + Behavioral + Financial → Composite Score</a:t>
            </a:r>
            <a:br/>
            <a:r>
              <a:t>• ✓ Low latency, independent scaling</a:t>
            </a:r>
            <a:br/>
            <a:r>
              <a:t>• ✗ Complex aggregation logic, partial failure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Hierarchical &amp; Human-in-the-Loop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Hierarchical Delegation: Manager decomposes, delegates to sub-agents</a:t>
            </a:r>
            <a:br/>
            <a:r>
              <a:t>• Example: SEO audit: Manager → Crawler + Content Analyzer + Competitor Tracker</a:t>
            </a:r>
            <a:br/>
            <a:r>
              <a:t>• ✓ Dynamic task decomposition, handles novel queries</a:t>
            </a:r>
            <a:br/>
            <a:r>
              <a:t>• ✗ Higher token cost, manager bottleneck</a:t>
            </a:r>
            <a:br/>
            <a:r>
              <a:t>• </a:t>
            </a:r>
            <a:br/>
            <a:r>
              <a:t>• Human-in-the-Loop: Agent processes to confidence threshold, then escalates</a:t>
            </a:r>
            <a:br/>
            <a:r>
              <a:t>• Example: Insurance: Auto-verify 85% → Flag uncertain → Human review queue</a:t>
            </a:r>
            <a:br/>
            <a:r>
              <a:t>• ✓ High accuracy for edge cases, builds training data</a:t>
            </a:r>
            <a:br/>
            <a:r>
              <a:t>• ✗ Requires staffed review queue, variable latency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34 / 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Risk Mitigation &amp;</a:t>
            </a:r>
            <a:br/>
            <a:r>
              <a:t>Failure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High-Impact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Model Hallucination (MED likelihood / HIGH impact):</a:t>
            </a:r>
            <a:br/>
            <a:r>
              <a:t>• • Output validation schemas, confidence &lt;0.7 triggers human review</a:t>
            </a:r>
            <a:br/>
            <a:r>
              <a:t>• • Citation verification for legal/medical outputs</a:t>
            </a:r>
            <a:br/>
            <a:r>
              <a:t>• </a:t>
            </a:r>
            <a:br/>
            <a:r>
              <a:t>• Data Breach / Leak (LOW / CRITICAL):</a:t>
            </a:r>
            <a:br/>
            <a:r>
              <a:t>• • AES-256 encryption, PII redaction, network segmentation</a:t>
            </a:r>
            <a:br/>
            <a:r>
              <a:t>• • GDPR 72-hr notification, forensic analysis protocol</a:t>
            </a:r>
            <a:br/>
            <a:r>
              <a:t>• </a:t>
            </a:r>
            <a:br/>
            <a:r>
              <a:t>• API Rate Limiting (HIGH / MEDIUM):</a:t>
            </a:r>
            <a:br/>
            <a:r>
              <a:t>• • Request queuing, exponential backoff, Redis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Operational &amp; Strategic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Model Drift (MED / MED):</a:t>
            </a:r>
            <a:br/>
            <a:r>
              <a:t>• • KL divergence monitoring, auto-retrain at 5% drift</a:t>
            </a:r>
            <a:br/>
            <a:r>
              <a:t>• • A/B holdout validation before promotion</a:t>
            </a:r>
            <a:br/>
            <a:r>
              <a:t>• </a:t>
            </a:r>
            <a:br/>
            <a:r>
              <a:t>• Vendor Lock-in (LOW / HIGH):</a:t>
            </a:r>
            <a:br/>
            <a:r>
              <a:t>• • Multi-model: Claude primary, GPT-4o fallback</a:t>
            </a:r>
            <a:br/>
            <a:r>
              <a:t>• • Abstraction layer enables 48hr model swap</a:t>
            </a:r>
            <a:br/>
            <a:r>
              <a:t>• </a:t>
            </a:r>
            <a:br/>
            <a:r>
              <a:t>• Compliance Violation (LOW / CRITICAL):</a:t>
            </a:r>
            <a:br/>
            <a:r>
              <a:t>• • Policy-as-code via Open Policy Agent</a:t>
            </a:r>
            <a:br/>
            <a:r>
              <a:t>• • Continuous monitoring, quarterly audit 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35 / 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453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  <a:br/>
            <a:r>
              <a:t>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24 production-ready use cases across 7 verticals with proven ROI models</a:t>
            </a:r>
            <a:br/>
            <a:r>
              <a:t>• MCP-native architecture enables 40% faster integration than point-solution competitors</a:t>
            </a:r>
            <a:br/>
            <a:r>
              <a:t>• YC competitive analysis: Manufacturing and Marketing are least contested entry points</a:t>
            </a:r>
            <a:br/>
            <a:r>
              <a:t>• Healthcare and Legal offer highest ACV ($3-5K/mo) but face well-funded competition</a:t>
            </a:r>
            <a:br/>
            <a:r>
              <a:t>• Break-even at 8 clients; path to $1M ARR at 21 clients within 12 months</a:t>
            </a:r>
            <a:br/>
            <a:r>
              <a:t>• SOC 2, HIPAA, GDPR compliance framework designed in from day one</a:t>
            </a:r>
            <a:br/>
            <a:r>
              <a:t>• Multi-model architecture eliminates vendor lock-in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Immediate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Week 1: Vertical selection workshop — align on primary market</a:t>
            </a:r>
            <a:br/>
            <a:r>
              <a:t>• Week 2: Core stack deployment — Claude + MCP + 3 connectors in staging</a:t>
            </a:r>
            <a:br/>
            <a:r>
              <a:t>• Week 3-4: Pilot recruitment — identify 3-5 design partners</a:t>
            </a:r>
            <a:br/>
            <a:r>
              <a:t>• Week 5-6: MVP delivery — 3 core use cases deployed to pilots</a:t>
            </a:r>
            <a:br/>
            <a:r>
              <a:t>• Week 7-8: Feedback loop — iterate on accuracy, UX, and integration</a:t>
            </a:r>
            <a:br/>
            <a:r>
              <a:t>• Month 3: First paying clients with case study documentation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303520"/>
            <a:ext cx="7528255" cy="914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Use Cases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19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19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Verticals Covered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40+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39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YC Competitors Mapped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5394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B800"/>
                </a:solidFill>
                <a:latin typeface="Calibri"/>
              </a:defRPr>
            </a:pPr>
            <a:r>
              <a:t>8-12 wk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5806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Time to First Revenue</a:t>
            </a:r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AI Engineering Business Use Cases |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00" b="0">
                <a:solidFill>
                  <a:srgbClr val="888888"/>
                </a:solidFill>
                <a:latin typeface="Calibri"/>
              </a:defRPr>
            </a:pPr>
            <a:r>
              <a:t>36 /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
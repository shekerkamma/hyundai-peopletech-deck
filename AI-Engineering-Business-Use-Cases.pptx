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301" r:id="rId52"/>
    <p:sldId id="269" r:id="rId15"/>
    <p:sldId id="300" r:id="rId51"/>
    <p:sldId id="270" r:id="rId16"/>
    <p:sldId id="299" r:id="rId50"/>
    <p:sldId id="271" r:id="rId17"/>
    <p:sldId id="298" r:id="rId49"/>
    <p:sldId id="272" r:id="rId18"/>
    <p:sldId id="297" r:id="rId48"/>
    <p:sldId id="273" r:id="rId19"/>
    <p:sldId id="296" r:id="rId47"/>
    <p:sldId id="274" r:id="rId20"/>
    <p:sldId id="307" r:id="rId58"/>
    <p:sldId id="275" r:id="rId21"/>
    <p:sldId id="306" r:id="rId57"/>
    <p:sldId id="276" r:id="rId22"/>
    <p:sldId id="305" r:id="rId56"/>
    <p:sldId id="277" r:id="rId23"/>
    <p:sldId id="304" r:id="rId55"/>
    <p:sldId id="278" r:id="rId24"/>
    <p:sldId id="303" r:id="rId54"/>
    <p:sldId id="279" r:id="rId25"/>
    <p:sldId id="302" r:id="rId53"/>
    <p:sldId id="288" r:id="rId39"/>
    <p:sldId id="295" r:id="rId46"/>
    <p:sldId id="289" r:id="rId40"/>
    <p:sldId id="294" r:id="rId45"/>
    <p:sldId id="290" r:id="rId41"/>
    <p:sldId id="293" r:id="rId44"/>
    <p:sldId id="291" r:id="rId42"/>
    <p:sldId id="292" r:id="rId43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5.xml"/><Relationship Id="rId16" Type="http://schemas.openxmlformats.org/officeDocument/2006/relationships/slide" Target="slides/slide17.xml"/><Relationship Id="rId17" Type="http://schemas.openxmlformats.org/officeDocument/2006/relationships/slide" Target="slides/slide19.xml"/><Relationship Id="rId18" Type="http://schemas.openxmlformats.org/officeDocument/2006/relationships/slide" Target="slides/slide21.xml"/><Relationship Id="rId19" Type="http://schemas.openxmlformats.org/officeDocument/2006/relationships/slide" Target="slides/slide23.xml"/><Relationship Id="rId20" Type="http://schemas.openxmlformats.org/officeDocument/2006/relationships/slide" Target="slides/slide25.xml"/><Relationship Id="rId21" Type="http://schemas.openxmlformats.org/officeDocument/2006/relationships/slide" Target="slides/slide27.xml"/><Relationship Id="rId22" Type="http://schemas.openxmlformats.org/officeDocument/2006/relationships/slide" Target="slides/slide29.xml"/><Relationship Id="rId23" Type="http://schemas.openxmlformats.org/officeDocument/2006/relationships/slide" Target="slides/slide31.xml"/><Relationship Id="rId24" Type="http://schemas.openxmlformats.org/officeDocument/2006/relationships/slide" Target="slides/slide33.xml"/><Relationship Id="rId25" Type="http://schemas.openxmlformats.org/officeDocument/2006/relationships/slide" Target="slides/slide35.xml"/><Relationship Id="rId26" Type="http://schemas.openxmlformats.org/officeDocument/2006/relationships/slide" Target="slides/slide45.xml"/><Relationship Id="rId27" Type="http://schemas.openxmlformats.org/officeDocument/2006/relationships/slide" Target="slides/slide46.xml"/><Relationship Id="rId28" Type="http://schemas.openxmlformats.org/officeDocument/2006/relationships/slide" Target="slides/slide47.xml"/><Relationship Id="rId29" Type="http://schemas.openxmlformats.org/officeDocument/2006/relationships/slide" Target="slides/slide48.xml"/><Relationship Id="rId30" Type="http://schemas.openxmlformats.org/officeDocument/2006/relationships/slide" Target="slides/slide49.xml"/><Relationship Id="rId31" Type="http://schemas.openxmlformats.org/officeDocument/2006/relationships/slide" Target="slides/slide50.xml"/><Relationship Id="rId32" Type="http://schemas.openxmlformats.org/officeDocument/2006/relationships/slide" Target="slides/slide51.xml"/><Relationship Id="rId33" Type="http://schemas.openxmlformats.org/officeDocument/2006/relationships/slide" Target="slides/slide5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openxmlformats.org/officeDocument/2006/relationships/slide" Target="slides/slide37.xml"/><Relationship Id="rId40" Type="http://schemas.openxmlformats.org/officeDocument/2006/relationships/slide" Target="slides/slide39.xml"/><Relationship Id="rId41" Type="http://schemas.openxmlformats.org/officeDocument/2006/relationships/slide" Target="slides/slide41.xml"/><Relationship Id="rId42" Type="http://schemas.openxmlformats.org/officeDocument/2006/relationships/slide" Target="slides/slide43.xml"/><Relationship Id="rId43" Type="http://schemas.openxmlformats.org/officeDocument/2006/relationships/slide" Target="slides/slide44.xml"/><Relationship Id="rId44" Type="http://schemas.openxmlformats.org/officeDocument/2006/relationships/slide" Target="slides/slide42.xml"/><Relationship Id="rId45" Type="http://schemas.openxmlformats.org/officeDocument/2006/relationships/slide" Target="slides/slide40.xml"/><Relationship Id="rId46" Type="http://schemas.openxmlformats.org/officeDocument/2006/relationships/slide" Target="slides/slide38.xml"/><Relationship Id="rId47" Type="http://schemas.openxmlformats.org/officeDocument/2006/relationships/slide" Target="slides/slide24.xml"/><Relationship Id="rId48" Type="http://schemas.openxmlformats.org/officeDocument/2006/relationships/slide" Target="slides/slide22.xml"/><Relationship Id="rId49" Type="http://schemas.openxmlformats.org/officeDocument/2006/relationships/slide" Target="slides/slide20.xml"/><Relationship Id="rId50" Type="http://schemas.openxmlformats.org/officeDocument/2006/relationships/slide" Target="slides/slide18.xml"/><Relationship Id="rId51" Type="http://schemas.openxmlformats.org/officeDocument/2006/relationships/slide" Target="slides/slide16.xml"/><Relationship Id="rId52" Type="http://schemas.openxmlformats.org/officeDocument/2006/relationships/slide" Target="slides/slide14.xml"/><Relationship Id="rId53" Type="http://schemas.openxmlformats.org/officeDocument/2006/relationships/slide" Target="slides/slide36.xml"/><Relationship Id="rId54" Type="http://schemas.openxmlformats.org/officeDocument/2006/relationships/slide" Target="slides/slide34.xml"/><Relationship Id="rId55" Type="http://schemas.openxmlformats.org/officeDocument/2006/relationships/slide" Target="slides/slide32.xml"/><Relationship Id="rId56" Type="http://schemas.openxmlformats.org/officeDocument/2006/relationships/slide" Target="slides/slide30.xml"/><Relationship Id="rId57" Type="http://schemas.openxmlformats.org/officeDocument/2006/relationships/slide" Target="slides/slide28.xml"/><Relationship Id="rId58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8195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6858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</a:t>
            </a:r>
            <a:endParaRPr lang="en-US" sz="4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Use Cases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548640" y="2788920"/>
            <a:ext cx="1097280" cy="54864"/>
          </a:xfrm>
          <a:prstGeom prst="rect">
            <a:avLst/>
          </a:prstGeom>
          <a:solidFill>
            <a:srgbClr val="E318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292608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Framework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342900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Production-Ready Use Cases Across 7 Verticals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YC Competitive Intelligence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86800" y="914400"/>
            <a:ext cx="2743200" cy="365760"/>
          </a:xfrm>
          <a:prstGeom prst="roundRect">
            <a:avLst>
              <a:gd name="adj" fmla="val 50000"/>
            </a:avLst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686800" y="9144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686800" y="1417320"/>
            <a:ext cx="2743200" cy="365760"/>
          </a:xfrm>
          <a:prstGeom prst="roundRect">
            <a:avLst>
              <a:gd name="adj" fmla="val 50000"/>
            </a:avLst>
          </a:prstGeom>
          <a:solidFill>
            <a:srgbClr val="1665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0" y="14173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686800" y="1920240"/>
            <a:ext cx="2743200" cy="365760"/>
          </a:xfrm>
          <a:prstGeom prst="roundRect">
            <a:avLst>
              <a:gd name="adj" fmla="val 50000"/>
            </a:avLst>
          </a:prstGeom>
          <a:solidFill>
            <a:srgbClr val="92400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0" y="19202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86800" y="2423160"/>
            <a:ext cx="2743200" cy="365760"/>
          </a:xfrm>
          <a:prstGeom prst="roundRect">
            <a:avLst>
              <a:gd name="adj" fmla="val 50000"/>
            </a:avLst>
          </a:prstGeom>
          <a:solidFill>
            <a:srgbClr val="9D17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0" y="24231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Estate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86800" y="2926080"/>
            <a:ext cx="2743200" cy="365760"/>
          </a:xfrm>
          <a:prstGeom prst="roundRect">
            <a:avLst>
              <a:gd name="adj" fmla="val 50000"/>
            </a:avLst>
          </a:prstGeom>
          <a:solidFill>
            <a:srgbClr val="E318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0" y="2926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686800" y="3429000"/>
            <a:ext cx="2743200" cy="365760"/>
          </a:xfrm>
          <a:prstGeom prst="roundRect">
            <a:avLst>
              <a:gd name="adj" fmla="val 50000"/>
            </a:avLst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0" y="34290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Platforms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50292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Business Use Cases | Strategic Framework | Confidential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52</a:t>
            </a:r>
            <a:endParaRPr lang="en-US" sz="900" dirty="0"/>
          </a:p>
        </p:txBody>
      </p:sp>
      <p:sp>
        <p:nvSpPr>
          <p:cNvPr id="22" name="Rectangle 21"/>
          <p:cNvSpPr/>
          <p:nvPr/>
        </p:nvSpPr>
        <p:spPr>
          <a:xfrm>
            <a:off x="8686800" y="3931920"/>
            <a:ext cx="2743200" cy="36576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Software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Overview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AI Adoption Maturity Model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26974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2697480" cy="320040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1: Experimental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Chatbot pilots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594360" y="1901952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Single-task automation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94360" y="2066544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Manual prompt engineering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548640" y="2304288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94360" y="2487168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User adoption rate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594360" y="2651760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Task completion time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94360" y="2816352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Cost per query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48640" y="3054096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Structure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94360" y="3236976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Innovation lab or single champion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48640" y="347472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94360" y="3657600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Informal usage policies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291840" y="1143000"/>
            <a:ext cx="26974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291840" y="1143000"/>
            <a:ext cx="2697480" cy="320040"/>
          </a:xfrm>
          <a:prstGeom prst="rect">
            <a:avLst/>
          </a:prstGeom>
          <a:solidFill>
            <a:srgbClr val="92400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91840" y="114300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2: Departmental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383280" y="155448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429000" y="1737360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Department-specific agents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429000" y="1901952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RAG pipelines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3429000" y="2066544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Basic MCP integration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383280" y="2304288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429000" y="2487168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Process cycle time reduction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3429000" y="2651760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Error rate improvement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3429000" y="2816352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ROI per department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3383280" y="3054096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Structure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429000" y="3236976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Dedicated AI team per BU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3383280" y="347472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3429000" y="3657600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Data classification policy, model registry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3474720" y="4754880"/>
            <a:ext cx="2331720" cy="228600"/>
          </a:xfrm>
          <a:prstGeom prst="rect">
            <a:avLst/>
          </a:prstGeom>
          <a:solidFill>
            <a:srgbClr val="E318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474720" y="4754880"/>
            <a:ext cx="2331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ORGS ARE HERE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126480" y="1143000"/>
            <a:ext cx="26974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126480" y="1143000"/>
            <a:ext cx="2697480" cy="320040"/>
          </a:xfrm>
          <a:prstGeom prst="rect">
            <a:avLst/>
          </a:prstGeom>
          <a:solidFill>
            <a:srgbClr val="1665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126480" y="114300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3: Enterprise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217920" y="155448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263640" y="1737360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Cross-functional agent orchestration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263640" y="1901952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Shared MCP infrastructure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6263640" y="2066544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Model governance platform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217920" y="2304288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263640" y="2487168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Enterprise-wide productivity gain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263640" y="2651760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Agent utilization rate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6263640" y="2816352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Compliance score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6217920" y="3054096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Structure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263640" y="3236976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Central AI CoE + embedded engineers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6217920" y="347472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6263640" y="3657600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SOC 2, HIPAA, GDPR frameworks, prompt versioning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8961120" y="1143000"/>
            <a:ext cx="26974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8961120" y="1143000"/>
            <a:ext cx="2697480" cy="320040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8961120" y="1143000"/>
            <a:ext cx="2697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4: Autonomous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052560" y="155448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9098280" y="1737360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Self-improving agent networks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9098280" y="1901952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Autonomous decision loops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9098280" y="2066544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Real-time optimization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9052560" y="2304288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9098280" y="2487168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Autonomous decision accuracy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9098280" y="2651760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Self-healing rate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9098280" y="2816352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Business outcome correlation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9052560" y="3054096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Structure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9098280" y="3236976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AI-native operating model</a:t>
            </a:r>
            <a:endParaRPr lang="en-US" sz="750" dirty="0"/>
          </a:p>
        </p:txBody>
      </p:sp>
      <p:sp>
        <p:nvSpPr>
          <p:cNvPr id="64" name="Text 62"/>
          <p:cNvSpPr/>
          <p:nvPr/>
        </p:nvSpPr>
        <p:spPr>
          <a:xfrm>
            <a:off x="9052560" y="347472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9098280" y="3657600"/>
            <a:ext cx="2423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Continuous audit, bias monitoring, kill switches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3200400" y="29718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0D5DD"/>
                </a:solidFill>
              </a:rPr>
              <a:t>▶</a:t>
            </a:r>
            <a:endParaRPr lang="en-US" sz="1400" dirty="0"/>
          </a:p>
        </p:txBody>
      </p:sp>
      <p:sp>
        <p:nvSpPr>
          <p:cNvPr id="67" name="Text 65"/>
          <p:cNvSpPr/>
          <p:nvPr/>
        </p:nvSpPr>
        <p:spPr>
          <a:xfrm>
            <a:off x="6035040" y="29718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0D5DD"/>
                </a:solidFill>
              </a:rPr>
              <a:t>▶</a:t>
            </a:r>
            <a:endParaRPr lang="en-US" sz="1400" dirty="0"/>
          </a:p>
        </p:txBody>
      </p:sp>
      <p:sp>
        <p:nvSpPr>
          <p:cNvPr id="68" name="Text 66"/>
          <p:cNvSpPr/>
          <p:nvPr/>
        </p:nvSpPr>
        <p:spPr>
          <a:xfrm>
            <a:off x="8869680" y="29718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0D5DD"/>
                </a:solidFill>
              </a:rPr>
              <a:t>▶</a:t>
            </a:r>
            <a:endParaRPr lang="en-US" sz="1400" dirty="0"/>
          </a:p>
        </p:txBody>
      </p:sp>
      <p:sp>
        <p:nvSpPr>
          <p:cNvPr id="69" name="Shape 67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Business Use Cases | Confidential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Security Framework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Enterprise-Grade AI Compliance Architecture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56692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5669280" cy="256032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CLASSIFICATION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344168"/>
            <a:ext cx="548640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 (Public): Marketing content, public APIs, anonymized analytics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 (Internal): Sensor data, operational metrics, internal comms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3 (Confidential): Financial records, contracts, employee PII, trade secrets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4 (Restricted): Patient records (PHI), SSN, payment card data (PCI), biometric data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263640" y="105156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263640" y="1051560"/>
            <a:ext cx="5486400" cy="256032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55080" y="1051560"/>
            <a:ext cx="5303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 (RBAC MATRIX)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355080" y="1344168"/>
            <a:ext cx="530352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→ Production Data: Read-only, scoped to assigned vertical, audit-logged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→ Model Registry: Execute-only, version-pinned, no self-update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→ Agent Config: Full CRUD, 2FA required, change-management approval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Keys: 90-day rotation, per-environment scoping, HashiCorp Vault storage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65760" y="2788920"/>
            <a:ext cx="37490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5760" y="2788920"/>
            <a:ext cx="3749040" cy="256032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278892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COMPLIANCE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081528"/>
            <a:ext cx="3566160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Type II: Annual audit, continuous monitoring via Vanta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BAA: Required for all healthcare deployments, PHI encryption AES-256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Article 25: Data protection by design, right to explanation for AI decisions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27001: Information security management system certification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FedRAMP: Required for government healthcare contracts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297680" y="2788920"/>
            <a:ext cx="37490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297680" y="2788920"/>
            <a:ext cx="3749040" cy="256032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389120" y="278892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GOVERNANCE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389120" y="3081528"/>
            <a:ext cx="3566160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versioning: Git-tracked, semantic versioning, rollback capability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validation: Schema enforcement, PII redaction, hallucination scoring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monitoring: Demographic parity testing, disparate impact analysis quarterly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detection: KL divergence monitoring, automated retraining triggers at 5% drift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cards: Mandatory for production models, updated per release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8229600" y="2788920"/>
            <a:ext cx="35661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229600" y="2788920"/>
            <a:ext cx="3566160" cy="256032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321040" y="2788920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INCIDENT RESPONSE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21040" y="3081528"/>
            <a:ext cx="3383280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Hallucination: Auto-flag confidence &lt;0.7, human review queue, client notification SLA 4hr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leak: Immediate model quarantine, breach notification per GDPR 72hr rule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degradation: Auto-rollback to last-known-good, SRE pager alert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input: WAF rules, input sanitization, rate limiting per client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Published in Confluence, tabletop exercises quarterly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65760" y="4709160"/>
            <a:ext cx="11430000" cy="320040"/>
          </a:xfrm>
          <a:prstGeom prst="rect">
            <a:avLst/>
          </a:prstGeom>
          <a:solidFill>
            <a:srgbClr val="F5F7FA"/>
          </a:solidFill>
          <a:ln w="19050">
            <a:solidFill>
              <a:srgbClr val="E318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8640" y="47091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frameworks are auditable, version-controlled, and enforced via CI/CD policy-as-code (Open Policy Agent)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Business Use Cases | Confidential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 Deep Dive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Architecture: 6-Layer Production Stack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1828800" cy="6583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0" y="1051560"/>
            <a:ext cx="9509760" cy="658368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468880" y="1051560"/>
            <a:ext cx="9144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Next.js 14 | Tailwind CSS | Recharts / D3.js | Vercel Edge Functions | Progressive Web App | WebSocket real-time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" y="1764792"/>
            <a:ext cx="1828800" cy="658368"/>
          </a:xfrm>
          <a:prstGeom prst="rect">
            <a:avLst/>
          </a:prstGeom>
          <a:solidFill>
            <a:srgbClr val="1665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65760" y="1764792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0" y="1764792"/>
            <a:ext cx="9509760" cy="658368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468880" y="1764792"/>
            <a:ext cx="9144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/ CrewAI / OpenHands agent orchestrator | Claude 3.5 Sonnet (primary) | GPT-4o (fallback) | Temporal.io workflow engine | Redis queues | Circuit breakers (Hystrix)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2478024"/>
            <a:ext cx="1828800" cy="658368"/>
          </a:xfrm>
          <a:prstGeom prst="rect">
            <a:avLst/>
          </a:prstGeom>
          <a:solidFill>
            <a:srgbClr val="92400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65760" y="2478024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286000" y="2478024"/>
            <a:ext cx="9509760" cy="658368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468880" y="2478024"/>
            <a:ext cx="9144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 agents per vertical | Tool-use agents (MCP clients) | RAG retrieval agents | Validation / guardrail agents | Human-in-the-loop escalation agents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3191256"/>
            <a:ext cx="1828800" cy="658368"/>
          </a:xfrm>
          <a:prstGeom prst="rect">
            <a:avLst/>
          </a:prstGeom>
          <a:solidFill>
            <a:srgbClr val="E318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65760" y="3191256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286000" y="3191256"/>
            <a:ext cx="9509760" cy="658368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468880" y="3191256"/>
            <a:ext cx="9144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4.5 Opus: reasoning + generation | GPT-4o: vision + multimodal | Whisper v3: audio transcription | YOLO v8: object detection | XGBoost: tabular prediction | Sentence-BERT: embeddings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65760" y="3904488"/>
            <a:ext cx="1828800" cy="658368"/>
          </a:xfrm>
          <a:prstGeom prst="rect">
            <a:avLst/>
          </a:prstGeom>
          <a:solidFill>
            <a:srgbClr val="9D17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65760" y="3904488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LAYER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286000" y="3904488"/>
            <a:ext cx="9509760" cy="658368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468880" y="3904488"/>
            <a:ext cx="9144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 servers | SAP MES connector | FHIR R4 health connector | DocuSign eSign API | Stripe / QuickBooks financial | Google Analytics + Search Console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65760" y="4617720"/>
            <a:ext cx="1828800" cy="6583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65760" y="461772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86000" y="4617720"/>
            <a:ext cx="9509760" cy="658368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468880" y="4617720"/>
            <a:ext cx="9144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(EKS + Lambda + S3) | PostgreSQL 16 + pgvector | Pinecone vector DB | Terraform IaC | DataDog APM + logs | HashiCorp Vault secrets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097280" y="1645920"/>
            <a:ext cx="27432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0D5DD"/>
                </a:solidFill>
              </a:rPr>
              <a:t>▲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97280" y="2359152"/>
            <a:ext cx="27432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0D5DD"/>
                </a:solidFill>
              </a:rPr>
              <a:t>▲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97280" y="3072384"/>
            <a:ext cx="27432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0D5DD"/>
                </a:solidFill>
              </a:rPr>
              <a:t>▲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97280" y="3785616"/>
            <a:ext cx="27432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0D5DD"/>
                </a:solidFill>
              </a:rPr>
              <a:t>▲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097280" y="4498848"/>
            <a:ext cx="27432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0D5DD"/>
                </a:solidFill>
              </a:rPr>
              <a:t>▲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Business Use Cases | Confidential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82880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UC01 | Visual Inspection | Computer Vision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713232"/>
            <a:ext cx="54864" cy="201168"/>
          </a:xfrm>
          <a:prstGeom prst="rect">
            <a:avLst/>
          </a:prstGeom>
          <a:solidFill>
            <a:srgbClr val="E318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694944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969264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15-20% false positive rate in manual visual inspection across production lines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Inspector fatigue: 40hrs/week repetitive inspection degrades accuracy after 2-3 hours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$2.3M average annual quality cost per plant from missed defects and rework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inspection criteria across shifts and personnel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664208"/>
            <a:ext cx="54864" cy="201168"/>
          </a:xfrm>
          <a:prstGeom prst="rect">
            <a:avLst/>
          </a:prstGeom>
          <a:solidFill>
            <a:srgbClr val="1665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645920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1920240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CNN-based real-time defect detection with edge-deployed YOLOv8 models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Multi-camera fusion covering 360-degree component inspection at line speed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MES feedback loop: defect detection triggers line-stop or reroute within 200ms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model retraining from operator-labeled false positive corrections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615184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2596896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SECURITY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2871216"/>
            <a:ext cx="5559552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validation per IEC 62443 industrial cybersecurity standard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data retention policy: 7 years for traceability, encrypted at rest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device certificate rotation every 90 days, firmware signed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7200" y="3410712"/>
            <a:ext cx="54864" cy="201168"/>
          </a:xfrm>
          <a:prstGeom prst="rect">
            <a:avLst/>
          </a:prstGeom>
          <a:solidFill>
            <a:srgbClr val="9D17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66928" y="3392424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YC COMPETITIVE LANDSCAPE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3666744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(W19, team 40) - general MFG AI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Ocular AI (W24, team 6) - defect detection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Bucket Robotics (S24, team 5) - automated inspection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 Industries (S25) - factory floor CV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40080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99.2%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4652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Accuracy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905256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05256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09828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 Reduction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40080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$1.8M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44652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Quality Cost Savings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905256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05256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4-6 wk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09828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Timeline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400800" y="2633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510528" y="2615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INTEGRATED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92240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492240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MES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23760" y="2907792"/>
            <a:ext cx="969264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223760" y="2907792"/>
            <a:ext cx="9692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Systems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8284464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284464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GPU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9015984" y="2907792"/>
            <a:ext cx="1207008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9015984" y="2907792"/>
            <a:ext cx="12070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 Serving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00800" y="3227832"/>
            <a:ext cx="54864" cy="201168"/>
          </a:xfrm>
          <a:prstGeom prst="rect">
            <a:avLst/>
          </a:prstGeom>
          <a:solidFill>
            <a:srgbClr val="92400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510528" y="320954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510528" y="3483864"/>
            <a:ext cx="5193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Engineers  |  Line Supervisors  |  Plant Managers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400800" y="3776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510528" y="3758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STACK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/ CAPTURE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640080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43737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cameras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GPU (Jetson)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/ AI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774954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778611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ensemble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909828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913485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MES connector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broker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/ DECISION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1044702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1048359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dashboard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alerting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Business Use Cases | Confidential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82880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UC02 | Model &amp; Variant Confirmation | Barcode / BOM Validation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713232"/>
            <a:ext cx="54864" cy="201168"/>
          </a:xfrm>
          <a:prstGeom prst="rect">
            <a:avLst/>
          </a:prstGeom>
          <a:solidFill>
            <a:srgbClr val="E318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694944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969264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3-5% assembly mismatch rate causing costly rework and warranty claims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 average warranty cost per variant error across production batches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VIN validation bottleneck: 45-sec per unit slowing line throughput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version sync lag between engineering and production floor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664208"/>
            <a:ext cx="54864" cy="201168"/>
          </a:xfrm>
          <a:prstGeom prst="rect">
            <a:avLst/>
          </a:prstGeom>
          <a:solidFill>
            <a:srgbClr val="1665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645920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1920240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VIN/barcode scanning with real-time BOM cross-validation against SAP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mismatch alerting with instant operator HMI notification and line pause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BOM reconciliation: engineering ECO, production BOM, supplier ASN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mismatch pattern analysis for proactive fixture/tooling verification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615184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2596896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SECURITY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2871216"/>
            <a:ext cx="5559552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version control: every scan logged with BOM revision hash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Recall-grade traceability: component-to-VIN linkage retained 15 years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Scanner calibration audit per ISO 15416 barcode quality standard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40080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99.8%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4652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Accuracy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905256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05256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09828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Mismatch Reduction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40080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&lt;2 sec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44652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Time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905256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05256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wk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09828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Timeline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400800" y="2633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510528" y="2615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INTEGRATED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92240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492240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MES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7223760" y="2907792"/>
            <a:ext cx="1088136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223760" y="2907792"/>
            <a:ext cx="10881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Barcode Scanners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8403336" y="2907792"/>
            <a:ext cx="850392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403336" y="2907792"/>
            <a:ext cx="850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Database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9345168" y="2907792"/>
            <a:ext cx="73152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9345168" y="29077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 System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400800" y="3227832"/>
            <a:ext cx="54864" cy="201168"/>
          </a:xfrm>
          <a:prstGeom prst="rect">
            <a:avLst/>
          </a:prstGeom>
          <a:solidFill>
            <a:srgbClr val="92400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510528" y="320954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510528" y="3483864"/>
            <a:ext cx="5193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 Operators  |  Quality Auditors  |  Production Engineers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400800" y="3776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510528" y="3758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STACK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/ CAPTURE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640080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43737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Barcode readers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RFID scanners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/ AI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774954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778611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validation logic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matching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909828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913485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MES API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 sync service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/ DECISION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1044702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1048359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HMI alerts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reports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Business Use Cases | Confidential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52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82880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UC03 | Seating &amp; Component Validation | Vision + Torque Integration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713232"/>
            <a:ext cx="54864" cy="201168"/>
          </a:xfrm>
          <a:prstGeom prst="rect">
            <a:avLst/>
          </a:prstGeom>
          <a:solidFill>
            <a:srgbClr val="E318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694944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969264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compliance failures undetected until end-of-line QA, causing rework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Fitment issues cause line stops costing $15K/minute in lost throughput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torque verification logs incomplete, creating audit gaps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Multi-variant seating configs increase error probability 3x vs single-model lines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664208"/>
            <a:ext cx="54864" cy="201168"/>
          </a:xfrm>
          <a:prstGeom prst="rect">
            <a:avLst/>
          </a:prstGeom>
          <a:solidFill>
            <a:srgbClr val="1665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645920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1920240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Vision-based fitment validation confirming correct component seating in real time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tool integration: digital torque values streamed and validated against spec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compliance dashboards aggregating torque, fitment, and sequence data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non-conformance reports generated within seconds of detection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615184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2596896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SECURITY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2871216"/>
            <a:ext cx="5559552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data retention per IATF 16949 automotive quality management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model validated against known-good reference images quarterly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records linked to torque tool serial numbers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40080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4652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Effort Reduction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905256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05256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09828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Undetected Torque Failures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40080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44652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Monitoring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905256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05256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 sec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09828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Latency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400800" y="2633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510528" y="2615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INTEGRATED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92240" y="2907792"/>
            <a:ext cx="850392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492240" y="2907792"/>
            <a:ext cx="850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Tools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7434072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434072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8165592" y="2907792"/>
            <a:ext cx="969264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165592" y="2907792"/>
            <a:ext cx="9692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Cameras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9226296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9226296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SCADA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400800" y="3227832"/>
            <a:ext cx="54864" cy="201168"/>
          </a:xfrm>
          <a:prstGeom prst="rect">
            <a:avLst/>
          </a:prstGeom>
          <a:solidFill>
            <a:srgbClr val="92400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510528" y="320954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510528" y="3483864"/>
            <a:ext cx="5193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 Technicians  |  Quality Engineers  |  Process Engineers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400800" y="3776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510528" y="3758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STACK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/ CAPTURE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640080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43737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cameras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sensors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/ AI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774954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778611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Fitment ML models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validation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909828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913485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+ torque APIs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SCADA interface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/ DECISION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1044702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1048359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dashboard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NCR generator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Business Use Cases | Confidential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52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82880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UC04 | SOP Compliance Monitoring | Pose Estimation + Activity Recognition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713232"/>
            <a:ext cx="54864" cy="201168"/>
          </a:xfrm>
          <a:prstGeom prst="rect">
            <a:avLst/>
          </a:prstGeom>
          <a:solidFill>
            <a:srgbClr val="E318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694944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969264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 SOP deviation rate undetected in manual observation audits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incidents from skipped procedural steps (avg 3.2 incidents/quarter)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preparation requires 80+ hours of manual video review per quarter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adherence across shifts with no real-time correction mechanism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664208"/>
            <a:ext cx="54864" cy="201168"/>
          </a:xfrm>
          <a:prstGeom prst="rect">
            <a:avLst/>
          </a:prstGeom>
          <a:solidFill>
            <a:srgbClr val="1665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645920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1920240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 estimation + activity recognition for real-time SOP adherence monitoring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Step-sequence verification: alerts if operator skips or reorders critical steps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audit evidence generation with timestamped video clips per procedure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Shift-level compliance scoring with trend analysis and coaching recommendations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615184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2596896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SECURITY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2871216"/>
            <a:ext cx="5559552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privacy: pose data anonymized, no facial recognition, GDPR Article 9 compliant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retention limited to 30 days unless flagged for incident review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council / union notification required in EU jurisdictions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40080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4652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Compliance Detection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905256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05256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09828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Deviation Reduction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40080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Hrs→Min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44652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Prep Time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905256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05256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09828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Delivery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400800" y="2633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510528" y="2615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INTEGRATED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92240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492240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CCTV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7223760" y="2907792"/>
            <a:ext cx="850392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223760" y="2907792"/>
            <a:ext cx="850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EHS Platform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8165592" y="2907792"/>
            <a:ext cx="850392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165592" y="2907792"/>
            <a:ext cx="850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LMS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9107424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9107424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400800" y="3227832"/>
            <a:ext cx="54864" cy="201168"/>
          </a:xfrm>
          <a:prstGeom prst="rect">
            <a:avLst/>
          </a:prstGeom>
          <a:solidFill>
            <a:srgbClr val="92400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510528" y="320954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510528" y="3483864"/>
            <a:ext cx="5193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Supervisors  |  EHS Managers  |  Training Coordinators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400800" y="3776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510528" y="3758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STACK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/ CAPTURE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640080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43737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CCTV cameras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compute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/ AI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774954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778611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 estimation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recognition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909828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913485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EHS platform API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 webhook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/ DECISION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1044702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1048359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alerts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 reports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Business Use Cases | Confidential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52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82880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UC05 | Predictive Quality Analytics | Sensor Fusion + ML Feature Store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713232"/>
            <a:ext cx="54864" cy="201168"/>
          </a:xfrm>
          <a:prstGeom prst="rect">
            <a:avLst/>
          </a:prstGeom>
          <a:solidFill>
            <a:srgbClr val="E318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694944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969264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2-4% scrap rate from undetected process drift across multi-variable production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analysis takes 48+ hours involving manual cross-correlation of 50+ variables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bottleneck: data scientists spend 70% time on data prep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Siloed sensor data prevents cross-process correlation insights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664208"/>
            <a:ext cx="54864" cy="201168"/>
          </a:xfrm>
          <a:prstGeom prst="rect">
            <a:avLst/>
          </a:prstGeom>
          <a:solidFill>
            <a:srgbClr val="1665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645920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1920240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fusion: unified time-series from temperature, pressure, vibration, humidity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feature stores with automated feature engineering and selection pipelines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dashboards showing SHAP values for each quality prediction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Preemptive process adjustment recommendations before defects materialize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615184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2596896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SECURITY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2871216"/>
            <a:ext cx="5559552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store lineage tracking: every feature traceable to raw sensor source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explainability required for all production decisions per ISO 22989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calibration validation automated, flagging drift &gt; 2% from baseline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40080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4652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 Rate Reduction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905256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05256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48hr→15m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09828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Analysis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40080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44652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Pipeline Generation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905256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05256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09828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Cross-Variable Correlation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400800" y="2633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510528" y="2615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INTEGRATED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92240" y="2907792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492240" y="2907792"/>
            <a:ext cx="7909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Sensors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7374636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374636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InfluxDB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8106156" y="2907792"/>
            <a:ext cx="909828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106156" y="2907792"/>
            <a:ext cx="9098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Store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9107424" y="2907792"/>
            <a:ext cx="672084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9107424" y="2907792"/>
            <a:ext cx="6720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Lake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400800" y="3227832"/>
            <a:ext cx="54864" cy="201168"/>
          </a:xfrm>
          <a:prstGeom prst="rect">
            <a:avLst/>
          </a:prstGeom>
          <a:solidFill>
            <a:srgbClr val="92400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510528" y="320954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510528" y="3483864"/>
            <a:ext cx="5193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Engineers  |  Data Scientists  |  Quality Managers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400800" y="3776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510528" y="3758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STACK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/ CAPTURE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640080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43737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sensor array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aggregation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/ AI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774954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778611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fusion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+ SHAP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909828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913485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InfluxDB + feature store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streams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/ DECISION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1044702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1048359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 dashboard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engine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Business Use Cases | Confidential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52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82880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UC06 | Predictive Maintenance | Time-Series Anomaly Detection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713232"/>
            <a:ext cx="54864" cy="201168"/>
          </a:xfrm>
          <a:prstGeom prst="rect">
            <a:avLst/>
          </a:prstGeom>
          <a:solidFill>
            <a:srgbClr val="E318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694944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969264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Unplanned downtime costs $260K/hour average across automotive manufacturing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 maintenance 3-5x costlier than predictive approaches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scheduling based on fixed intervals, not actual equipment health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Vibration/acoustic anomaly patterns missed by periodic manual inspections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664208"/>
            <a:ext cx="54864" cy="201168"/>
          </a:xfrm>
          <a:prstGeom prst="rect">
            <a:avLst/>
          </a:prstGeom>
          <a:solidFill>
            <a:srgbClr val="1665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645920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1920240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Vibration, acoustic, and temperature anomaly detection using LSTM autoencoders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health scoring: 0-100 composite index from multi-sensor fusion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SAP PM work orders when health score drops below threshold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useful life (RUL) prediction with confidence intervals for planning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615184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2596896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SECURITY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2871216"/>
            <a:ext cx="5559552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data classified Level 2 (Internal), encrypted in transit via TLS 1.3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decision audit trail: every work order linked to model prediction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 rate monitored: target &lt;5%, model retrained if exceeded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7200" y="3410712"/>
            <a:ext cx="54864" cy="201168"/>
          </a:xfrm>
          <a:prstGeom prst="rect">
            <a:avLst/>
          </a:prstGeom>
          <a:solidFill>
            <a:srgbClr val="9D17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66928" y="3392424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YC COMPETITIVE LANDSCAPE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3666744"/>
            <a:ext cx="5559552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Inviscid AI (W26, team 2) - physics-informed ML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Palifer (S19, acquired) - predictive analytics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InfluxData (W13, team 210) - time-series DB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40080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4652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Implementation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905256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05256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09828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Downtime Reduction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40080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44652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Cost Savings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905256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05256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0-100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09828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Health Score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400800" y="2633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510528" y="2615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INTEGRATED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92240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492240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PM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23760" y="2907792"/>
            <a:ext cx="850392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223760" y="2907792"/>
            <a:ext cx="850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Gateways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8165592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165592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8897112" y="2907792"/>
            <a:ext cx="850392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8897112" y="2907792"/>
            <a:ext cx="850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Compute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00800" y="3227832"/>
            <a:ext cx="54864" cy="201168"/>
          </a:xfrm>
          <a:prstGeom prst="rect">
            <a:avLst/>
          </a:prstGeom>
          <a:solidFill>
            <a:srgbClr val="92400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510528" y="320954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510528" y="3483864"/>
            <a:ext cx="5193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Technicians  |  Reliability Engineers  |  Plant Managers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400800" y="3776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510528" y="3758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STACK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/ CAPTURE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640080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43737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 sensors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Acoustic sensors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/ AI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774954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778611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autoencoder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 prediction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909828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913485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PM + IoT gateway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broker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/ DECISION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1044702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1048359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console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dashboard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Business Use Cases | Confidential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52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82880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UC07 | Safety Monitoring &amp; PPE Detection | Computer Vision + EHS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713232"/>
            <a:ext cx="54864" cy="201168"/>
          </a:xfrm>
          <a:prstGeom prst="rect">
            <a:avLst/>
          </a:prstGeom>
          <a:solidFill>
            <a:srgbClr val="E318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694944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969264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PPE non-compliance observed in 8-12% of shift observations across plants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zone violations undetected until post-incident review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incident reports take 2+ hours to complete, delaying corrective action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OSHA recordable rate stagnant despite increased training investment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664208"/>
            <a:ext cx="54864" cy="201168"/>
          </a:xfrm>
          <a:prstGeom prst="rect">
            <a:avLst/>
          </a:prstGeom>
          <a:solidFill>
            <a:srgbClr val="1665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645920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1920240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PPE detection: hard hat, vest, goggles, gloves via edge CV models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Geofenced zone intrusion alerts with &lt;3 second notification to supervisors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AI-generated incident reports from video evidence with auto-classification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trend analytics: heatmaps of non-compliance by zone, shift, and role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615184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2596896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SECURITY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2871216"/>
            <a:ext cx="5559552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facial recognition: PPE detection uses body-region segmentation only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data retained 1 year per OSHA 1904 recordkeeping requirements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 camera data classified Level 2, not shared with HR systems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7200" y="3410712"/>
            <a:ext cx="54864" cy="201168"/>
          </a:xfrm>
          <a:prstGeom prst="rect">
            <a:avLst/>
          </a:prstGeom>
          <a:solidFill>
            <a:srgbClr val="9D17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66928" y="3392424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YC COMPETITIVE LANDSCAPE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3666744"/>
            <a:ext cx="5559552" cy="155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Protex AI (S21, team 5) - workplace safety CV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40080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4652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PPE Compliance Detection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905256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05256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09828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Violation Capture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40080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44652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Incident Documentation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905256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05256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wk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09828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Timeline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400800" y="2633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510528" y="2615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INTEGRATED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92240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492240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CCTV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23760" y="2907792"/>
            <a:ext cx="850392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223760" y="2907792"/>
            <a:ext cx="850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EHS Platform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8165592" y="2907792"/>
            <a:ext cx="1088136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165592" y="2907792"/>
            <a:ext cx="10881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Alerting Systems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9345168" y="2907792"/>
            <a:ext cx="73152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9345168" y="29077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MDM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00800" y="3227832"/>
            <a:ext cx="54864" cy="201168"/>
          </a:xfrm>
          <a:prstGeom prst="rect">
            <a:avLst/>
          </a:prstGeom>
          <a:solidFill>
            <a:srgbClr val="92400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510528" y="320954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510528" y="3483864"/>
            <a:ext cx="5193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EHS Managers  |  Shift Supervisors  |  Safety Officers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400800" y="3776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510528" y="3758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STACK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/ CAPTURE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640080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43737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CCTV + thermal cams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GPU nodes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/ AI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774954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778611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CV models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geofencing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909828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913485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EHS platform API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SMS/push alerts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/ DECISION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1044702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1048359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mobile app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heatmaps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Business Use Cases | Confidential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52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82880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UC08 | Digital Traceability &amp; Recall | Graph Database + RFID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713232"/>
            <a:ext cx="54864" cy="201168"/>
          </a:xfrm>
          <a:prstGeom prst="rect">
            <a:avLst/>
          </a:prstGeom>
          <a:solidFill>
            <a:srgbClr val="E318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694944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969264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investigation takes 2-4 weeks of manual component genealogy tracing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genealogy gaps across tier 1-3 suppliers create liability exposure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$35M average recall cost in automotive; scope overestimation adds 20-40%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Paper-based lot tracking in legacy plants prevents real-time genealogy queries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664208"/>
            <a:ext cx="54864" cy="201168"/>
          </a:xfrm>
          <a:prstGeom prst="rect">
            <a:avLst/>
          </a:prstGeom>
          <a:solidFill>
            <a:srgbClr val="1665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645920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1920240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database (Neo4j) product genealogy: component-to-vehicle full lineage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RFID + barcode tracking at every station creating immutable production record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recall scope analysis: pinpoint affected VINs in minutes vs weeks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integration: ASN data automatically linked to production genealogy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615184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2596896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SECURITY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2871216"/>
            <a:ext cx="5559552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Traceability data retained 15+ years per NHTSA TREAD Act requirements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log: no genealogy record deletion, append-only ledger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data sharing governed by mutual NDA with data classification Level 3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7200" y="3410712"/>
            <a:ext cx="54864" cy="201168"/>
          </a:xfrm>
          <a:prstGeom prst="rect">
            <a:avLst/>
          </a:prstGeom>
          <a:solidFill>
            <a:srgbClr val="9D17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66928" y="3392424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YC COMPETITIVE LANDSCAPE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3666744"/>
            <a:ext cx="5559552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Cognitio Labs (S23) - supply chain intelligence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Autumn Labs (S24, team 3) - manufacturing traceability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40080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4652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Recall Investigation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905256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05256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09828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Genealogy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40080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44652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Scope Analysis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905256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05256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Audit-Ready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09828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Status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400800" y="2633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510528" y="2615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INTEGRATED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92240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492240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23760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223760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RFID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955280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7955280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8686800" y="2907792"/>
            <a:ext cx="102870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8686800" y="2907792"/>
            <a:ext cx="10287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Portal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00800" y="3227832"/>
            <a:ext cx="54864" cy="201168"/>
          </a:xfrm>
          <a:prstGeom prst="rect">
            <a:avLst/>
          </a:prstGeom>
          <a:solidFill>
            <a:srgbClr val="92400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510528" y="320954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510528" y="3483864"/>
            <a:ext cx="5193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Directors  |  Compliance Officers  |  Supply Chain Managers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400800" y="3776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510528" y="3758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STACK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/ CAPTURE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640080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43737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RFID readers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Barcode scanners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/ AI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774954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778611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graph analytics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 engine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909828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913485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+ supplier APIs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ASN ingestion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/ DECISION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1044702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1048359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Traceability dashboard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analyzer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Business Use Cases | Confidential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52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82880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UC09 | Patient Intake Automation | NLP + FHIR Integration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713232"/>
            <a:ext cx="54864" cy="201168"/>
          </a:xfrm>
          <a:prstGeom prst="rect">
            <a:avLst/>
          </a:prstGeom>
          <a:solidFill>
            <a:srgbClr val="E318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694944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969264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15-minute average intake time per patient creating waiting room bottlenecks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 form error rate from manual data entry causing downstream billing issues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staff spend 60% of time on administrative tasks vs patient care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Multi-system data entry: same info keyed into EHR, billing, and scheduling separately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664208"/>
            <a:ext cx="54864" cy="201168"/>
          </a:xfrm>
          <a:prstGeom prst="rect">
            <a:avLst/>
          </a:prstGeom>
          <a:solidFill>
            <a:srgbClr val="1665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645920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1920240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form validation with real-time error detection and correction prompts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EHR population via FHIR R4 API: demographics, insurance, medical history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scheduling integration: Calendly + provider availability matching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SMS/voice intake via Twilio for patients without smartphone/portal access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615184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2596896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SECURITY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2871216"/>
            <a:ext cx="5559552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BAA required for all data processors; PHI encryption AES-256 at rest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logging per HITECH Act: every PHI access timestamped and role-attributed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consent management: opt-in/opt-out tracked per FHIR Consent resource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7200" y="3410712"/>
            <a:ext cx="54864" cy="201168"/>
          </a:xfrm>
          <a:prstGeom prst="rect">
            <a:avLst/>
          </a:prstGeom>
          <a:solidFill>
            <a:srgbClr val="9D17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66928" y="3392424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YC COMPETITIVE LANDSCAPE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3666744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Understood Care (S24) - patient engagement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HealthKey (W25) - health records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Morf Health (S22) - care coordination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Gradia Health (W21) - clinical AI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40080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4652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Time (from 15 min)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905256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05256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09828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Accuracy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40080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44652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Time Reduction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905256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05256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$3-5K/mo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09828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per Practice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400800" y="2633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510528" y="2615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INTEGRATED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92240" y="2907792"/>
            <a:ext cx="102870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492240" y="2907792"/>
            <a:ext cx="10287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Epic/Cerner EHR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612380" y="2907792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612380" y="2907792"/>
            <a:ext cx="7909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FHIR R4 API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8494776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494776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Calendly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9226296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9226296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Twilio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00800" y="3227832"/>
            <a:ext cx="54864" cy="201168"/>
          </a:xfrm>
          <a:prstGeom prst="rect">
            <a:avLst/>
          </a:prstGeom>
          <a:solidFill>
            <a:srgbClr val="92400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510528" y="320954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510528" y="3483864"/>
            <a:ext cx="5193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Desk Staff  |  Clinical Coordinators  |  Practice Managers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400800" y="3776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510528" y="3758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STACK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/ CAPTURE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640080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43737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portal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+ SMS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/ AI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774954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778611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NLP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validation ML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909828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913485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FHIR + Twilio + Calendly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 write-back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/ DECISION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1044702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1048359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dashboard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queue view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Business Use Cases | Confidential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52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tIns="400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UC09 Architecture | Patient Intake Automation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00000" y="70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Patient Portal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(Web/Mobile)</a:t>
            </a:r>
          </a:p>
        </p:txBody>
      </p:sp>
      <p:sp>
        <p:nvSpPr>
          <p:cNvPr id="4" name="Rectangle 3"/>
          <p:cNvSpPr/>
          <p:nvPr/>
        </p:nvSpPr>
        <p:spPr>
          <a:xfrm>
            <a:off x="3000000" y="70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SMS/Voice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(Twilio)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0" y="70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Fax OCR Engine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0000" y="104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00000" y="104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0000" y="17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FFFFFF"/>
                </a:solidFill>
                <a:latin typeface="Calibri"/>
              </a:rPr>
              <a:t>Claude NLP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Processor</a:t>
            </a:r>
          </a:p>
        </p:txBody>
      </p:sp>
      <p:sp>
        <p:nvSpPr>
          <p:cNvPr id="9" name="Rectangle 8"/>
          <p:cNvSpPr/>
          <p:nvPr/>
        </p:nvSpPr>
        <p:spPr>
          <a:xfrm>
            <a:off x="3000000" y="17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FFFFFF"/>
                </a:solidFill>
                <a:latin typeface="Calibri"/>
              </a:rPr>
              <a:t>Form Validation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ML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00" y="17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FFFFFF"/>
                </a:solidFill>
                <a:latin typeface="Calibri"/>
              </a:rPr>
              <a:t>Entity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Extraction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0000" y="209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00000" y="209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000" y="280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FHIR R4 API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Gateway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0000" y="280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Epic/Cerner EHR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Write-back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00000" y="280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Calendly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Scheduler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00000" y="314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00000" y="314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0000" y="38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Patient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Dashboard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00000" y="38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Staff Queue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View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00000" y="38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Billing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Pre-pop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0000" y="419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00000" y="419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91000" y="1400000"/>
            <a:ext cx="18000" cy="35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91000" y="2450000"/>
            <a:ext cx="18000" cy="35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91000" y="3500000"/>
            <a:ext cx="18000" cy="35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00000" y="2875000"/>
            <a:ext cx="1700000" cy="550000"/>
          </a:xfrm>
          <a:prstGeom prst="rect">
            <a:avLst/>
          </a:prstGeom>
          <a:solidFill>
            <a:srgbClr val="FEE2E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HIPAA Encryption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(AES-256)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00000" y="3141000"/>
            <a:ext cx="58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00000" y="775000"/>
            <a:ext cx="1700000" cy="550000"/>
          </a:xfrm>
          <a:prstGeom prst="rect">
            <a:avLst/>
          </a:prstGeom>
          <a:solidFill>
            <a:srgbClr val="FEE2E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Consent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Manager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00000" y="1041000"/>
            <a:ext cx="58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000" y="900000"/>
            <a:ext cx="34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1">
                <a:solidFill>
                  <a:srgbClr val="6B7280"/>
                </a:solidFill>
                <a:latin typeface="Calibri"/>
              </a:rPr>
              <a:t>INPUT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" y="1950000"/>
            <a:ext cx="34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1">
                <a:solidFill>
                  <a:srgbClr val="6B7280"/>
                </a:solidFill>
                <a:latin typeface="Calibri"/>
              </a:rPr>
              <a:t>AI / COMPUTE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000" y="3000000"/>
            <a:ext cx="34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1">
                <a:solidFill>
                  <a:srgbClr val="6B7280"/>
                </a:solidFill>
                <a:latin typeface="Calibri"/>
              </a:rPr>
              <a:t>INTEGRATION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" y="4050000"/>
            <a:ext cx="34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1">
                <a:solidFill>
                  <a:srgbClr val="6B7280"/>
                </a:solidFill>
                <a:latin typeface="Calibri"/>
              </a:rPr>
              <a:t>OUTPUT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/>
          <a:lstStyle/>
          <a:p>
            <a:pPr algn="l">
              <a:spcBef>
                <a:spcPts val="0"/>
              </a:spcBef>
            </a:pPr>
            <a:r>
              <a:rPr sz="1000">
                <a:solidFill>
                  <a:srgbClr val="FFFFFF"/>
                </a:solidFill>
                <a:latin typeface="Calibri"/>
              </a:rPr>
              <a:t>AI Engineering Business Use Cases | Confidential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14 / 52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82880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UC10 | Insurance Verification | Claims Processing + Prediction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713232"/>
            <a:ext cx="54864" cy="201168"/>
          </a:xfrm>
          <a:prstGeom prst="rect">
            <a:avLst/>
          </a:prstGeom>
          <a:solidFill>
            <a:srgbClr val="E318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694944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969264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claim denial rate from eligibility errors and incomplete prior authorization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48-hour average verification turnaround delays patient scheduling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 cost per manual verification call to payer, averaging 12 min per call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auth requirements change frequently; staff miss updates causing denials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664208"/>
            <a:ext cx="54864" cy="201168"/>
          </a:xfrm>
          <a:prstGeom prst="rect">
            <a:avLst/>
          </a:prstGeom>
          <a:solidFill>
            <a:srgbClr val="1665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645920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1920240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Pre-appointment AI eligibility verification against real-time payer feeds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prior authorization submission with required clinical documentation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Denial prediction model: flags high-risk claims before submission for review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 rule change monitoring: auto-updates verification workflows within 24 hours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615184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2596896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SECURITY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2871216"/>
            <a:ext cx="5559552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270/271 transaction compliance per HIPAA X12 standards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data classified Level 3 (Confidential), encrypted end-to-end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Denial prediction model audited for demographic bias quarterly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7200" y="3410712"/>
            <a:ext cx="54864" cy="201168"/>
          </a:xfrm>
          <a:prstGeom prst="rect">
            <a:avLst/>
          </a:prstGeom>
          <a:solidFill>
            <a:srgbClr val="9D17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66928" y="3392424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YC COMPETITIVE LANDSCAPE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3666744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(S22) - claims processing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Avallon AI (Sp25) - insurance verification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Curacel (W22) - claims AI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onederful (W18, acquired) - dental claims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40080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4652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First-Pass Approval Rate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905256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05256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09828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Time (from 48 hr)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40080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44652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Verification (from $25)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905256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05256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09828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Denial Rate Reduction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400800" y="2633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510528" y="2615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INTEGRATED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92240" y="2907792"/>
            <a:ext cx="969264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492240" y="2907792"/>
            <a:ext cx="9692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 EDI/APIs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552944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552944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8284464" y="2907792"/>
            <a:ext cx="969264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284464" y="2907792"/>
            <a:ext cx="9692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System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9345168" y="2907792"/>
            <a:ext cx="909828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9345168" y="2907792"/>
            <a:ext cx="9098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Clearinghouse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00800" y="3227832"/>
            <a:ext cx="54864" cy="201168"/>
          </a:xfrm>
          <a:prstGeom prst="rect">
            <a:avLst/>
          </a:prstGeom>
          <a:solidFill>
            <a:srgbClr val="92400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510528" y="320954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510528" y="3483864"/>
            <a:ext cx="5193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Staff  |  Prior Auth Specialists  |  Revenue Cycle Managers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400800" y="3776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510528" y="3758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STACK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/ CAPTURE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640080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43737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 EDI feeds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Fax OCR ingestion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/ AI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774954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778611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ML models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Denial prediction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909828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913485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 API + EHR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Clearinghouse EDI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/ DECISION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1044702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1048359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dashboard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Denial analytics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Business Use Cases | Confidential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52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tIns="400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UC10 Architecture | Insurance 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00000" y="70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Appointment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Trigger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000000" y="70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Payer EDI 270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Request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0" y="70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Prior Auth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Rules DB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0000" y="104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00000" y="104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0000" y="17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FFFFFF"/>
                </a:solidFill>
                <a:latin typeface="Calibri"/>
              </a:rPr>
              <a:t>Eligibility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ML 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000000" y="17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FFFFFF"/>
                </a:solidFill>
                <a:latin typeface="Calibri"/>
              </a:rPr>
              <a:t>Denial Prediction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Engine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00" y="17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FFFFFF"/>
                </a:solidFill>
                <a:latin typeface="Calibri"/>
              </a:rPr>
              <a:t>Clinical Doc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Matcher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0000" y="209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00000" y="209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000" y="280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Clearinghouse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EDI Gateway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0000" y="280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Payer API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Router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00000" y="280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EHR Billing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Module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00000" y="314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00000" y="314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0000" y="38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Verification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Dashboard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00000" y="38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Denial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Analytics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00000" y="38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Auto-Resubmission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Queue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0000" y="419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00000" y="419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91000" y="1400000"/>
            <a:ext cx="18000" cy="35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91000" y="2450000"/>
            <a:ext cx="18000" cy="35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91000" y="3500000"/>
            <a:ext cx="18000" cy="35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00000" y="1825000"/>
            <a:ext cx="1700000" cy="550000"/>
          </a:xfrm>
          <a:prstGeom prst="rect">
            <a:avLst/>
          </a:prstGeom>
          <a:solidFill>
            <a:srgbClr val="FEF3C7"/>
          </a:solidFill>
          <a:ln w="12700">
            <a:solidFill>
              <a:srgbClr val="9240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Payer Rule Monitor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(24hr sync)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00000" y="2091000"/>
            <a:ext cx="10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00000" y="3925000"/>
            <a:ext cx="1700000" cy="550000"/>
          </a:xfrm>
          <a:prstGeom prst="rect">
            <a:avLst/>
          </a:prstGeom>
          <a:solidFill>
            <a:srgbClr val="FEE2E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Bias Audit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(quarterly)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00000" y="4191000"/>
            <a:ext cx="3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000" y="900000"/>
            <a:ext cx="34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1">
                <a:solidFill>
                  <a:srgbClr val="6B7280"/>
                </a:solidFill>
                <a:latin typeface="Calibri"/>
              </a:rPr>
              <a:t>INPUT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" y="1950000"/>
            <a:ext cx="34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1">
                <a:solidFill>
                  <a:srgbClr val="6B7280"/>
                </a:solidFill>
                <a:latin typeface="Calibri"/>
              </a:rPr>
              <a:t>AI / COMPUTE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000" y="3000000"/>
            <a:ext cx="34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1">
                <a:solidFill>
                  <a:srgbClr val="6B7280"/>
                </a:solidFill>
                <a:latin typeface="Calibri"/>
              </a:rPr>
              <a:t>INTEGRATION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" y="4050000"/>
            <a:ext cx="34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1">
                <a:solidFill>
                  <a:srgbClr val="6B7280"/>
                </a:solidFill>
                <a:latin typeface="Calibri"/>
              </a:rPr>
              <a:t>OUTPUT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/>
          <a:lstStyle/>
          <a:p>
            <a:pPr algn="l">
              <a:spcBef>
                <a:spcPts val="0"/>
              </a:spcBef>
            </a:pPr>
            <a:r>
              <a:rPr sz="1000">
                <a:solidFill>
                  <a:srgbClr val="FFFFFF"/>
                </a:solidFill>
                <a:latin typeface="Calibri"/>
              </a:rPr>
              <a:t>AI Engineering Business Use Cases | Confidential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16 / 52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82880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UC11 | HIPAA Compliance Portal | Audit Automation + Access Control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713232"/>
            <a:ext cx="54864" cy="201168"/>
          </a:xfrm>
          <a:prstGeom prst="rect">
            <a:avLst/>
          </a:prstGeom>
          <a:solidFill>
            <a:srgbClr val="E318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694944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969264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audit preparation consumes 120+ staff-hours per year across departments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access logging gaps: 15% of access events untracked in legacy systems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$1.5M average HIPAA breach penalty; $6.3M for willful neglect category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assessments performed annually but threats evolve continuously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664208"/>
            <a:ext cx="54864" cy="201168"/>
          </a:xfrm>
          <a:prstGeom prst="rect">
            <a:avLst/>
          </a:prstGeom>
          <a:solidFill>
            <a:srgbClr val="1665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645920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1920240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audit trail aggregation from EHR, IAM, email, and file storage systems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PHI access monitoring with anomaly detection (unusual hours, volume, role)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compliance scoring dashboard with gap identification and remediation tracking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 risk scoring: quantified risk per system, updated daily from threat intelligence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615184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2596896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SECURITY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2871216"/>
            <a:ext cx="5559552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HIPAA Security Rule: administrative, physical, and technical safeguards automated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HITECH Breach Notification: automated assessment and 60-day notification workflow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Associate management: BAA tracking, annual review, termination workflow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40080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4652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Prep Time Reduction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905256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05256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09828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Access Logging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40080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44652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Status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905256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05256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09828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 Risk Scoring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400800" y="2633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510528" y="2615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INTEGRATED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92240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492240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7223760" y="2907792"/>
            <a:ext cx="1266444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223760" y="2907792"/>
            <a:ext cx="12664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(Okta/Azure AD)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8581644" y="2907792"/>
            <a:ext cx="1147572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581644" y="2907792"/>
            <a:ext cx="11475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Secure Storage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9820656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9820656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400800" y="3227832"/>
            <a:ext cx="54864" cy="201168"/>
          </a:xfrm>
          <a:prstGeom prst="rect">
            <a:avLst/>
          </a:prstGeom>
          <a:solidFill>
            <a:srgbClr val="92400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510528" y="320954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510528" y="3483864"/>
            <a:ext cx="5193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Officers  |  HIPAA Privacy Officers  |  IT Security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400800" y="3776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510528" y="3758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STACK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/ CAPTURE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640080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43737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log collectors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feeds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/ AI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774954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778611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ML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rules engine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909828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913485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+ EHR + email APIs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audit storage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/ DECISION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1044702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1048359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dashboard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heat map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Business Use Cases | Confidential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52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tIns="400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UC11 Architecture | HIPAA Compliance Portal</a:t>
            </a:r>
          </a:p>
        </p:txBody>
      </p:sp>
      <p:sp>
        <p:nvSpPr>
          <p:cNvPr id="3" name="Rectangle 2"/>
          <p:cNvSpPr/>
          <p:nvPr/>
        </p:nvSpPr>
        <p:spPr>
          <a:xfrm>
            <a:off x="600000" y="70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EHR Access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Logs</a:t>
            </a:r>
          </a:p>
        </p:txBody>
      </p:sp>
      <p:sp>
        <p:nvSpPr>
          <p:cNvPr id="4" name="Rectangle 3"/>
          <p:cNvSpPr/>
          <p:nvPr/>
        </p:nvSpPr>
        <p:spPr>
          <a:xfrm>
            <a:off x="3000000" y="70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IAM Events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(Okta/Azure AD)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0" y="70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Email DLP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Scanner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0000" y="104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00000" y="104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0000" y="17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FFFFFF"/>
                </a:solidFill>
                <a:latin typeface="Calibri"/>
              </a:rPr>
              <a:t>Log Aggregation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Engine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000000" y="17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FFFFFF"/>
                </a:solidFill>
                <a:latin typeface="Calibri"/>
              </a:rPr>
              <a:t>Anomaly Detection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ML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00" y="17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FFFFFF"/>
                </a:solidFill>
                <a:latin typeface="Calibri"/>
              </a:rPr>
              <a:t>Compliance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Rules Engine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0000" y="209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00000" y="209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000" y="280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Risk Scoring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Module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0000" y="280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Breach Assessment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Workflow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00000" y="280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Remediation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Tracker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00000" y="314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00000" y="314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0000" y="38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Compliance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Dashboard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00000" y="38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Risk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Heat Map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00000" y="38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Audit Report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Generator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0000" y="419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00000" y="419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91000" y="1400000"/>
            <a:ext cx="18000" cy="35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91000" y="2450000"/>
            <a:ext cx="18000" cy="35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91000" y="3500000"/>
            <a:ext cx="18000" cy="35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00000" y="2875000"/>
            <a:ext cx="1700000" cy="550000"/>
          </a:xfrm>
          <a:prstGeom prst="rect">
            <a:avLst/>
          </a:prstGeom>
          <a:solidFill>
            <a:srgbClr val="FEE2E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HITECH Notification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(60-day)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00000" y="3141000"/>
            <a:ext cx="3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00000" y="775000"/>
            <a:ext cx="1700000" cy="550000"/>
          </a:xfrm>
          <a:prstGeom prst="rect">
            <a:avLst/>
          </a:prstGeom>
          <a:solidFill>
            <a:srgbClr val="FEF3C7"/>
          </a:solidFill>
          <a:ln w="12700">
            <a:solidFill>
              <a:srgbClr val="9240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BAA Tracking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System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0000" y="1041000"/>
            <a:ext cx="10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000" y="900000"/>
            <a:ext cx="34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1">
                <a:solidFill>
                  <a:srgbClr val="6B7280"/>
                </a:solidFill>
                <a:latin typeface="Calibri"/>
              </a:rPr>
              <a:t>INPUT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" y="1950000"/>
            <a:ext cx="34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1">
                <a:solidFill>
                  <a:srgbClr val="6B7280"/>
                </a:solidFill>
                <a:latin typeface="Calibri"/>
              </a:rPr>
              <a:t>AI / COMPUTE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000" y="3000000"/>
            <a:ext cx="34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1">
                <a:solidFill>
                  <a:srgbClr val="6B7280"/>
                </a:solidFill>
                <a:latin typeface="Calibri"/>
              </a:rPr>
              <a:t>INTEGRATION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" y="4050000"/>
            <a:ext cx="34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1">
                <a:solidFill>
                  <a:srgbClr val="6B7280"/>
                </a:solidFill>
                <a:latin typeface="Calibri"/>
              </a:rPr>
              <a:t>OUTPUT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/>
          <a:lstStyle/>
          <a:p>
            <a:pPr algn="l">
              <a:spcBef>
                <a:spcPts val="0"/>
              </a:spcBef>
            </a:pPr>
            <a:r>
              <a:rPr sz="1000">
                <a:solidFill>
                  <a:srgbClr val="FFFFFF"/>
                </a:solidFill>
                <a:latin typeface="Calibri"/>
              </a:rPr>
              <a:t>AI Engineering Business Use Cases | Confidential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18 / 52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82880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UC12 | Contract Generation &amp; Review | Document AI + Template Engine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713232"/>
            <a:ext cx="54864" cy="201168"/>
          </a:xfrm>
          <a:prstGeom prst="rect">
            <a:avLst/>
          </a:prstGeom>
          <a:solidFill>
            <a:srgbClr val="E318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694944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969264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4-6 hours per contract draft for routine agreements (NDA, MSA, SOW)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clause usage across attorneys leading to enforceability risks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$350/hr attorney time spent on routine document assembly vs strategic work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 chaos: 15% of contracts sent with outdated clause libraries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664208"/>
            <a:ext cx="54864" cy="201168"/>
          </a:xfrm>
          <a:prstGeom prst="rect">
            <a:avLst/>
          </a:prstGeom>
          <a:solidFill>
            <a:srgbClr val="1665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645920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1920240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contract drafting from firm-specific templates + curated clause library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review: risk scoring per clause, deviation from standard flagged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Clause recommendation engine based on deal type, counterparty, and jurisdiction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DocuSign integration for seamless review-sign workflow with audit trail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615184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2596896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SECURITY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2871216"/>
            <a:ext cx="5559552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Attorney-client privilege: all generated drafts marked privileged, access-controlled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Clause library version control: Git-backed, partner-approved changes only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 always marked as draft; human attorney sign-off required for finalization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7200" y="3410712"/>
            <a:ext cx="54864" cy="201168"/>
          </a:xfrm>
          <a:prstGeom prst="rect">
            <a:avLst/>
          </a:prstGeom>
          <a:solidFill>
            <a:srgbClr val="9D17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66928" y="3392424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YC COMPETITIVE LANDSCAPE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3666744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Ironclad (S15, team 700) - contract lifecycle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Draftwise (S20, team 50) - contract drafting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Legal (W26) - AI legal assistant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Pincites (S23, acquired) - clause analysis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40080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4652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Time (from 4-6 hrs)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905256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05256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09828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Clause Consistency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40080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44652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Attorney Time Savings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905256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05256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$3-5K/mo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09828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per Firm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400800" y="2633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510528" y="2615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INTEGRATED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92240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492240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DocuSign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23760" y="2907792"/>
            <a:ext cx="1504188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223760" y="2907792"/>
            <a:ext cx="15041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Mgmt (iManage)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8819388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819388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9550908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9550908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00800" y="3227832"/>
            <a:ext cx="54864" cy="201168"/>
          </a:xfrm>
          <a:prstGeom prst="rect">
            <a:avLst/>
          </a:prstGeom>
          <a:solidFill>
            <a:srgbClr val="92400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510528" y="320954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510528" y="3483864"/>
            <a:ext cx="5193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Associates  |  Partners  |  Paralegals  |  Legal Ops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400800" y="3776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510528" y="3758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STACK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/ CAPTURE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640080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43737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upload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ingestion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/ AI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774954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778611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+ template engine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scoring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909828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913485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DocuSign + DMS APIs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integration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/ DECISION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1044702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1048359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Attorney review portal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Clause library UI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Business Use Cases | Confidential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52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tIns="400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UC12 Architecture | Contract Generation &amp; Review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600000" y="70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Deal Intake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3000000" y="70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Clause Library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(Git-backed)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0" y="70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Template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Engine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0000" y="104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00000" y="104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0000" y="17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FFFFFF"/>
                </a:solidFill>
                <a:latin typeface="Calibri"/>
              </a:rPr>
              <a:t>Claude Drafting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000000" y="17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FFFFFF"/>
                </a:solidFill>
                <a:latin typeface="Calibri"/>
              </a:rPr>
              <a:t>Risk Scoring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00" y="17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FFFFFF"/>
                </a:solidFill>
                <a:latin typeface="Calibri"/>
              </a:rPr>
              <a:t>Deviation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Detector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0000" y="209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00000" y="209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000" y="280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iManage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DMS API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0000" y="280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DocuSign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eSign API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00000" y="280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Version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Control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00000" y="314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00000" y="314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0000" y="38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Attorney Review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Portal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00000" y="38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Clause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Library UI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00000" y="38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Audit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Trail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0000" y="419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00000" y="419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91000" y="1400000"/>
            <a:ext cx="18000" cy="35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91000" y="2450000"/>
            <a:ext cx="18000" cy="35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91000" y="3500000"/>
            <a:ext cx="18000" cy="35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00000" y="1825000"/>
            <a:ext cx="1700000" cy="550000"/>
          </a:xfrm>
          <a:prstGeom prst="rect">
            <a:avLst/>
          </a:prstGeom>
          <a:solidFill>
            <a:srgbClr val="FEE2E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Privilege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Marker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00000" y="2091000"/>
            <a:ext cx="58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00000" y="2875000"/>
            <a:ext cx="1700000" cy="550000"/>
          </a:xfrm>
          <a:prstGeom prst="rect">
            <a:avLst/>
          </a:prstGeom>
          <a:solidFill>
            <a:srgbClr val="FEE2E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Partner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Approval Gate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0000" y="3141000"/>
            <a:ext cx="10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000" y="900000"/>
            <a:ext cx="34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1">
                <a:solidFill>
                  <a:srgbClr val="6B7280"/>
                </a:solidFill>
                <a:latin typeface="Calibri"/>
              </a:rPr>
              <a:t>INPUT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" y="1950000"/>
            <a:ext cx="34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1">
                <a:solidFill>
                  <a:srgbClr val="6B7280"/>
                </a:solidFill>
                <a:latin typeface="Calibri"/>
              </a:rPr>
              <a:t>AI / COMPUTE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000" y="3000000"/>
            <a:ext cx="34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1">
                <a:solidFill>
                  <a:srgbClr val="6B7280"/>
                </a:solidFill>
                <a:latin typeface="Calibri"/>
              </a:rPr>
              <a:t>INTEGRATION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" y="4050000"/>
            <a:ext cx="34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1">
                <a:solidFill>
                  <a:srgbClr val="6B7280"/>
                </a:solidFill>
                <a:latin typeface="Calibri"/>
              </a:rPr>
              <a:t>OUTPUT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/>
          <a:lstStyle/>
          <a:p>
            <a:pPr algn="l">
              <a:spcBef>
                <a:spcPts val="0"/>
              </a:spcBef>
            </a:pPr>
            <a:r>
              <a:rPr sz="1000">
                <a:solidFill>
                  <a:srgbClr val="FFFFFF"/>
                </a:solidFill>
                <a:latin typeface="Calibri"/>
              </a:rPr>
              <a:t>AI Engineering Business Use Cases | Confidential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20 / 52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82880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UC13 | Legal Research Summarization | RAG + Citation Verification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713232"/>
            <a:ext cx="54864" cy="201168"/>
          </a:xfrm>
          <a:prstGeom prst="rect">
            <a:avLst/>
          </a:prstGeom>
          <a:solidFill>
            <a:srgbClr val="E318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694944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969264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8-12 hours per research task for junior associates on complex legal questions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precedents: manual search covers only 60-70% of relevant case law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Junior associates overloaded: 65% of billable hours spent on research vs analysis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verification manual and error-prone; hallucinated citations a known LLM risk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664208"/>
            <a:ext cx="54864" cy="201168"/>
          </a:xfrm>
          <a:prstGeom prst="rect">
            <a:avLst/>
          </a:prstGeom>
          <a:solidFill>
            <a:srgbClr val="1665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645920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1920240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precedent search across Westlaw, LexisNexis, and internal brief archives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insight summarization with jurisdiction-specific relevance scoring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Citation-linked outputs: every claim traced to source with pinpoint page references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Collaborative research workspace: multiple associates contribute to shared brief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615184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2596896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SECURITY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2871216"/>
            <a:ext cx="5559552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verification: every generated citation validated against source database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memos marked AI-assisted per emerging bar association disclosure rules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client data sent to external models; on-premise RAG for privileged materials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7200" y="3410712"/>
            <a:ext cx="54864" cy="201168"/>
          </a:xfrm>
          <a:prstGeom prst="rect">
            <a:avLst/>
          </a:prstGeom>
          <a:solidFill>
            <a:srgbClr val="9D17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66928" y="3392424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YC COMPETITIVE LANDSCAPE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3666744"/>
            <a:ext cx="5559552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Legal (W26) - AI legal research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Docsum (S23) - document summarization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Paper (W23) - legal document standards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40080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hrs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4652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Time (from 8-12)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905256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05256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09828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Precedent Coverage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40080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44652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Junior Workload Reduction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905256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05256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09828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Accuracy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400800" y="2633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510528" y="2615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INTEGRATED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92240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492240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Westlaw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23760" y="2907792"/>
            <a:ext cx="73152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223760" y="29077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LexisNexis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8046720" y="2907792"/>
            <a:ext cx="790956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046720" y="2907792"/>
            <a:ext cx="7909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iManage DMS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8929116" y="2907792"/>
            <a:ext cx="73152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8929116" y="29077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Bank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00800" y="3227832"/>
            <a:ext cx="54864" cy="201168"/>
          </a:xfrm>
          <a:prstGeom prst="rect">
            <a:avLst/>
          </a:prstGeom>
          <a:solidFill>
            <a:srgbClr val="92400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510528" y="320954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510528" y="3483864"/>
            <a:ext cx="5193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Junior Associates  |  Senior Associates  |  Research Librarians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400800" y="3776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510528" y="3758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STACK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/ CAPTURE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640080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43737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DB connectors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bank indexer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/ AI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774954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778611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pipeline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reasoning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909828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913485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Westlaw + LexisNexis APIs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DMS search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/ DECISION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1044702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1048359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brief generator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viewer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Business Use Cases | Confidential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52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tIns="400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UC13 Architecture | Legal Research Summarization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00000" y="70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Research Query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Input</a:t>
            </a:r>
          </a:p>
        </p:txBody>
      </p:sp>
      <p:sp>
        <p:nvSpPr>
          <p:cNvPr id="4" name="Rectangle 3"/>
          <p:cNvSpPr/>
          <p:nvPr/>
        </p:nvSpPr>
        <p:spPr>
          <a:xfrm>
            <a:off x="3000000" y="70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Westlaw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0" y="70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LexisNexis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0000" y="104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00000" y="104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0000" y="17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FFFFFF"/>
                </a:solidFill>
                <a:latin typeface="Calibri"/>
              </a:rPr>
              <a:t>RAG Pipeline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(pgvector)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000000" y="17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FFFFFF"/>
                </a:solidFill>
                <a:latin typeface="Calibri"/>
              </a:rPr>
              <a:t>Claude Reasoning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Engine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00" y="17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FFFFFF"/>
                </a:solidFill>
                <a:latin typeface="Calibri"/>
              </a:rPr>
              <a:t>Citation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Verifier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0000" y="209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00000" y="209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000" y="280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Brief Bank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Indexer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0000" y="280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Jurisdiction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Scorer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00000" y="280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Relevance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Ranker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00000" y="314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00000" y="314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0000" y="38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Research Brief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Generator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00000" y="38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Citation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Viewer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00000" y="38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Collaborative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Workspace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0000" y="419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00000" y="419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91000" y="1400000"/>
            <a:ext cx="18000" cy="35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91000" y="2450000"/>
            <a:ext cx="18000" cy="35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91000" y="3500000"/>
            <a:ext cx="18000" cy="35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00000" y="1825000"/>
            <a:ext cx="1700000" cy="550000"/>
          </a:xfrm>
          <a:prstGeom prst="rect">
            <a:avLst/>
          </a:prstGeom>
          <a:solidFill>
            <a:srgbClr val="FEE2E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On-Premise RAG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(privileged)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00000" y="2091000"/>
            <a:ext cx="58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00000" y="3925000"/>
            <a:ext cx="1700000" cy="550000"/>
          </a:xfrm>
          <a:prstGeom prst="rect">
            <a:avLst/>
          </a:prstGeom>
          <a:solidFill>
            <a:srgbClr val="FEE2E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Bar Disclosure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Marker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00000" y="4191000"/>
            <a:ext cx="58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000" y="900000"/>
            <a:ext cx="34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1">
                <a:solidFill>
                  <a:srgbClr val="6B7280"/>
                </a:solidFill>
                <a:latin typeface="Calibri"/>
              </a:rPr>
              <a:t>INPUT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" y="1950000"/>
            <a:ext cx="34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1">
                <a:solidFill>
                  <a:srgbClr val="6B7280"/>
                </a:solidFill>
                <a:latin typeface="Calibri"/>
              </a:rPr>
              <a:t>AI / COMPUTE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000" y="3000000"/>
            <a:ext cx="34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1">
                <a:solidFill>
                  <a:srgbClr val="6B7280"/>
                </a:solidFill>
                <a:latin typeface="Calibri"/>
              </a:rPr>
              <a:t>INTEGRATION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" y="4050000"/>
            <a:ext cx="34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1">
                <a:solidFill>
                  <a:srgbClr val="6B7280"/>
                </a:solidFill>
                <a:latin typeface="Calibri"/>
              </a:rPr>
              <a:t>OUTPUT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/>
          <a:lstStyle/>
          <a:p>
            <a:pPr algn="l">
              <a:spcBef>
                <a:spcPts val="0"/>
              </a:spcBef>
            </a:pPr>
            <a:r>
              <a:rPr sz="1000">
                <a:solidFill>
                  <a:srgbClr val="FFFFFF"/>
                </a:solidFill>
                <a:latin typeface="Calibri"/>
              </a:rPr>
              <a:t>AI Engineering Business Use Cases | Confidential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22 / 52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82880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UC14 | Legal Billing Automation | Time Tracking + Invoicing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713232"/>
            <a:ext cx="54864" cy="201168"/>
          </a:xfrm>
          <a:prstGeom prst="rect">
            <a:avLst/>
          </a:prstGeom>
          <a:solidFill>
            <a:srgbClr val="E318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694944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969264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15-20% revenue leakage from unbilled time entries across firm associates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timesheet reconciliation: 5+ hours/week per billing coordinator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average invoice cycle from time capture to client payment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LEDES/UTBMS compliance: 8% of invoices rejected for formatting errors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664208"/>
            <a:ext cx="54864" cy="201168"/>
          </a:xfrm>
          <a:prstGeom prst="rect">
            <a:avLst/>
          </a:prstGeom>
          <a:solidFill>
            <a:srgbClr val="1665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645920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1920240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activity capture from calendar, email, document edits, and court filings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timesheet generation with matter-code assignment and narrative drafting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automation: LEDES-compliant formatting with client-specific rate cards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auto-categorization from receipts, travel bookings, and filing fees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615184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2596896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SECURITY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2871216"/>
            <a:ext cx="5559552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data classified Level 3 (Confidential), access restricted to billing roles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entry audit trail: original AI suggestion vs attorney-approved final entry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LEDES/UTBMS compliance validation before invoice submission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7200" y="3410712"/>
            <a:ext cx="54864" cy="201168"/>
          </a:xfrm>
          <a:prstGeom prst="rect">
            <a:avLst/>
          </a:prstGeom>
          <a:solidFill>
            <a:srgbClr val="9D17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66928" y="3392424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YC COMPETITIVE LANDSCAPE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3666744"/>
            <a:ext cx="5559552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JustPaid (W23, team 20) - invoice automation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Peakflo (W22, team 45) - accounts receivable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Truss (S21) - financial operations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40080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4652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Time Capture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905256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05256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09828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Recovery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40080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days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44652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Cycle (from 30)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905256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05256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09828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 Categorization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400800" y="2633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510528" y="2615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INTEGRATED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92240" y="2907792"/>
            <a:ext cx="73152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492240" y="29077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QuickBooks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315200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315200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8046720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046720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8778240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8778240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00800" y="3227832"/>
            <a:ext cx="54864" cy="201168"/>
          </a:xfrm>
          <a:prstGeom prst="rect">
            <a:avLst/>
          </a:prstGeom>
          <a:solidFill>
            <a:srgbClr val="92400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510528" y="320954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510528" y="3483864"/>
            <a:ext cx="5193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Associates  |  Billing Coordinators  |  Managing Partners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400800" y="3776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510528" y="3758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STACK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/ CAPTURE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640080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43737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Email/calendar monitors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edit tracking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/ AI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774954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778611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classification ML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Narrative generation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909828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913485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QB + Stripe APIs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LEDES formatter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/ DECISION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1044702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1048359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dashboard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portal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Business Use Cases | Confidential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52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000" tIns="400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UC14 Architecture | Legal Billing Automation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00000" y="70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Calendar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Monitor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3000000" y="70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Email Activity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Tracker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0" y="70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Doc Edit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Logger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0000" y="104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00000" y="104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0000" y="17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FFFFFF"/>
                </a:solidFill>
                <a:latin typeface="Calibri"/>
              </a:rPr>
              <a:t>Activity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Classification ML</a:t>
            </a:r>
          </a:p>
        </p:txBody>
      </p:sp>
      <p:sp>
        <p:nvSpPr>
          <p:cNvPr id="9" name="Rectangle 8"/>
          <p:cNvSpPr/>
          <p:nvPr/>
        </p:nvSpPr>
        <p:spPr>
          <a:xfrm>
            <a:off x="3000000" y="17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FFFFFF"/>
                </a:solidFill>
                <a:latin typeface="Calibri"/>
              </a:rPr>
              <a:t>Matter-Code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Assigner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00" y="17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FFFFFF"/>
                </a:solidFill>
                <a:latin typeface="Calibri"/>
              </a:rPr>
              <a:t>Narrative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Generator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0000" y="209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00000" y="209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000" y="280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LEDES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Formatter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0000" y="280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QuickBooks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API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00000" y="280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Stripe Payment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API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00000" y="314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00000" y="314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0000" y="38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Billing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Dashboard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00000" y="38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Client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Portal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00000" y="38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1099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Generator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0000" y="419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00000" y="4191000"/>
            <a:ext cx="4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91000" y="1400000"/>
            <a:ext cx="18000" cy="35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91000" y="2450000"/>
            <a:ext cx="18000" cy="35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91000" y="3500000"/>
            <a:ext cx="18000" cy="35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00000" y="1825000"/>
            <a:ext cx="1700000" cy="550000"/>
          </a:xfrm>
          <a:prstGeom prst="rect">
            <a:avLst/>
          </a:prstGeom>
          <a:solidFill>
            <a:srgbClr val="FEE2E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Time Entry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Audit Trail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00000" y="2091000"/>
            <a:ext cx="10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00000" y="2875000"/>
            <a:ext cx="1700000" cy="550000"/>
          </a:xfrm>
          <a:prstGeom prst="rect">
            <a:avLst/>
          </a:prstGeom>
          <a:solidFill>
            <a:srgbClr val="FEF3C7"/>
          </a:solidFill>
          <a:ln w="12700">
            <a:solidFill>
              <a:srgbClr val="9240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000" bIns="30000"/>
          <a:lstStyle/>
          <a:p>
            <a:pPr algn="ctr">
              <a:spcBef>
                <a:spcPts val="0"/>
              </a:spcBef>
            </a:pPr>
            <a:r>
              <a:rPr sz="900" b="1">
                <a:solidFill>
                  <a:srgbClr val="1A1A2E"/>
                </a:solidFill>
                <a:latin typeface="Calibri"/>
              </a:rPr>
              <a:t>UTBMS</a:t>
            </a:r>
          </a:p>
          <a:p>
            <a:pPr algn="ctr"/>
            <a:r>
              <a:rPr sz="700" b="0">
                <a:solidFill>
                  <a:srgbClr val="1A1A2E"/>
                </a:solidFill>
                <a:latin typeface="Calibri"/>
              </a:rPr>
              <a:t>Validator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00000" y="3141000"/>
            <a:ext cx="58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000" y="900000"/>
            <a:ext cx="34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1">
                <a:solidFill>
                  <a:srgbClr val="6B7280"/>
                </a:solidFill>
                <a:latin typeface="Calibri"/>
              </a:rPr>
              <a:t>INPUT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" y="1950000"/>
            <a:ext cx="34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1">
                <a:solidFill>
                  <a:srgbClr val="6B7280"/>
                </a:solidFill>
                <a:latin typeface="Calibri"/>
              </a:rPr>
              <a:t>AI / COMPUTE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000" y="3000000"/>
            <a:ext cx="34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1">
                <a:solidFill>
                  <a:srgbClr val="6B7280"/>
                </a:solidFill>
                <a:latin typeface="Calibri"/>
              </a:rPr>
              <a:t>INTEGRATION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" y="4050000"/>
            <a:ext cx="340000" cy="3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1">
                <a:solidFill>
                  <a:srgbClr val="6B7280"/>
                </a:solidFill>
                <a:latin typeface="Calibri"/>
              </a:rPr>
              <a:t>OUTPUT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/>
          <a:lstStyle/>
          <a:p>
            <a:pPr algn="l">
              <a:spcBef>
                <a:spcPts val="0"/>
              </a:spcBef>
            </a:pPr>
            <a:r>
              <a:rPr sz="1000">
                <a:solidFill>
                  <a:srgbClr val="FFFFFF"/>
                </a:solidFill>
                <a:latin typeface="Calibri"/>
              </a:rPr>
              <a:t>AI Engineering Business Use Cases | Confidential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24 / 52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82880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UC15 | Lease Document Generation | Template Engine + Jurisdiction-Aware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713232"/>
            <a:ext cx="54864" cy="201168"/>
          </a:xfrm>
          <a:prstGeom prst="rect">
            <a:avLst/>
          </a:prstGeom>
          <a:solidFill>
            <a:srgbClr val="E318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694944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969264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hours per lease document with manual clause selection and customization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Clause errors cause legal disputes: $45K average litigation cost per lease dispute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lease terms across agents within same brokerage, creating liability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Jurisdiction-specific requirements (state/county) missed in 6% of leases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664208"/>
            <a:ext cx="54864" cy="201168"/>
          </a:xfrm>
          <a:prstGeom prst="rect">
            <a:avLst/>
          </a:prstGeom>
          <a:solidFill>
            <a:srgbClr val="1665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645920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1920240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lease generation pulling property/tenant data from CRM automatically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Jurisdiction-aware clause library: auto-selects disclosures and addenda by state/county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E-signature integration via DocuSign with tenant identity verification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Lease comparison tool: highlights deviations from brokerage standard terms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615184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2596896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SECURITY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2871216"/>
            <a:ext cx="5559552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handling: tenant SSN/income encrypted AES-256, access-logged, purged after signing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State-specific compliance rules updated quarterly from legal database feeds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housing compliance: AI-generated terms audited for discriminatory language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7200" y="3410712"/>
            <a:ext cx="54864" cy="201168"/>
          </a:xfrm>
          <a:prstGeom prst="rect">
            <a:avLst/>
          </a:prstGeom>
          <a:solidFill>
            <a:srgbClr val="9D17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66928" y="3392424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YC COMPETITIVE LANDSCAPE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3666744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 (S20, team 90) - real estate AI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Homeflow (W23) - property management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Alude (W20) - real estate platform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Goldbridge (F25) - RE technology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40080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4652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Lease Generation (from 2-3 hrs)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905256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05256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09828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Clause Accuracy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40080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44652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Jurisdiction Errors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905256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05256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$2-4K/mo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09828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per Brokerage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400800" y="2633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510528" y="2615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INTEGRATED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92240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492240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23760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223760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DocuSign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955280" y="2907792"/>
            <a:ext cx="73152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7955280" y="29077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Zillow API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8778240" y="2907792"/>
            <a:ext cx="969264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8778240" y="2907792"/>
            <a:ext cx="9692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County Records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00800" y="3227832"/>
            <a:ext cx="54864" cy="201168"/>
          </a:xfrm>
          <a:prstGeom prst="rect">
            <a:avLst/>
          </a:prstGeom>
          <a:solidFill>
            <a:srgbClr val="92400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510528" y="320954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510528" y="3483864"/>
            <a:ext cx="5193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Leasing Agents  |  Property Managers  |  Broker Compliance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400800" y="3776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510528" y="3758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STACK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/ CAPTURE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640080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43737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data feed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DB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/ AI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774954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778611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+ lease templates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Clause selector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909828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913485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DocuSign + CRM APIs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County lookup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/ DECISION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1044702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1048359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portal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self-service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Business Use Cases | Confidential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52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4008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alibri"/>
              </a:rPr>
              <a:t>UC15 Architecture | Lease Document Generation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263640"/>
            <a:ext cx="12192000" cy="594360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355080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AI Engineering Business Use Cases | Confidential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75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CRM Data Feed</a:t>
            </a:r>
          </a:p>
        </p:txBody>
      </p:sp>
      <p:sp>
        <p:nvSpPr>
          <p:cNvPr id="7" name="Rectangle 6"/>
          <p:cNvSpPr/>
          <p:nvPr/>
        </p:nvSpPr>
        <p:spPr>
          <a:xfrm>
            <a:off x="2400000" y="10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00000" y="750000"/>
            <a:ext cx="2000000" cy="700000"/>
          </a:xfrm>
          <a:prstGeom prst="rect">
            <a:avLst/>
          </a:prstGeom>
          <a:solidFill>
            <a:srgbClr val="FEF3C7"/>
          </a:solidFill>
          <a:ln w="12700">
            <a:solidFill>
              <a:srgbClr val="9240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Property Database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5600000" y="10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00000" y="75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Tenant Application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91000" y="1450000"/>
            <a:ext cx="18000" cy="60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0000" y="20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Claude Lease Engine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00000" y="23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00000" y="20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Jurisdiction Clause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Selector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00000" y="23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00000" y="20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Addenda Generator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91000" y="2750000"/>
            <a:ext cx="18000" cy="60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0000" y="335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DocuSign eSign API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00000" y="36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00000" y="335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Identity Verification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00000" y="36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00000" y="335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County Records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Calibri"/>
              </a:rPr>
              <a:t>Lookup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91000" y="4050000"/>
            <a:ext cx="18000" cy="60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0000" y="46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Agent Portal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00000" y="49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00000" y="46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Tenant Self-Service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00000" y="49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00000" y="46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Compliance Archive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0000" y="1600000"/>
            <a:ext cx="2200000" cy="700000"/>
          </a:xfrm>
          <a:prstGeom prst="rect">
            <a:avLst/>
          </a:prstGeom>
          <a:solidFill>
            <a:srgbClr val="FEE2E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Fair Housing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Calibri"/>
              </a:rPr>
              <a:t>Auditor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00000" y="1941000"/>
            <a:ext cx="8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00000" y="3000000"/>
            <a:ext cx="2200000" cy="700000"/>
          </a:xfrm>
          <a:prstGeom prst="rect">
            <a:avLst/>
          </a:prstGeom>
          <a:solidFill>
            <a:srgbClr val="FEE2E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PII Encryption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Calibri"/>
              </a:rPr>
              <a:t>(AES-256)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00000" y="3341000"/>
            <a:ext cx="8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00000" y="6400000"/>
            <a:ext cx="12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AAAAAA"/>
                </a:solidFill>
                <a:latin typeface="Calibri"/>
              </a:rPr>
              <a:t>26 / 52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82880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UC16 | Lead Scoring &amp; Smart Routing | Predictive Analytics + CRM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713232"/>
            <a:ext cx="54864" cy="201168"/>
          </a:xfrm>
          <a:prstGeom prst="rect">
            <a:avLst/>
          </a:prstGeom>
          <a:solidFill>
            <a:srgbClr val="E318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694944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969264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of leads receive first response &gt;4 hours after inquiry, losing 35-50% of conversions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Unqualified leads consume 60% of agent follow-up time with &lt;2% conversion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CRM entry: agents spend 45 min/day on data entry instead of client engagement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source attribution broken: marketing ROI unmeasurable across channels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664208"/>
            <a:ext cx="54864" cy="201168"/>
          </a:xfrm>
          <a:prstGeom prst="rect">
            <a:avLst/>
          </a:prstGeom>
          <a:solidFill>
            <a:srgbClr val="1665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645920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1920240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lead scoring using property interest signals, financial readiness, and engagement patterns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routing to best-fit agent based on expertise, availability, and geography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CRM enrichment from Zillow listing views, ad clicks, and email engagement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trigger automation: high-score leads get instant personalized outreach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615184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2596896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SECURITY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2871216"/>
            <a:ext cx="5559552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housing: scoring model audited for demographic bias quarterly, no protected-class features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data retention: 2 years active, 5 years archived per broker compliance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management: CAN-SPAM and TCPA compliance for automated outreach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7200" y="3410712"/>
            <a:ext cx="54864" cy="201168"/>
          </a:xfrm>
          <a:prstGeom prst="rect">
            <a:avLst/>
          </a:prstGeom>
          <a:solidFill>
            <a:srgbClr val="9D17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66928" y="3392424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YC COMPETITIVE LANDSCAPE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3666744"/>
            <a:ext cx="5559552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PropReturns (S21, team 40) - RE analytics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Alto (W17) - lead qualification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Trusty (W22) - RE automation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40080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4652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Response Time (from 4 hrs)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905256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05256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09828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 Lift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40080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44652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Unqualified Follow-up Reduction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905256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05256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09828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Enrichment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400800" y="2633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510528" y="2615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INTEGRATED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92240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492240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223760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223760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Zillow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7955280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7955280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8686800" y="2907792"/>
            <a:ext cx="672084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8686800" y="2907792"/>
            <a:ext cx="6720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Email/SMS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00800" y="3227832"/>
            <a:ext cx="54864" cy="201168"/>
          </a:xfrm>
          <a:prstGeom prst="rect">
            <a:avLst/>
          </a:prstGeom>
          <a:solidFill>
            <a:srgbClr val="92400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510528" y="320954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510528" y="3483864"/>
            <a:ext cx="5193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Agents  |  Buyer Agents  |  Team Leads  |  Marketing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400800" y="3776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510528" y="3758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STACK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/ CAPTURE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640080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43737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capture forms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Zillow API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/ AI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774954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778611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scoring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ML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909828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913485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+ Meta + email APIs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Zapier triggers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/ DECISION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1044702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1048359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assignment UI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pipeline view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Business Use Cases | Confidential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52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4008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alibri"/>
              </a:rPr>
              <a:t>UC16 Architecture | Lead Scoring &amp; Smart Routing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263640"/>
            <a:ext cx="12192000" cy="594360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355080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AI Engineering Business Use Cases | Confidential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75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Lead Capture Forms</a:t>
            </a:r>
          </a:p>
        </p:txBody>
      </p:sp>
      <p:sp>
        <p:nvSpPr>
          <p:cNvPr id="7" name="Rectangle 6"/>
          <p:cNvSpPr/>
          <p:nvPr/>
        </p:nvSpPr>
        <p:spPr>
          <a:xfrm>
            <a:off x="2400000" y="10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00000" y="75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Zillow API Feed</a:t>
            </a:r>
          </a:p>
        </p:txBody>
      </p:sp>
      <p:sp>
        <p:nvSpPr>
          <p:cNvPr id="9" name="Rectangle 8"/>
          <p:cNvSpPr/>
          <p:nvPr/>
        </p:nvSpPr>
        <p:spPr>
          <a:xfrm>
            <a:off x="5600000" y="10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00000" y="75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Meta Ads Webhook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91000" y="1450000"/>
            <a:ext cx="18000" cy="60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0000" y="20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XGBoost Scoring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00000" y="23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00000" y="20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Behavioral ML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Pipeline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00000" y="23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00000" y="20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Financial Readiness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Scorer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91000" y="2750000"/>
            <a:ext cx="18000" cy="60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0000" y="335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CRM Enrichment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Calibri"/>
              </a:rPr>
              <a:t>Engine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00000" y="36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00000" y="335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Agent Matching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Calibri"/>
              </a:rPr>
              <a:t>Algorithm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00000" y="36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00000" y="335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Campaign Trigger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91000" y="4050000"/>
            <a:ext cx="18000" cy="60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0000" y="46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Response Dashboard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00000" y="49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00000" y="46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Agent Mobile App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00000" y="49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00000" y="46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Marketing ROI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Calibri"/>
              </a:rPr>
              <a:t>Tracker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0000" y="1600000"/>
            <a:ext cx="2200000" cy="700000"/>
          </a:xfrm>
          <a:prstGeom prst="rect">
            <a:avLst/>
          </a:prstGeom>
          <a:solidFill>
            <a:srgbClr val="FEE2E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Fair Housing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Calibri"/>
              </a:rPr>
              <a:t>Bias Audit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00000" y="1941000"/>
            <a:ext cx="8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00000" y="3000000"/>
            <a:ext cx="2200000" cy="700000"/>
          </a:xfrm>
          <a:prstGeom prst="rect">
            <a:avLst/>
          </a:prstGeom>
          <a:solidFill>
            <a:srgbClr val="FEE2E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CAN-SPAM/TCPA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Calibri"/>
              </a:rPr>
              <a:t>Gate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00000" y="3341000"/>
            <a:ext cx="8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00000" y="6400000"/>
            <a:ext cx="12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AAAAAA"/>
                </a:solidFill>
                <a:latin typeface="Calibri"/>
              </a:rPr>
              <a:t>28 / 52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82880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UC17 | Commission Analytics &amp; Reporting | Financial Dashboard + Rules Engine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713232"/>
            <a:ext cx="54864" cy="201168"/>
          </a:xfrm>
          <a:prstGeom prst="rect">
            <a:avLst/>
          </a:prstGeom>
          <a:solidFill>
            <a:srgbClr val="E318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694944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969264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Month-end commission calculations take 3+ days of manual spreadsheet work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Disputes from calculation errors: 12% of agents dispute commissions monthly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 visibility into earned vs pending vs paid commission status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commission scenarios (co-listing, referrals) miscalculated 8% of the time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664208"/>
            <a:ext cx="54864" cy="201168"/>
          </a:xfrm>
          <a:prstGeom prst="rect">
            <a:avLst/>
          </a:prstGeom>
          <a:solidFill>
            <a:srgbClr val="1665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645920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1920240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commission calculation engine with configurable rules for splits, tiers, and bonuses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 attribution: links listing agreements, closing docs, and payment to single record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financial dashboards for agents, team leads, and brokerage management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performance ranking with historical trend analysis and goal tracking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615184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2596896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SECURITY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2871216"/>
            <a:ext cx="5559552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data classified Level 3, SOX-adjacent controls for brokerages &gt;$10M revenue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audit trail: every calculation step logged with rule version applied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document integration: 1099 generation from commission data, IRS-compliant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40080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4652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Reports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905256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05256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99.5%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09828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 Accuracy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40080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44652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Dispute Reduction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905256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05256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09828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Performance Ranking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400800" y="2633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510528" y="2615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INTEGRATED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92240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492240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7223760" y="2907792"/>
            <a:ext cx="73152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223760" y="29077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QuickBooks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8046720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046720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Stripe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778240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8778240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400800" y="3227832"/>
            <a:ext cx="54864" cy="201168"/>
          </a:xfrm>
          <a:prstGeom prst="rect">
            <a:avLst/>
          </a:prstGeom>
          <a:solidFill>
            <a:srgbClr val="92400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510528" y="320954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510528" y="3483864"/>
            <a:ext cx="5193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 |  Brokerage Managers  |  Accounting  |  Team Leads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400800" y="3776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510528" y="3758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STACK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/ CAPTURE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640080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43737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feeds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MLS closing data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/ AI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774954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778611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rules engine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calculator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909828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913485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QB + Stripe + CRM APIs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1099 generator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/ DECISION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1044702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1048359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dashboard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leaderboard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Business Use Cases | Confidential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52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4008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alibri"/>
              </a:rPr>
              <a:t>UC17 Architecture | Commission Analytics &amp; Reporting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263640"/>
            <a:ext cx="12192000" cy="594360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355080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AI Engineering Business Use Cases | Confidential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75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Transaction Feed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Calibri"/>
              </a:rPr>
              <a:t>(MLS)</a:t>
            </a:r>
          </a:p>
        </p:txBody>
      </p:sp>
      <p:sp>
        <p:nvSpPr>
          <p:cNvPr id="7" name="Rectangle 6"/>
          <p:cNvSpPr/>
          <p:nvPr/>
        </p:nvSpPr>
        <p:spPr>
          <a:xfrm>
            <a:off x="2400000" y="10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00000" y="75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Closing Documents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600000" y="10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00000" y="75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Listing Agreements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91000" y="1450000"/>
            <a:ext cx="18000" cy="60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0000" y="20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Commission Rules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Engine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00000" y="23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00000" y="20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Split Calculator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00000" y="23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00000" y="20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Tier/Bonus Logic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91000" y="2750000"/>
            <a:ext cx="18000" cy="60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0000" y="335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QuickBooks API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00000" y="36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00000" y="335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Stripe Payment API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00000" y="36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00000" y="335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1099 Generator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91000" y="4050000"/>
            <a:ext cx="18000" cy="60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0000" y="46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Financial Dashboard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00000" y="49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00000" y="46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Agent Leaderboard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00000" y="49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00000" y="46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Dispute Resolution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Calibri"/>
              </a:rPr>
              <a:t>Portal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0000" y="1600000"/>
            <a:ext cx="2200000" cy="700000"/>
          </a:xfrm>
          <a:prstGeom prst="rect">
            <a:avLst/>
          </a:prstGeom>
          <a:solidFill>
            <a:srgbClr val="FEE2E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Calculation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Calibri"/>
              </a:rPr>
              <a:t>Audit Trail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00000" y="1941000"/>
            <a:ext cx="8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00000" y="3000000"/>
            <a:ext cx="2200000" cy="700000"/>
          </a:xfrm>
          <a:prstGeom prst="rect">
            <a:avLst/>
          </a:prstGeom>
          <a:solidFill>
            <a:srgbClr val="FEE2E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SOX Controls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00000" y="3341000"/>
            <a:ext cx="8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00000" y="6400000"/>
            <a:ext cx="12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AAAAAA"/>
                </a:solidFill>
                <a:latin typeface="Calibri"/>
              </a:rPr>
              <a:t>30 / 52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82880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UC18 | SEO Audit &amp; Optimization | Web Crawl + NLP Content Analysis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713232"/>
            <a:ext cx="54864" cy="201168"/>
          </a:xfrm>
          <a:prstGeom prst="rect">
            <a:avLst/>
          </a:prstGeom>
          <a:solidFill>
            <a:srgbClr val="E318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694944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969264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SEO audits take 20+ hours per client site with 500+ pages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outdated by publish time: 2-week lag between audit and implementation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competitive position tracking: agencies fly blind on SERP movement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SEO issues (crawl errors, schema markup) missed without engineering support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664208"/>
            <a:ext cx="54864" cy="201168"/>
          </a:xfrm>
          <a:prstGeom prst="rect">
            <a:avLst/>
          </a:prstGeom>
          <a:solidFill>
            <a:srgbClr val="1665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645920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1920240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site crawl with technical SEO scoring (Core Web Vitals, schema, accessibility)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AI-generated content recommendations: keyword gaps, topical authority mapping, intent matching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competitive position monitoring with SERP feature tracking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Prioritized fix list with estimated traffic impact per recommendation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615184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2596896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SECURITY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2871216"/>
            <a:ext cx="5559552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 rate limiting: respects robots.txt, max 5 req/sec to avoid client site impact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 data sourced from public SERPs only, no scraping of gated content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data isolated: multi-tenant architecture with per-client encryption keys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57200" y="3410712"/>
            <a:ext cx="54864" cy="201168"/>
          </a:xfrm>
          <a:prstGeom prst="rect">
            <a:avLst/>
          </a:prstGeom>
          <a:solidFill>
            <a:srgbClr val="9D17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66928" y="3392424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YC COMPETITIVE LANDSCAPE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3666744"/>
            <a:ext cx="5559552" cy="155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Positional (S21, acquired) - SEO tooling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40080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40080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hrs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4652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Time (from 20+)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905256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05256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Per-page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09828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 Recommendations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40080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44652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Tracking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905256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05256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$2-4K/mo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09828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per Agency Client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400800" y="2633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510528" y="2615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INTEGRATED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92240" y="2907792"/>
            <a:ext cx="1088136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492240" y="2907792"/>
            <a:ext cx="10881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Analytics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671816" y="2907792"/>
            <a:ext cx="969264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671816" y="2907792"/>
            <a:ext cx="9692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Console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8732520" y="2907792"/>
            <a:ext cx="672084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732520" y="2907792"/>
            <a:ext cx="6720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WordPress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9496044" y="2907792"/>
            <a:ext cx="969264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9496044" y="2907792"/>
            <a:ext cx="9692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Screaming Frog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00800" y="3227832"/>
            <a:ext cx="54864" cy="201168"/>
          </a:xfrm>
          <a:prstGeom prst="rect">
            <a:avLst/>
          </a:prstGeom>
          <a:solidFill>
            <a:srgbClr val="92400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510528" y="320954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510528" y="3483864"/>
            <a:ext cx="5193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Specialists  |  Content Strategists  |  Agency Account Managers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400800" y="3776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510528" y="3758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STACK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/ CAPTURE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640080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43737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crawler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Sitemap parser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/ AI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774954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778611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content analysis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gap ML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909828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913485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+ Search Console APIs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SERP tracker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/ DECISION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1044702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1048359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dashboard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report generator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Business Use Cases | Confidential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/ 52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4008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alibri"/>
              </a:rPr>
              <a:t>UC18 Architecture | SEO Audit &amp; Optimization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263640"/>
            <a:ext cx="12192000" cy="594360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355080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AI Engineering Business Use Cases | Confidential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75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Sitemap Parser</a:t>
            </a:r>
          </a:p>
        </p:txBody>
      </p:sp>
      <p:sp>
        <p:nvSpPr>
          <p:cNvPr id="7" name="Rectangle 6"/>
          <p:cNvSpPr/>
          <p:nvPr/>
        </p:nvSpPr>
        <p:spPr>
          <a:xfrm>
            <a:off x="2400000" y="10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00000" y="75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Web Crawler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Calibri"/>
              </a:rPr>
              <a:t>(rate-limited)</a:t>
            </a:r>
          </a:p>
        </p:txBody>
      </p:sp>
      <p:sp>
        <p:nvSpPr>
          <p:cNvPr id="9" name="Rectangle 8"/>
          <p:cNvSpPr/>
          <p:nvPr/>
        </p:nvSpPr>
        <p:spPr>
          <a:xfrm>
            <a:off x="5600000" y="10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00000" y="75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Competitor SERP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Calibri"/>
              </a:rPr>
              <a:t>Tracker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91000" y="1450000"/>
            <a:ext cx="18000" cy="60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0000" y="20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NLP Content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Analyzer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00000" y="23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00000" y="20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Keyword Gap ML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00000" y="23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00000" y="20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Technical SEO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Scorer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91000" y="2750000"/>
            <a:ext cx="18000" cy="60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0000" y="335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Google Analytics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Calibri"/>
              </a:rPr>
              <a:t>API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00000" y="36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00000" y="335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Search Console API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00000" y="36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00000" y="335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Core Web Vitals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Calibri"/>
              </a:rPr>
              <a:t>Monitor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91000" y="4050000"/>
            <a:ext cx="18000" cy="60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0000" y="46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SEO Dashboard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00000" y="49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00000" y="46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Client Report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Calibri"/>
              </a:rPr>
              <a:t>Generator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00000" y="49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00000" y="46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Fix Priority Queue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0000" y="1600000"/>
            <a:ext cx="2200000" cy="700000"/>
          </a:xfrm>
          <a:prstGeom prst="rect">
            <a:avLst/>
          </a:prstGeom>
          <a:solidFill>
            <a:srgbClr val="FEE2E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robots.txt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Calibri"/>
              </a:rPr>
              <a:t>Respector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00000" y="1941000"/>
            <a:ext cx="8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00000" y="3000000"/>
            <a:ext cx="2200000" cy="700000"/>
          </a:xfrm>
          <a:prstGeom prst="rect">
            <a:avLst/>
          </a:prstGeom>
          <a:solidFill>
            <a:srgbClr val="FEE2E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Multi-Tenant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Calibri"/>
              </a:rPr>
              <a:t>Isolation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00000" y="3341000"/>
            <a:ext cx="8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00000" y="6400000"/>
            <a:ext cx="12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AAAAAA"/>
                </a:solidFill>
                <a:latin typeface="Calibri"/>
              </a:rPr>
              <a:t>32 / 52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82880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UC19 | Campaign Performance Dashboard | Multi-Platform Analytics Aggregation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713232"/>
            <a:ext cx="54864" cy="201168"/>
          </a:xfrm>
          <a:prstGeom prst="rect">
            <a:avLst/>
          </a:prstGeom>
          <a:solidFill>
            <a:srgbClr val="E318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694944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969264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8+ hours/week per account manager on manual reporting across 5+ ad platforms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metrics: each platform defines conversion/attribution differently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reporting delays: 3-5 business days from period end to report delivery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manual: budget overspend or performance drops caught late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664208"/>
            <a:ext cx="54864" cy="201168"/>
          </a:xfrm>
          <a:prstGeom prst="rect">
            <a:avLst/>
          </a:prstGeom>
          <a:solidFill>
            <a:srgbClr val="1665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645920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1920240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data ingestion from Google Ads, Meta, LinkedIn, TikTok, and programmatic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metric normalization: standardized attribution model across all platforms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insight generation: auto-surfaces trends, anomalies, and optimization opportunities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White-label client-facing dashboards with automated weekly/monthly report generation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615184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2596896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SECURITY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2871216"/>
            <a:ext cx="5559552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API usage within rate limits and ToS; OAuth tokens rotated per platform policy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ad spend data classified Level 2, segregated per client in multi-tenant DB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GDPR: no PII in marketing analytics; all data aggregated above individual level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40080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4652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Dashboard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905256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05256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09828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Time Reduction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40080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44652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Report Generation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905256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05256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09828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400800" y="2633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510528" y="2615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INTEGRATED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92240" y="2907792"/>
            <a:ext cx="1088136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492240" y="2907792"/>
            <a:ext cx="10881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Analytics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7671816" y="2907792"/>
            <a:ext cx="850392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671816" y="2907792"/>
            <a:ext cx="850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Ads API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8613648" y="2907792"/>
            <a:ext cx="850392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613648" y="2907792"/>
            <a:ext cx="850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Ads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9555480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9555480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400800" y="3227832"/>
            <a:ext cx="54864" cy="201168"/>
          </a:xfrm>
          <a:prstGeom prst="rect">
            <a:avLst/>
          </a:prstGeom>
          <a:solidFill>
            <a:srgbClr val="92400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510528" y="320954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510528" y="3483864"/>
            <a:ext cx="5193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Managers  |  Media Buyers  |  Agency Directors  |  Clients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400800" y="3776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510528" y="3758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STACK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/ CAPTURE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640080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43737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API connectors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pipelines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/ AI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774954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778611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aggregation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ML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909828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913485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APIs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/ DECISION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1044702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1048359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dashboard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PDF generator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Business Use Cases | Confidential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/ 52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4008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alibri"/>
              </a:rPr>
              <a:t>UC19 Architecture | Campaign Performance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263640"/>
            <a:ext cx="12192000" cy="594360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355080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AI Engineering Business Use Cases | Confidential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75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Google Ads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400000" y="10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00000" y="75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Meta Ads API</a:t>
            </a:r>
          </a:p>
        </p:txBody>
      </p:sp>
      <p:sp>
        <p:nvSpPr>
          <p:cNvPr id="9" name="Rectangle 8"/>
          <p:cNvSpPr/>
          <p:nvPr/>
        </p:nvSpPr>
        <p:spPr>
          <a:xfrm>
            <a:off x="5600000" y="10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00000" y="75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LinkedIn/TikTok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Calibri"/>
              </a:rPr>
              <a:t>APIs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91000" y="1450000"/>
            <a:ext cx="18000" cy="60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0000" y="20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ETL Pipeline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00000" y="23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00000" y="20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Attribution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Normalizer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00000" y="23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00000" y="20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Anomaly Detection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ML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91000" y="2750000"/>
            <a:ext cx="18000" cy="60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0000" y="3350000"/>
            <a:ext cx="2000000" cy="700000"/>
          </a:xfrm>
          <a:prstGeom prst="rect">
            <a:avLst/>
          </a:prstGeom>
          <a:solidFill>
            <a:srgbClr val="FEF3C7"/>
          </a:solidFill>
          <a:ln w="12700">
            <a:solidFill>
              <a:srgbClr val="9240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Data Warehouse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Calibri"/>
              </a:rPr>
              <a:t>(unified)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00000" y="36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00000" y="335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Metric Aggregator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00000" y="36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00000" y="335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Insight Generator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91000" y="4050000"/>
            <a:ext cx="18000" cy="60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0000" y="46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Client Dashboard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Calibri"/>
              </a:rPr>
              <a:t>(white-label)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00000" y="49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00000" y="46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Report PDF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Calibri"/>
              </a:rPr>
              <a:t>Generator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00000" y="49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00000" y="46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Budget Alert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Calibri"/>
              </a:rPr>
              <a:t>Engine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0000" y="1600000"/>
            <a:ext cx="2200000" cy="700000"/>
          </a:xfrm>
          <a:prstGeom prst="rect">
            <a:avLst/>
          </a:prstGeom>
          <a:solidFill>
            <a:srgbClr val="FEE2E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OAuth Token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Calibri"/>
              </a:rPr>
              <a:t>Rotation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00000" y="1941000"/>
            <a:ext cx="8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00000" y="3000000"/>
            <a:ext cx="2200000" cy="700000"/>
          </a:xfrm>
          <a:prstGeom prst="rect">
            <a:avLst/>
          </a:prstGeom>
          <a:solidFill>
            <a:srgbClr val="FEE2E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GDPR Aggregation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Calibri"/>
              </a:rPr>
              <a:t>Gate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00000" y="3341000"/>
            <a:ext cx="8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00000" y="6400000"/>
            <a:ext cx="12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AAAAAA"/>
                </a:solidFill>
                <a:latin typeface="Calibri"/>
              </a:rPr>
              <a:t>34 / 52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182880"/>
            <a:ext cx="11338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UC20 | Content Pipeline Automation | AI Content Generation + Workflow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713232"/>
            <a:ext cx="54864" cy="201168"/>
          </a:xfrm>
          <a:prstGeom prst="rect">
            <a:avLst/>
          </a:prstGeom>
          <a:solidFill>
            <a:srgbClr val="E318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694944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969264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5-day average content cycle from brief to publish across approval chains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bottlenecks: content sits 2+ days in review queues awaiting stakeholders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 brand voice across channels: blog, social, email, and ad copy diverge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A/B testing setup: 3+ hours per test, limiting experimentation velocity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664208"/>
            <a:ext cx="54864" cy="201168"/>
          </a:xfrm>
          <a:prstGeom prst="rect">
            <a:avLst/>
          </a:prstGeom>
          <a:solidFill>
            <a:srgbClr val="1665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645920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1920240"/>
            <a:ext cx="555955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content generation from structured briefs with brand voice model fine-tuning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approval workflows with parallel reviewer routing and deadline escalation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Multi-channel publishing: one brief generates blog, social, email, and ad variants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A/B variant generation with performance-based winner selection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615184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2596896"/>
            <a:ext cx="555955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SECURITY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2871216"/>
            <a:ext cx="5559552" cy="4663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guidelines enforced via style model: tone, terminology, and visual standards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audit trail: every generation, edit, and approval timestamped and attributed</a:t>
            </a:r>
            <a:endParaRPr lang="en-US" sz="8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FTC compliance: AI-generated content flagged for disclosure where required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40080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0080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day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4652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Cycle (from 5 days)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9052560" y="71323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052560" y="74980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098280" y="108630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Approvals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40080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44652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Voice Scoring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9052560" y="1673352"/>
            <a:ext cx="246888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052560" y="1709928"/>
            <a:ext cx="246888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098280" y="2046427"/>
            <a:ext cx="237744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Variant Generation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400800" y="2633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510528" y="2615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INTEGRATED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92240" y="2907792"/>
            <a:ext cx="672084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492240" y="2907792"/>
            <a:ext cx="6720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WordPress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7255764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255764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987284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987284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718804" y="2907792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8718804" y="290779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400800" y="3227832"/>
            <a:ext cx="54864" cy="201168"/>
          </a:xfrm>
          <a:prstGeom prst="rect">
            <a:avLst/>
          </a:prstGeom>
          <a:solidFill>
            <a:srgbClr val="92400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510528" y="320954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USERS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510528" y="3483864"/>
            <a:ext cx="5193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Managers  |  Copywriters  |  Brand Managers  |  Social Media Leads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400800" y="3776472"/>
            <a:ext cx="54864" cy="20116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510528" y="3758184"/>
            <a:ext cx="5193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STACK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/ CAPTURE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640080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43737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brief input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library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/ AI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774954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778611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generation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voice model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909828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913485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 + social APIs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platform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/ DECISION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10447020" y="4251960"/>
            <a:ext cx="1257300" cy="502920"/>
          </a:xfrm>
          <a:prstGeom prst="rect">
            <a:avLst/>
          </a:prstGeom>
          <a:solidFill>
            <a:srgbClr val="F0F2F5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10483596" y="4270248"/>
            <a:ext cx="118414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Editorial dashboard</a:t>
            </a:r>
            <a:endParaRPr lang="en-US" sz="7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 scheduler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Business Use Cases | Confidential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/ 52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4008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alibri"/>
              </a:rPr>
              <a:t>UC20 Architecture | Content Pipeline Automation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263640"/>
            <a:ext cx="12192000" cy="594360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355080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AI Engineering Business Use Cases | Confidential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000" y="75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Content Brief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Calibri"/>
              </a:rPr>
              <a:t>Input</a:t>
            </a:r>
          </a:p>
        </p:txBody>
      </p:sp>
      <p:sp>
        <p:nvSpPr>
          <p:cNvPr id="7" name="Rectangle 6"/>
          <p:cNvSpPr/>
          <p:nvPr/>
        </p:nvSpPr>
        <p:spPr>
          <a:xfrm>
            <a:off x="2400000" y="10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00000" y="750000"/>
            <a:ext cx="2000000" cy="700000"/>
          </a:xfrm>
          <a:prstGeom prst="rect">
            <a:avLst/>
          </a:prstGeom>
          <a:solidFill>
            <a:srgbClr val="FEF3C7"/>
          </a:solidFill>
          <a:ln w="12700">
            <a:solidFill>
              <a:srgbClr val="9240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Asset Library</a:t>
            </a:r>
          </a:p>
        </p:txBody>
      </p:sp>
      <p:sp>
        <p:nvSpPr>
          <p:cNvPr id="9" name="Rectangle 8"/>
          <p:cNvSpPr/>
          <p:nvPr/>
        </p:nvSpPr>
        <p:spPr>
          <a:xfrm>
            <a:off x="5600000" y="10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00000" y="750000"/>
            <a:ext cx="2000000" cy="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Brand Voice 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91000" y="1450000"/>
            <a:ext cx="18000" cy="60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0000" y="20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Claude Content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Generator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00000" y="23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00000" y="20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Multi-Channel</a:t>
            </a:r>
          </a:p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Adapter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00000" y="23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00000" y="2050000"/>
            <a:ext cx="2000000" cy="700000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A/B Variant Engine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91000" y="2750000"/>
            <a:ext cx="18000" cy="60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00000" y="335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Approval Workflow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Calibri"/>
              </a:rPr>
              <a:t>Router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00000" y="36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00000" y="335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Stakeholder Review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Calibri"/>
              </a:rPr>
              <a:t>Queue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00000" y="36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00000" y="3350000"/>
            <a:ext cx="2000000" cy="700000"/>
          </a:xfrm>
          <a:prstGeom prst="rect">
            <a:avLst/>
          </a:prstGeom>
          <a:solidFill>
            <a:srgbClr val="E0E7FF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Escalation Timer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91000" y="4050000"/>
            <a:ext cx="18000" cy="60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0000" y="46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CMS Publisher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00000" y="49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00000" y="46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Social Scheduler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Calibri"/>
              </a:rPr>
              <a:t>(Buffer)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00000" y="4991000"/>
            <a:ext cx="12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00000" y="4650000"/>
            <a:ext cx="2000000" cy="700000"/>
          </a:xfrm>
          <a:prstGeom prst="rect">
            <a:avLst/>
          </a:prstGeom>
          <a:solidFill>
            <a:srgbClr val="DCFCE7"/>
          </a:solidFill>
          <a:ln w="127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Email Platform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0000" y="1600000"/>
            <a:ext cx="2200000" cy="700000"/>
          </a:xfrm>
          <a:prstGeom prst="rect">
            <a:avLst/>
          </a:prstGeom>
          <a:solidFill>
            <a:srgbClr val="FEE2E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FTC Disclosure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Calibri"/>
              </a:rPr>
              <a:t>Flagger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00000" y="1941000"/>
            <a:ext cx="8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00000" y="3000000"/>
            <a:ext cx="2200000" cy="700000"/>
          </a:xfrm>
          <a:prstGeom prst="rect">
            <a:avLst/>
          </a:prstGeom>
          <a:solidFill>
            <a:srgbClr val="FEE2E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Brand Guideline</a:t>
            </a:r>
          </a:p>
          <a:p>
            <a:pPr algn="ctr"/>
            <a:r>
              <a:rPr sz="700" b="0">
                <a:solidFill>
                  <a:srgbClr val="1A1A1A"/>
                </a:solidFill>
                <a:latin typeface="Calibri"/>
              </a:rPr>
              <a:t>Enforcer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00000" y="3341000"/>
            <a:ext cx="80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00000" y="6400000"/>
            <a:ext cx="12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00">
                <a:solidFill>
                  <a:srgbClr val="AAAAAA"/>
                </a:solidFill>
                <a:latin typeface="Calibri"/>
              </a:rPr>
              <a:t>36 / 52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alibri"/>
              </a:rPr>
              <a:t>UC21 | AI-Powered Code Generation | Autonomous Issue Resolution + PR Generation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13232"/>
            <a:ext cx="54864" cy="20116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94944"/>
            <a:ext cx="5559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E31837"/>
                </a:solidFill>
                <a:latin typeface="Calibri"/>
              </a:rP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69264"/>
            <a:ext cx="5559552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1A1A1A"/>
                </a:solidFill>
                <a:latin typeface="Calibri"/>
              </a:rPr>
              <a:t>Developer time wasted on routine bug fixes: 30-40% of engineering hours spent on low-complexity issues</a:t>
            </a:r>
          </a:p>
          <a:p>
            <a:r>
              <a:rPr sz="850">
                <a:solidFill>
                  <a:srgbClr val="1A1A1A"/>
                </a:solidFill>
                <a:latin typeface="Calibri"/>
              </a:rPr>
              <a:t>PR review bottleneck: average 2-day cycle time from issue to merged fix</a:t>
            </a:r>
          </a:p>
          <a:p>
            <a:r>
              <a:rPr sz="850">
                <a:solidFill>
                  <a:srgbClr val="1A1A1A"/>
                </a:solidFill>
                <a:latin typeface="Calibri"/>
              </a:rPr>
              <a:t>Legacy codebases accumulate 200+ open issues with no bandwidth for resolution</a:t>
            </a:r>
          </a:p>
          <a:p>
            <a:r>
              <a:rPr sz="850">
                <a:solidFill>
                  <a:srgbClr val="1A1A1A"/>
                </a:solidFill>
                <a:latin typeface="Calibri"/>
              </a:rPr>
              <a:t>Junior developer onboarding takes 3-6 months before meaningful code contributions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64208"/>
            <a:ext cx="54864" cy="201168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645920"/>
            <a:ext cx="5559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66534"/>
                </a:solidFill>
                <a:latin typeface="Calibri"/>
              </a:rPr>
              <a:t>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920240"/>
            <a:ext cx="5559552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1A1A1A"/>
                </a:solidFill>
                <a:latin typeface="Calibri"/>
              </a:rPr>
              <a:t>OpenHands-style autonomous agents: analyze GitHub issues, write fixes, open PRs for human review</a:t>
            </a:r>
          </a:p>
          <a:p>
            <a:r>
              <a:rPr sz="850">
                <a:solidFill>
                  <a:srgbClr val="1A1A1A"/>
                </a:solidFill>
                <a:latin typeface="Calibri"/>
              </a:rPr>
              <a:t>Sandboxed execution: every agent runs in isolated Docker container with full dev environment</a:t>
            </a:r>
          </a:p>
          <a:p>
            <a:r>
              <a:rPr sz="850">
                <a:solidFill>
                  <a:srgbClr val="1A1A1A"/>
                </a:solidFill>
                <a:latin typeface="Calibri"/>
              </a:rPr>
              <a:t>Event-sourced architecture: deterministic replay, full audit trail of every agent action</a:t>
            </a:r>
          </a:p>
          <a:p>
            <a:r>
              <a:rPr sz="850">
                <a:solidFill>
                  <a:srgbClr val="1A1A1A"/>
                </a:solidFill>
                <a:latin typeface="Calibri"/>
              </a:rPr>
              <a:t>Self-improving pipeline: 37% of agent's own codebase commits written by the agent itself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15184"/>
            <a:ext cx="54864" cy="20116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596896"/>
            <a:ext cx="5559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B6E"/>
                </a:solidFill>
                <a:latin typeface="Calibri"/>
              </a:rPr>
              <a:t>GOVERNANCE &amp; SECURITY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871216"/>
            <a:ext cx="5559552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1A1A1A"/>
                </a:solidFill>
                <a:latin typeface="Calibri"/>
              </a:rPr>
              <a:t>All AI-generated code marked as AI-assisted; human approval required before merge</a:t>
            </a:r>
          </a:p>
          <a:p>
            <a:r>
              <a:rPr sz="850">
                <a:solidFill>
                  <a:srgbClr val="1A1A1A"/>
                </a:solidFill>
                <a:latin typeface="Calibri"/>
              </a:rPr>
              <a:t>Sandboxed execution prevents host system access; secrets masked in all outputs</a:t>
            </a:r>
          </a:p>
          <a:p>
            <a:r>
              <a:rPr sz="850">
                <a:solidFill>
                  <a:srgbClr val="1A1A1A"/>
                </a:solidFill>
                <a:latin typeface="Calibri"/>
              </a:rPr>
              <a:t>SecurityAnalyzer rates tool calls LOW/MEDIUM/HIGH risk with confirmation policies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10712"/>
            <a:ext cx="54864" cy="201168"/>
          </a:xfrm>
          <a:prstGeom prst="rect">
            <a:avLst/>
          </a:prstGeom>
          <a:solidFill>
            <a:srgbClr val="9D1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392424"/>
            <a:ext cx="5559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D174D"/>
                </a:solidFill>
                <a:latin typeface="Calibri"/>
              </a:rPr>
              <a:t>YC COMPETITIVE LANDSCAPE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666744"/>
            <a:ext cx="5559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1A1A1A"/>
                </a:solidFill>
                <a:latin typeface="Calibri"/>
              </a:rPr>
              <a:t>OpenHands / All Hands AI (74.6k★) - open-source autonomous dev agents</a:t>
            </a:r>
          </a:p>
          <a:p>
            <a:r>
              <a:rPr sz="800">
                <a:solidFill>
                  <a:srgbClr val="1A1A1A"/>
                </a:solidFill>
                <a:latin typeface="Calibri"/>
              </a:rPr>
              <a:t>Devin / Cognition (funded $175M) - commercial AI developer</a:t>
            </a:r>
          </a:p>
          <a:p>
            <a:r>
              <a:rPr sz="800">
                <a:solidFill>
                  <a:srgbClr val="1A1A1A"/>
                </a:solidFill>
                <a:latin typeface="Calibri"/>
              </a:rPr>
              <a:t>Factory AI (S24) - autonomous code agents</a:t>
            </a:r>
          </a:p>
          <a:p>
            <a:r>
              <a:rPr sz="800">
                <a:solidFill>
                  <a:srgbClr val="1A1A1A"/>
                </a:solidFill>
                <a:latin typeface="Calibri"/>
              </a:rPr>
              <a:t>Sweep AI (S23) - automated PR generation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713232"/>
            <a:ext cx="2468880" cy="7772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749808"/>
            <a:ext cx="2468880" cy="388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31837"/>
                </a:solidFill>
                <a:latin typeface="Calibri"/>
              </a:rPr>
              <a:t>77.6%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086307"/>
            <a:ext cx="2377440" cy="3730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6B7280"/>
                </a:solidFill>
                <a:latin typeface="Calibri"/>
              </a:rPr>
              <a:t>SWE-Bench Resolve Rate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713232"/>
            <a:ext cx="2468880" cy="7772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749808"/>
            <a:ext cx="2468880" cy="388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31837"/>
                </a:solidFill>
                <a:latin typeface="Calibri"/>
              </a:rPr>
              <a:t>~$3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1086307"/>
            <a:ext cx="2377440" cy="3730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6B7280"/>
                </a:solidFill>
                <a:latin typeface="Calibri"/>
              </a:rPr>
              <a:t>Cost per Generated PR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1673352"/>
            <a:ext cx="2468880" cy="7772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709928"/>
            <a:ext cx="2468880" cy="388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31837"/>
                </a:solidFill>
                <a:latin typeface="Calibri"/>
              </a:rPr>
              <a:t>37%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046427"/>
            <a:ext cx="2377440" cy="3730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6B7280"/>
                </a:solidFill>
                <a:latin typeface="Calibri"/>
              </a:rPr>
              <a:t>Self-Written Commits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1673352"/>
            <a:ext cx="2468880" cy="7772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0" y="1709928"/>
            <a:ext cx="2468880" cy="388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31837"/>
                </a:solidFill>
                <a:latin typeface="Calibri"/>
              </a:rPr>
              <a:t>2-4 wk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2046427"/>
            <a:ext cx="2377440" cy="3730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6B7280"/>
                </a:solidFill>
                <a:latin typeface="Calibri"/>
              </a:rPr>
              <a:t>Deployment Timeline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2633472"/>
            <a:ext cx="54864" cy="20116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2615184"/>
            <a:ext cx="51937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B6E"/>
                </a:solidFill>
                <a:latin typeface="Calibri"/>
              </a:rPr>
              <a:t>SYSTEMS INTEGRATED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2907792"/>
            <a:ext cx="640080" cy="21945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2907792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1F3B6E"/>
                </a:solidFill>
                <a:latin typeface="Calibri"/>
              </a:rPr>
              <a:t>GitHub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3760" y="2907792"/>
            <a:ext cx="640080" cy="21945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23760" y="2907792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1F3B6E"/>
                </a:solidFill>
                <a:latin typeface="Calibri"/>
              </a:rPr>
              <a:t>GitLab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55280" y="2907792"/>
            <a:ext cx="640080" cy="21945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5280" y="2907792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1F3B6E"/>
                </a:solidFill>
                <a:latin typeface="Calibri"/>
              </a:rPr>
              <a:t>Docker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86800" y="2907792"/>
            <a:ext cx="640080" cy="21945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0" y="2907792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1F3B6E"/>
                </a:solidFill>
                <a:latin typeface="Calibri"/>
              </a:rPr>
              <a:t>CI/CD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3227832"/>
            <a:ext cx="54864" cy="201168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528" y="3209544"/>
            <a:ext cx="51937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2400E"/>
                </a:solidFill>
                <a:latin typeface="Calibri"/>
              </a:rPr>
              <a:t>TARGET USERS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3483864"/>
            <a:ext cx="51937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1A1A1A"/>
                </a:solidFill>
                <a:latin typeface="Calibri"/>
              </a:rPr>
              <a:t>Engineering Leads  |  DevOps Managers  |  VP Engineering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3776472"/>
            <a:ext cx="54864" cy="20116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10528" y="3758184"/>
            <a:ext cx="51937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B6E"/>
                </a:solidFill>
                <a:latin typeface="Calibri"/>
              </a:rPr>
              <a:t>SOLUTION STACK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AGENT / SDK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4251960"/>
            <a:ext cx="1257300" cy="502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37376" y="4270248"/>
            <a:ext cx="11841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>
                <a:solidFill>
                  <a:srgbClr val="1A1A1A"/>
                </a:solidFill>
                <a:latin typeface="Calibri"/>
              </a:rPr>
              <a:t>OpenHands SDK</a:t>
            </a:r>
          </a:p>
          <a:p>
            <a:r>
              <a:rPr sz="700">
                <a:solidFill>
                  <a:srgbClr val="1A1A1A"/>
                </a:solidFill>
                <a:latin typeface="Calibri"/>
              </a:rPr>
              <a:t>CodeAct agent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COMPUTE / AI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49540" y="4251960"/>
            <a:ext cx="1257300" cy="502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86116" y="4270248"/>
            <a:ext cx="11841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>
                <a:solidFill>
                  <a:srgbClr val="1A1A1A"/>
                </a:solidFill>
                <a:latin typeface="Calibri"/>
              </a:rPr>
              <a:t>Claude 4.5 Opus</a:t>
            </a:r>
          </a:p>
          <a:p>
            <a:r>
              <a:rPr sz="700">
                <a:solidFill>
                  <a:srgbClr val="1A1A1A"/>
                </a:solidFill>
                <a:latin typeface="Calibri"/>
              </a:rPr>
              <a:t>GPT-5.2 Codex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INTEGRATION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98280" y="4251960"/>
            <a:ext cx="1257300" cy="502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34856" y="4270248"/>
            <a:ext cx="11841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>
                <a:solidFill>
                  <a:srgbClr val="1A1A1A"/>
                </a:solidFill>
                <a:latin typeface="Calibri"/>
              </a:rPr>
              <a:t>GitHub Actions</a:t>
            </a:r>
          </a:p>
          <a:p>
            <a:r>
              <a:rPr sz="700">
                <a:solidFill>
                  <a:srgbClr val="1A1A1A"/>
                </a:solidFill>
                <a:latin typeface="Calibri"/>
              </a:rPr>
              <a:t>MCP connectors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UX / DECISION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447020" y="4251960"/>
            <a:ext cx="1257300" cy="502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483596" y="4270248"/>
            <a:ext cx="11841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>
                <a:solidFill>
                  <a:srgbClr val="1A1A1A"/>
                </a:solidFill>
                <a:latin typeface="Calibri"/>
              </a:rPr>
              <a:t>PR review portal</a:t>
            </a:r>
          </a:p>
          <a:p>
            <a:r>
              <a:rPr sz="700">
                <a:solidFill>
                  <a:srgbClr val="1A1A1A"/>
                </a:solidFill>
                <a:latin typeface="Calibri"/>
              </a:rPr>
              <a:t>Agent dashboard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AI Engineering Business Use Cases | Confidential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>
                <a:solidFill>
                  <a:srgbClr val="AAAAAA"/>
                </a:solidFill>
                <a:latin typeface="Calibri"/>
              </a:rPr>
              <a:t>37 / 52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UC21 Architecture | AI-Powered Code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000" y="995000"/>
            <a:ext cx="330000" cy="1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" b="1">
                <a:solidFill>
                  <a:srgbClr val="6B7280"/>
                </a:solidFill>
                <a:latin typeface="Calibri"/>
              </a:rPr>
              <a:t>TRIGGER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000" y="750000"/>
            <a:ext cx="1400000" cy="65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GitHub Issue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webhook trigger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0000" y="1066000"/>
            <a:ext cx="28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 rot="5400000">
            <a:off x="2090000" y="1035000"/>
            <a:ext cx="80000" cy="8000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0000" y="750000"/>
            <a:ext cx="1400000" cy="65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Webhook /
Label Event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event filter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0000" y="1066000"/>
            <a:ext cx="28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5400000">
            <a:off x="3810000" y="1035000"/>
            <a:ext cx="80000" cy="8000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000" y="750000"/>
            <a:ext cx="1400000" cy="650000"/>
          </a:xfrm>
          <a:prstGeom prst="rect">
            <a:avLst/>
          </a:prstGeom>
          <a:solidFill>
            <a:srgbClr val="E0E7FF"/>
          </a:solidFill>
          <a:ln w="1524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Agent Server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FastAPI runtime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00" y="1845000"/>
            <a:ext cx="330000" cy="1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" b="1">
                <a:solidFill>
                  <a:srgbClr val="6B7280"/>
                </a:solidFill>
                <a:latin typeface="Calibri"/>
              </a:rPr>
              <a:t>AGENT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0000" y="1600000"/>
            <a:ext cx="1400000" cy="650000"/>
          </a:xfrm>
          <a:prstGeom prst="rect">
            <a:avLst/>
          </a:prstGeom>
          <a:solidFill>
            <a:srgbClr val="1F3B6E"/>
          </a:solidFill>
          <a:ln w="15240">
            <a:solidFill>
              <a:srgbClr val="1F3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CodeAct Agent</a:t>
            </a:r>
          </a:p>
          <a:p>
            <a:pPr algn="ctr"/>
            <a:r>
              <a:rPr sz="700">
                <a:solidFill>
                  <a:srgbClr val="BBBBBB"/>
                </a:solidFill>
                <a:latin typeface="Calibri"/>
              </a:rPr>
              <a:t>plan + execute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0000" y="1916000"/>
            <a:ext cx="28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 rot="5400000">
            <a:off x="2090000" y="1885000"/>
            <a:ext cx="80000" cy="8000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20000" y="1600000"/>
            <a:ext cx="1400000" cy="650000"/>
          </a:xfrm>
          <a:prstGeom prst="rect">
            <a:avLst/>
          </a:prstGeom>
          <a:solidFill>
            <a:srgbClr val="1F3B6E"/>
          </a:solidFill>
          <a:ln w="15240">
            <a:solidFill>
              <a:srgbClr val="1F3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LLM Router</a:t>
            </a:r>
          </a:p>
          <a:p>
            <a:pPr algn="ctr"/>
            <a:r>
              <a:rPr sz="700">
                <a:solidFill>
                  <a:srgbClr val="BBBBBB"/>
                </a:solidFill>
                <a:latin typeface="Calibri"/>
              </a:rPr>
              <a:t>LiteLLM proxy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0000" y="1916000"/>
            <a:ext cx="28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 rot="5400000">
            <a:off x="3810000" y="1885000"/>
            <a:ext cx="80000" cy="8000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000" y="1600000"/>
            <a:ext cx="1400000" cy="650000"/>
          </a:xfrm>
          <a:prstGeom prst="rect">
            <a:avLst/>
          </a:prstGeom>
          <a:solidFill>
            <a:srgbClr val="1F3B6E"/>
          </a:solidFill>
          <a:ln w="15240">
            <a:solidFill>
              <a:srgbClr val="1F3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Claude 4.5 /
GPT-5.2</a:t>
            </a:r>
          </a:p>
          <a:p>
            <a:pPr algn="ctr"/>
            <a:r>
              <a:rPr sz="700">
                <a:solidFill>
                  <a:srgbClr val="BBBBBB"/>
                </a:solidFill>
                <a:latin typeface="Calibri"/>
              </a:rPr>
              <a:t>model backend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00" y="2695000"/>
            <a:ext cx="330000" cy="1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" b="1">
                <a:solidFill>
                  <a:srgbClr val="6B7280"/>
                </a:solidFill>
                <a:latin typeface="Calibri"/>
              </a:rPr>
              <a:t>EXEC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0000" y="2450000"/>
            <a:ext cx="1400000" cy="650000"/>
          </a:xfrm>
          <a:prstGeom prst="rect">
            <a:avLst/>
          </a:prstGeom>
          <a:solidFill>
            <a:srgbClr val="E0E7FF"/>
          </a:solidFill>
          <a:ln w="1524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Docker Sandbox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isolated runtime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0000" y="2766000"/>
            <a:ext cx="28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 rot="5400000">
            <a:off x="2090000" y="2735000"/>
            <a:ext cx="80000" cy="8000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20000" y="2450000"/>
            <a:ext cx="1400000" cy="650000"/>
          </a:xfrm>
          <a:prstGeom prst="rect">
            <a:avLst/>
          </a:prstGeom>
          <a:solidFill>
            <a:srgbClr val="E0E7FF"/>
          </a:solidFill>
          <a:ln w="1524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Bash + Python
+ Browser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tool execution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0000" y="2766000"/>
            <a:ext cx="28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 rot="5400000">
            <a:off x="3810000" y="2735000"/>
            <a:ext cx="80000" cy="8000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40000" y="2450000"/>
            <a:ext cx="1400000" cy="650000"/>
          </a:xfrm>
          <a:prstGeom prst="rect">
            <a:avLst/>
          </a:prstGeom>
          <a:solidFill>
            <a:srgbClr val="FEF3C7"/>
          </a:solidFill>
          <a:ln w="15240">
            <a:solidFill>
              <a:srgbClr val="9240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File System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overlay mount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000" y="3545000"/>
            <a:ext cx="330000" cy="1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" b="1">
                <a:solidFill>
                  <a:srgbClr val="6B7280"/>
                </a:solidFill>
                <a:latin typeface="Calibri"/>
              </a:rPr>
              <a:t>OUTPUT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0000" y="3300000"/>
            <a:ext cx="1400000" cy="650000"/>
          </a:xfrm>
          <a:prstGeom prst="rect">
            <a:avLst/>
          </a:prstGeom>
          <a:solidFill>
            <a:srgbClr val="DCFCE7"/>
          </a:solidFill>
          <a:ln w="1524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Git Operations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branch + commit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0000" y="3616000"/>
            <a:ext cx="28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 rot="5400000">
            <a:off x="2090000" y="3585000"/>
            <a:ext cx="80000" cy="8000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120000" y="3300000"/>
            <a:ext cx="1400000" cy="650000"/>
          </a:xfrm>
          <a:prstGeom prst="rect">
            <a:avLst/>
          </a:prstGeom>
          <a:solidFill>
            <a:srgbClr val="DCFCE7"/>
          </a:solidFill>
          <a:ln w="1524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PR Generation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diff + description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0000" y="3616000"/>
            <a:ext cx="28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 rot="5400000">
            <a:off x="3810000" y="3585000"/>
            <a:ext cx="80000" cy="8000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840000" y="3300000"/>
            <a:ext cx="1400000" cy="650000"/>
          </a:xfrm>
          <a:prstGeom prst="rect">
            <a:avLst/>
          </a:prstGeom>
          <a:solidFill>
            <a:srgbClr val="DCFCE7"/>
          </a:solidFill>
          <a:ln w="1524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CI/CD Pipeline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automated checks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0000" y="1600000"/>
            <a:ext cx="1400000" cy="650000"/>
          </a:xfrm>
          <a:prstGeom prst="rect">
            <a:avLst/>
          </a:prstGeom>
          <a:solidFill>
            <a:srgbClr val="FEF3C7"/>
          </a:solidFill>
          <a:ln w="15240">
            <a:solidFill>
              <a:srgbClr val="9240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Event Store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append-only log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0000" y="2450000"/>
            <a:ext cx="1400000" cy="650000"/>
          </a:xfrm>
          <a:prstGeom prst="rect">
            <a:avLst/>
          </a:prstGeom>
          <a:solidFill>
            <a:srgbClr val="FEE2E2"/>
          </a:solidFill>
          <a:ln w="1524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SecurityAnalyzer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SAST + secrets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11000" y="1400000"/>
            <a:ext cx="18000" cy="20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11000" y="2250000"/>
            <a:ext cx="18000" cy="20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11000" y="3100000"/>
            <a:ext cx="18000" cy="20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0000" y="5900000"/>
            <a:ext cx="114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i="1">
                <a:solidFill>
                  <a:srgbClr val="6B7280"/>
                </a:solidFill>
                <a:latin typeface="Calibri"/>
              </a:rPr>
              <a:t>Event-sourced architecture: every action logged, deterministic replay, full audit trail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6263640"/>
            <a:ext cx="10000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99999"/>
                </a:solidFill>
                <a:latin typeface="Calibri"/>
              </a:rPr>
              <a:t>AI Engineering Business Use Cases | Confidential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38 / 52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alibri"/>
              </a:rPr>
              <a:t>UC22 | Automated Test Generation | AI Agents for Test Coverage &amp; Bug Detection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13232"/>
            <a:ext cx="54864" cy="20116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94944"/>
            <a:ext cx="5559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E31837"/>
                </a:solidFill>
                <a:latin typeface="Calibri"/>
              </a:rP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69264"/>
            <a:ext cx="5559552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1A1A1A"/>
                </a:solidFill>
                <a:latin typeface="Calibri"/>
              </a:rPr>
              <a:t>Legacy codebases average 35% test coverage; manual test writing is slowest dev task</a:t>
            </a:r>
          </a:p>
          <a:p>
            <a:r>
              <a:rPr sz="850">
                <a:solidFill>
                  <a:srgbClr val="1A1A1A"/>
                </a:solidFill>
                <a:latin typeface="Calibri"/>
              </a:rPr>
              <a:t>Regression bugs escape to production: 15% of deployments cause incidents in first 24 hours</a:t>
            </a:r>
          </a:p>
          <a:p>
            <a:r>
              <a:rPr sz="850">
                <a:solidFill>
                  <a:srgbClr val="1A1A1A"/>
                </a:solidFill>
                <a:latin typeface="Calibri"/>
              </a:rPr>
              <a:t>Test maintenance burden: 20% of test suites break with each major refactor</a:t>
            </a:r>
          </a:p>
          <a:p>
            <a:r>
              <a:rPr sz="850">
                <a:solidFill>
                  <a:srgbClr val="1A1A1A"/>
                </a:solidFill>
                <a:latin typeface="Calibri"/>
              </a:rPr>
              <a:t>Security vulnerability testing requires specialized expertise most teams lack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64208"/>
            <a:ext cx="54864" cy="201168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645920"/>
            <a:ext cx="5559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66534"/>
                </a:solidFill>
                <a:latin typeface="Calibri"/>
              </a:rPr>
              <a:t>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920240"/>
            <a:ext cx="5559552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1A1A1A"/>
                </a:solidFill>
                <a:latin typeface="Calibri"/>
              </a:rPr>
              <a:t>AI agents identify bugs and generate comprehensive test suites (SWT-Bench validated)</a:t>
            </a:r>
          </a:p>
          <a:p>
            <a:r>
              <a:rPr sz="850">
                <a:solidFill>
                  <a:srgbClr val="1A1A1A"/>
                </a:solidFill>
                <a:latin typeface="Calibri"/>
              </a:rPr>
              <a:t>Multi-agent fan-out: parallel test generation across unit, integration, and E2E layers</a:t>
            </a:r>
          </a:p>
          <a:p>
            <a:r>
              <a:rPr sz="850">
                <a:solidFill>
                  <a:srgbClr val="1A1A1A"/>
                </a:solidFill>
                <a:latin typeface="Calibri"/>
              </a:rPr>
              <a:t>Automated test maintenance: agents detect broken tests and auto-fix after refactors</a:t>
            </a:r>
          </a:p>
          <a:p>
            <a:r>
              <a:rPr sz="850">
                <a:solidFill>
                  <a:srgbClr val="1A1A1A"/>
                </a:solidFill>
                <a:latin typeface="Calibri"/>
              </a:rPr>
              <a:t>Security-focused test generation: OWASP Top 10 coverage with automated pen-test scenarios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15184"/>
            <a:ext cx="54864" cy="20116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596896"/>
            <a:ext cx="5559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B6E"/>
                </a:solidFill>
                <a:latin typeface="Calibri"/>
              </a:rPr>
              <a:t>GOVERNANCE &amp; SECURITY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871216"/>
            <a:ext cx="5559552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1A1A1A"/>
                </a:solidFill>
                <a:latin typeface="Calibri"/>
              </a:rPr>
              <a:t>Generated tests reviewed by senior engineer before CI integration</a:t>
            </a:r>
          </a:p>
          <a:p>
            <a:r>
              <a:rPr sz="850">
                <a:solidFill>
                  <a:srgbClr val="1A1A1A"/>
                </a:solidFill>
                <a:latin typeface="Calibri"/>
              </a:rPr>
              <a:t>Test data isolation: no production PII in test fixtures; synthetic data generation</a:t>
            </a:r>
          </a:p>
          <a:p>
            <a:r>
              <a:rPr sz="850">
                <a:solidFill>
                  <a:srgbClr val="1A1A1A"/>
                </a:solidFill>
                <a:latin typeface="Calibri"/>
              </a:rPr>
              <a:t>Coverage metrics tracked per sprint; minimum 80% threshold enforced via CI gates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10712"/>
            <a:ext cx="54864" cy="201168"/>
          </a:xfrm>
          <a:prstGeom prst="rect">
            <a:avLst/>
          </a:prstGeom>
          <a:solidFill>
            <a:srgbClr val="9D1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392424"/>
            <a:ext cx="5559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D174D"/>
                </a:solidFill>
                <a:latin typeface="Calibri"/>
              </a:rPr>
              <a:t>YC COMPETITIVE LANDSCAPE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666744"/>
            <a:ext cx="5559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1A1A1A"/>
                </a:solidFill>
                <a:latin typeface="Calibri"/>
              </a:rPr>
              <a:t>QA Wolf (W19, team 80) - end-to-end testing as a service</a:t>
            </a:r>
          </a:p>
          <a:p>
            <a:r>
              <a:rPr sz="800">
                <a:solidFill>
                  <a:srgbClr val="1A1A1A"/>
                </a:solidFill>
                <a:latin typeface="Calibri"/>
              </a:rPr>
              <a:t>Carbonate (S23) - AI test generation</a:t>
            </a:r>
          </a:p>
          <a:p>
            <a:r>
              <a:rPr sz="800">
                <a:solidFill>
                  <a:srgbClr val="1A1A1A"/>
                </a:solidFill>
                <a:latin typeface="Calibri"/>
              </a:rPr>
              <a:t>Momentic (S23) - autonomous E2E testing</a:t>
            </a:r>
          </a:p>
          <a:p>
            <a:r>
              <a:rPr sz="800">
                <a:solidFill>
                  <a:srgbClr val="1A1A1A"/>
                </a:solidFill>
                <a:latin typeface="Calibri"/>
              </a:rPr>
              <a:t>Sapient AI (W24) - unit test generation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713232"/>
            <a:ext cx="2468880" cy="7772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749808"/>
            <a:ext cx="2468880" cy="388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31837"/>
                </a:solidFill>
                <a:latin typeface="Calibri"/>
              </a:rPr>
              <a:t>35→85%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086307"/>
            <a:ext cx="2377440" cy="3730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6B7280"/>
                </a:solidFill>
                <a:latin typeface="Calibri"/>
              </a:rPr>
              <a:t>Test Coverage Lift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713232"/>
            <a:ext cx="2468880" cy="7772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749808"/>
            <a:ext cx="2468880" cy="388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31837"/>
                </a:solidFill>
                <a:latin typeface="Calibri"/>
              </a:rPr>
              <a:t>60%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1086307"/>
            <a:ext cx="2377440" cy="3730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6B7280"/>
                </a:solidFill>
                <a:latin typeface="Calibri"/>
              </a:rPr>
              <a:t>Fewer Prod Regressions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1673352"/>
            <a:ext cx="2468880" cy="7772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709928"/>
            <a:ext cx="2468880" cy="388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31837"/>
                </a:solidFill>
                <a:latin typeface="Calibri"/>
              </a:rPr>
              <a:t>10x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046427"/>
            <a:ext cx="2377440" cy="3730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6B7280"/>
                </a:solidFill>
                <a:latin typeface="Calibri"/>
              </a:rPr>
              <a:t>Test Generation Speed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1673352"/>
            <a:ext cx="2468880" cy="7772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0" y="1709928"/>
            <a:ext cx="2468880" cy="388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31837"/>
                </a:solidFill>
                <a:latin typeface="Calibri"/>
              </a:rPr>
              <a:t>1-2 wk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2046427"/>
            <a:ext cx="2377440" cy="3730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6B7280"/>
                </a:solidFill>
                <a:latin typeface="Calibri"/>
              </a:rPr>
              <a:t>Setup Timeline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2633472"/>
            <a:ext cx="54864" cy="20116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2615184"/>
            <a:ext cx="51937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B6E"/>
                </a:solidFill>
                <a:latin typeface="Calibri"/>
              </a:rPr>
              <a:t>SYSTEMS INTEGRATED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2907792"/>
            <a:ext cx="640080" cy="21945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2907792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1F3B6E"/>
                </a:solidFill>
                <a:latin typeface="Calibri"/>
              </a:rPr>
              <a:t>GitHub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3760" y="2907792"/>
            <a:ext cx="770000" cy="21945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23760" y="2907792"/>
            <a:ext cx="77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1F3B6E"/>
                </a:solidFill>
                <a:latin typeface="Calibri"/>
              </a:rPr>
              <a:t>Jest/Pytest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85200" y="2907792"/>
            <a:ext cx="640080" cy="21945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85200" y="2907792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1F3B6E"/>
                </a:solidFill>
                <a:latin typeface="Calibri"/>
              </a:rPr>
              <a:t>CI/CD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16720" y="2907792"/>
            <a:ext cx="700000" cy="21945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16720" y="2907792"/>
            <a:ext cx="70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1F3B6E"/>
                </a:solidFill>
                <a:latin typeface="Calibri"/>
              </a:rPr>
              <a:t>SAST Tools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3227832"/>
            <a:ext cx="54864" cy="201168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528" y="3209544"/>
            <a:ext cx="51937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2400E"/>
                </a:solidFill>
                <a:latin typeface="Calibri"/>
              </a:rPr>
              <a:t>TARGET USERS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3483864"/>
            <a:ext cx="51937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1A1A1A"/>
                </a:solidFill>
                <a:latin typeface="Calibri"/>
              </a:rPr>
              <a:t>QA Engineers  |  Engineering Managers  |  Security Teams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3776472"/>
            <a:ext cx="54864" cy="20116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10528" y="3758184"/>
            <a:ext cx="51937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B6E"/>
                </a:solidFill>
                <a:latin typeface="Calibri"/>
              </a:rPr>
              <a:t>SOLUTION STACK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AGENT / SDK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4251960"/>
            <a:ext cx="1257300" cy="502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37376" y="4270248"/>
            <a:ext cx="11841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>
                <a:solidFill>
                  <a:srgbClr val="1A1A1A"/>
                </a:solidFill>
                <a:latin typeface="Calibri"/>
              </a:rPr>
              <a:t>OpenHands agents</a:t>
            </a:r>
          </a:p>
          <a:p>
            <a:r>
              <a:rPr sz="700">
                <a:solidFill>
                  <a:srgbClr val="1A1A1A"/>
                </a:solidFill>
                <a:latin typeface="Calibri"/>
              </a:rPr>
              <a:t>SWT-Bench model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COMPUTE / AI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49540" y="4251960"/>
            <a:ext cx="1257300" cy="502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86116" y="4270248"/>
            <a:ext cx="11841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>
                <a:solidFill>
                  <a:srgbClr val="1A1A1A"/>
                </a:solidFill>
                <a:latin typeface="Calibri"/>
              </a:rPr>
              <a:t>Claude reasoning</a:t>
            </a:r>
          </a:p>
          <a:p>
            <a:r>
              <a:rPr sz="700">
                <a:solidFill>
                  <a:srgbClr val="1A1A1A"/>
                </a:solidFill>
                <a:latin typeface="Calibri"/>
              </a:rPr>
              <a:t>Code analysis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INTEGRATION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98280" y="4251960"/>
            <a:ext cx="1257300" cy="502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34856" y="4270248"/>
            <a:ext cx="11841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>
                <a:solidFill>
                  <a:srgbClr val="1A1A1A"/>
                </a:solidFill>
                <a:latin typeface="Calibri"/>
              </a:rPr>
              <a:t>CI/CD hooks</a:t>
            </a:r>
          </a:p>
          <a:p>
            <a:r>
              <a:rPr sz="700">
                <a:solidFill>
                  <a:srgbClr val="1A1A1A"/>
                </a:solidFill>
                <a:latin typeface="Calibri"/>
              </a:rPr>
              <a:t>Coverage APIs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UX / DECISION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447020" y="4251960"/>
            <a:ext cx="1257300" cy="502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483596" y="4270248"/>
            <a:ext cx="11841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>
                <a:solidFill>
                  <a:srgbClr val="1A1A1A"/>
                </a:solidFill>
                <a:latin typeface="Calibri"/>
              </a:rPr>
              <a:t>Coverage dashboard</a:t>
            </a:r>
          </a:p>
          <a:p>
            <a:r>
              <a:rPr sz="700">
                <a:solidFill>
                  <a:srgbClr val="1A1A1A"/>
                </a:solidFill>
                <a:latin typeface="Calibri"/>
              </a:rPr>
              <a:t>Risk heatmap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AI Engineering Business Use Cases | Confidential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>
                <a:solidFill>
                  <a:srgbClr val="AAAAAA"/>
                </a:solidFill>
                <a:latin typeface="Calibri"/>
              </a:rPr>
              <a:t>39 / 52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UC22 Architecture | Automated Test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000" y="995000"/>
            <a:ext cx="330000" cy="1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" b="1">
                <a:solidFill>
                  <a:srgbClr val="6B7280"/>
                </a:solidFill>
                <a:latin typeface="Calibri"/>
              </a:rPr>
              <a:t>ANALYZE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000" y="750000"/>
            <a:ext cx="1400000" cy="65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Codebase Analysis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repo ingestion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0000" y="1066000"/>
            <a:ext cx="28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 rot="5400000">
            <a:off x="2090000" y="1035000"/>
            <a:ext cx="80000" cy="8000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0000" y="750000"/>
            <a:ext cx="1400000" cy="650000"/>
          </a:xfrm>
          <a:prstGeom prst="rect">
            <a:avLst/>
          </a:prstGeom>
          <a:solidFill>
            <a:srgbClr val="E0E7FF"/>
          </a:solidFill>
          <a:ln w="1524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AST Parser +
Coverage Map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static analysis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0000" y="1066000"/>
            <a:ext cx="28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5400000">
            <a:off x="3810000" y="1035000"/>
            <a:ext cx="80000" cy="8000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000" y="750000"/>
            <a:ext cx="1400000" cy="650000"/>
          </a:xfrm>
          <a:prstGeom prst="rect">
            <a:avLst/>
          </a:prstGeom>
          <a:solidFill>
            <a:srgbClr val="E0E7FF"/>
          </a:solidFill>
          <a:ln w="1524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Gap Identifier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missing coverage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00" y="1845000"/>
            <a:ext cx="330000" cy="1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" b="1">
                <a:solidFill>
                  <a:srgbClr val="6B7280"/>
                </a:solidFill>
                <a:latin typeface="Calibri"/>
              </a:rPr>
              <a:t>AGENTS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0000" y="1600000"/>
            <a:ext cx="1400000" cy="650000"/>
          </a:xfrm>
          <a:prstGeom prst="rect">
            <a:avLst/>
          </a:prstGeom>
          <a:solidFill>
            <a:srgbClr val="1F3B6E"/>
          </a:solidFill>
          <a:ln w="15240">
            <a:solidFill>
              <a:srgbClr val="1F3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Test Agent</a:t>
            </a:r>
          </a:p>
          <a:p>
            <a:pPr algn="ctr"/>
            <a:r>
              <a:rPr sz="700">
                <a:solidFill>
                  <a:srgbClr val="BBBBBB"/>
                </a:solidFill>
                <a:latin typeface="Calibri"/>
              </a:rPr>
              <a:t>multi-agent fan-out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0000" y="1916000"/>
            <a:ext cx="28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 rot="5400000">
            <a:off x="2090000" y="1885000"/>
            <a:ext cx="80000" cy="8000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20000" y="1600000"/>
            <a:ext cx="1400000" cy="650000"/>
          </a:xfrm>
          <a:prstGeom prst="rect">
            <a:avLst/>
          </a:prstGeom>
          <a:solidFill>
            <a:srgbClr val="1F3B6E"/>
          </a:solidFill>
          <a:ln w="15240">
            <a:solidFill>
              <a:srgbClr val="1F3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Unit Agent |
Integration Agent</a:t>
            </a:r>
          </a:p>
          <a:p>
            <a:pPr algn="ctr"/>
            <a:r>
              <a:rPr sz="700">
                <a:solidFill>
                  <a:srgbClr val="BBBBBB"/>
                </a:solidFill>
                <a:latin typeface="Calibri"/>
              </a:rPr>
              <a:t>specialized writers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0000" y="1916000"/>
            <a:ext cx="28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 rot="5400000">
            <a:off x="3810000" y="1885000"/>
            <a:ext cx="80000" cy="8000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000" y="1600000"/>
            <a:ext cx="1400000" cy="650000"/>
          </a:xfrm>
          <a:prstGeom prst="rect">
            <a:avLst/>
          </a:prstGeom>
          <a:solidFill>
            <a:srgbClr val="1F3B6E"/>
          </a:solidFill>
          <a:ln w="15240">
            <a:solidFill>
              <a:srgbClr val="1F3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E2E Agent</a:t>
            </a:r>
          </a:p>
          <a:p>
            <a:pPr algn="ctr"/>
            <a:r>
              <a:rPr sz="700">
                <a:solidFill>
                  <a:srgbClr val="BBBBBB"/>
                </a:solidFill>
                <a:latin typeface="Calibri"/>
              </a:rPr>
              <a:t>browser + API 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00" y="2695000"/>
            <a:ext cx="330000" cy="1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" b="1">
                <a:solidFill>
                  <a:srgbClr val="6B7280"/>
                </a:solidFill>
                <a:latin typeface="Calibri"/>
              </a:rPr>
              <a:t>EXEC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0000" y="2450000"/>
            <a:ext cx="1400000" cy="650000"/>
          </a:xfrm>
          <a:prstGeom prst="rect">
            <a:avLst/>
          </a:prstGeom>
          <a:solidFill>
            <a:srgbClr val="E0E7FF"/>
          </a:solidFill>
          <a:ln w="1524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Sandbox Execution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isolated container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0000" y="2766000"/>
            <a:ext cx="28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 rot="5400000">
            <a:off x="2090000" y="2735000"/>
            <a:ext cx="80000" cy="8000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20000" y="2450000"/>
            <a:ext cx="1400000" cy="650000"/>
          </a:xfrm>
          <a:prstGeom prst="rect">
            <a:avLst/>
          </a:prstGeom>
          <a:solidFill>
            <a:srgbClr val="E0E7FF"/>
          </a:solidFill>
          <a:ln w="1524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Test Runner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pytest / jest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0000" y="2766000"/>
            <a:ext cx="28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 rot="5400000">
            <a:off x="3810000" y="2735000"/>
            <a:ext cx="80000" cy="8000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40000" y="2450000"/>
            <a:ext cx="1400000" cy="650000"/>
          </a:xfrm>
          <a:prstGeom prst="rect">
            <a:avLst/>
          </a:prstGeom>
          <a:solidFill>
            <a:srgbClr val="FEF3C7"/>
          </a:solidFill>
          <a:ln w="15240">
            <a:solidFill>
              <a:srgbClr val="9240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Coverage Report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line + branch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000" y="3545000"/>
            <a:ext cx="330000" cy="1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" b="1">
                <a:solidFill>
                  <a:srgbClr val="6B7280"/>
                </a:solidFill>
                <a:latin typeface="Calibri"/>
              </a:rPr>
              <a:t>OUTPUT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0000" y="3300000"/>
            <a:ext cx="1400000" cy="650000"/>
          </a:xfrm>
          <a:prstGeom prst="rect">
            <a:avLst/>
          </a:prstGeom>
          <a:solidFill>
            <a:srgbClr val="DCFCE7"/>
          </a:solidFill>
          <a:ln w="1524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Validation Gate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pass/fail threshold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0000" y="3616000"/>
            <a:ext cx="28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 rot="5400000">
            <a:off x="2090000" y="3585000"/>
            <a:ext cx="80000" cy="8000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120000" y="3300000"/>
            <a:ext cx="1400000" cy="650000"/>
          </a:xfrm>
          <a:prstGeom prst="rect">
            <a:avLst/>
          </a:prstGeom>
          <a:solidFill>
            <a:srgbClr val="DCFCE7"/>
          </a:solidFill>
          <a:ln w="1524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PR with Tests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auto-generated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0000" y="3616000"/>
            <a:ext cx="28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 rot="5400000">
            <a:off x="3810000" y="3585000"/>
            <a:ext cx="80000" cy="8000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840000" y="3300000"/>
            <a:ext cx="1400000" cy="650000"/>
          </a:xfrm>
          <a:prstGeom prst="rect">
            <a:avLst/>
          </a:prstGeom>
          <a:solidFill>
            <a:srgbClr val="DCFCE7"/>
          </a:solidFill>
          <a:ln w="1524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CI Merge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automated pipeline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0000" y="1600000"/>
            <a:ext cx="1400000" cy="650000"/>
          </a:xfrm>
          <a:prstGeom prst="rect">
            <a:avLst/>
          </a:prstGeom>
          <a:solidFill>
            <a:srgbClr val="FEF3C7"/>
          </a:solidFill>
          <a:ln w="15240">
            <a:solidFill>
              <a:srgbClr val="9240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SWT-Bench Model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benchmark eval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0000" y="3300000"/>
            <a:ext cx="1400000" cy="650000"/>
          </a:xfrm>
          <a:prstGeom prst="rect">
            <a:avLst/>
          </a:prstGeom>
          <a:solidFill>
            <a:srgbClr val="FEE2E2"/>
          </a:solidFill>
          <a:ln w="1524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SAST Scanner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security check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11000" y="1400000"/>
            <a:ext cx="18000" cy="20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11000" y="2250000"/>
            <a:ext cx="18000" cy="20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11000" y="3100000"/>
            <a:ext cx="18000" cy="20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0000" y="5900000"/>
            <a:ext cx="114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i="1">
                <a:solidFill>
                  <a:srgbClr val="6B7280"/>
                </a:solidFill>
                <a:latin typeface="Calibri"/>
              </a:rPr>
              <a:t>Multi-agent fan-out: parallel test generation across unit, integration, and E2E layers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6263640"/>
            <a:ext cx="10000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99999"/>
                </a:solidFill>
                <a:latin typeface="Calibri"/>
              </a:rPr>
              <a:t>AI Engineering Business Use Cases | Confidential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40 / 52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alibri"/>
              </a:rPr>
              <a:t>UC23 | Code Modernization &amp; Tech Debt | Autonomous Refactoring + Framework Migration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13232"/>
            <a:ext cx="54864" cy="20116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94944"/>
            <a:ext cx="5559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E31837"/>
                </a:solidFill>
                <a:latin typeface="Calibri"/>
              </a:rP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69264"/>
            <a:ext cx="5559552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1A1A1A"/>
                </a:solidFill>
                <a:latin typeface="Calibri"/>
              </a:rPr>
              <a:t>Technical debt compounds: 40% of dev time spent navigating and working around legacy code</a:t>
            </a:r>
          </a:p>
          <a:p>
            <a:r>
              <a:rPr sz="850">
                <a:solidFill>
                  <a:srgbClr val="1A1A1A"/>
                </a:solidFill>
                <a:latin typeface="Calibri"/>
              </a:rPr>
              <a:t>Framework migrations (e.g., Angular→React, Python 2→3) take 6-18 months manually</a:t>
            </a:r>
          </a:p>
          <a:p>
            <a:r>
              <a:rPr sz="850">
                <a:solidFill>
                  <a:srgbClr val="1A1A1A"/>
                </a:solidFill>
                <a:latin typeface="Calibri"/>
              </a:rPr>
              <a:t>Dependency upgrades deferred due to risk: average enterprise has 200+ outdated packages</a:t>
            </a:r>
          </a:p>
          <a:p>
            <a:r>
              <a:rPr sz="850">
                <a:solidFill>
                  <a:srgbClr val="1A1A1A"/>
                </a:solidFill>
                <a:latin typeface="Calibri"/>
              </a:rPr>
              <a:t>Monolith decomposition requires deep architectural knowledge often lost with attrition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64208"/>
            <a:ext cx="54864" cy="201168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645920"/>
            <a:ext cx="5559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66534"/>
                </a:solidFill>
                <a:latin typeface="Calibri"/>
              </a:rPr>
              <a:t>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920240"/>
            <a:ext cx="5559552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1A1A1A"/>
                </a:solidFill>
                <a:latin typeface="Calibri"/>
              </a:rPr>
              <a:t>AI-powered multi-repo dependency upgrades at ~$3 per PR across hundreds of services</a:t>
            </a:r>
          </a:p>
          <a:p>
            <a:r>
              <a:rPr sz="850">
                <a:solidFill>
                  <a:srgbClr val="1A1A1A"/>
                </a:solidFill>
                <a:latin typeface="Calibri"/>
              </a:rPr>
              <a:t>Autonomous framework migration: agent analyzes patterns, generates idiomatic code in target framework</a:t>
            </a:r>
          </a:p>
          <a:p>
            <a:r>
              <a:rPr sz="850">
                <a:solidFill>
                  <a:srgbClr val="1A1A1A"/>
                </a:solidFill>
                <a:latin typeface="Calibri"/>
              </a:rPr>
              <a:t>Monolith decomposition: agent identifies service boundaries, extracts and tests independently</a:t>
            </a:r>
          </a:p>
          <a:p>
            <a:r>
              <a:rPr sz="850">
                <a:solidFill>
                  <a:srgbClr val="1A1A1A"/>
                </a:solidFill>
                <a:latin typeface="Calibri"/>
              </a:rPr>
              <a:t>Greenfield scaffolding: commit0-validated app development from specs to working code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15184"/>
            <a:ext cx="54864" cy="20116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596896"/>
            <a:ext cx="5559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B6E"/>
                </a:solidFill>
                <a:latin typeface="Calibri"/>
              </a:rPr>
              <a:t>GOVERNANCE &amp; SECURITY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871216"/>
            <a:ext cx="5559552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1A1A1A"/>
                </a:solidFill>
                <a:latin typeface="Calibri"/>
              </a:rPr>
              <a:t>All migration PRs include automated regression test results before review</a:t>
            </a:r>
          </a:p>
          <a:p>
            <a:r>
              <a:rPr sz="850">
                <a:solidFill>
                  <a:srgbClr val="1A1A1A"/>
                </a:solidFill>
                <a:latin typeface="Calibri"/>
              </a:rPr>
              <a:t>Dependency upgrade policy: security patches auto-merged, major versions require human approval</a:t>
            </a:r>
          </a:p>
          <a:p>
            <a:r>
              <a:rPr sz="850">
                <a:solidFill>
                  <a:srgbClr val="1A1A1A"/>
                </a:solidFill>
                <a:latin typeface="Calibri"/>
              </a:rPr>
              <a:t>Architecture decision records (ADRs) auto-generated for each decomposition step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10712"/>
            <a:ext cx="54864" cy="201168"/>
          </a:xfrm>
          <a:prstGeom prst="rect">
            <a:avLst/>
          </a:prstGeom>
          <a:solidFill>
            <a:srgbClr val="9D1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392424"/>
            <a:ext cx="5559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D174D"/>
                </a:solidFill>
                <a:latin typeface="Calibri"/>
              </a:rPr>
              <a:t>YC COMPETITIVE LANDSCAPE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666744"/>
            <a:ext cx="5559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1A1A1A"/>
                </a:solidFill>
                <a:latin typeface="Calibri"/>
              </a:rPr>
              <a:t>Grit.io (W22) - automated code migrations</a:t>
            </a:r>
          </a:p>
          <a:p>
            <a:r>
              <a:rPr sz="800">
                <a:solidFill>
                  <a:srgbClr val="1A1A1A"/>
                </a:solidFill>
                <a:latin typeface="Calibri"/>
              </a:rPr>
              <a:t>CodeMod (W24) - codemod generation</a:t>
            </a:r>
          </a:p>
          <a:p>
            <a:r>
              <a:rPr sz="800">
                <a:solidFill>
                  <a:srgbClr val="1A1A1A"/>
                </a:solidFill>
                <a:latin typeface="Calibri"/>
              </a:rPr>
              <a:t>Moderne (S21, team 50) - large-scale code refactoring</a:t>
            </a:r>
          </a:p>
          <a:p>
            <a:r>
              <a:rPr sz="800">
                <a:solidFill>
                  <a:srgbClr val="1A1A1A"/>
                </a:solidFill>
                <a:latin typeface="Calibri"/>
              </a:rPr>
              <a:t>Sourcegraph Cody (S14, team 300+) - code intelligence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713232"/>
            <a:ext cx="2468880" cy="7772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749808"/>
            <a:ext cx="2468880" cy="388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31837"/>
                </a:solidFill>
                <a:latin typeface="Calibri"/>
              </a:rPr>
              <a:t>~$3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086307"/>
            <a:ext cx="2377440" cy="3730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6B7280"/>
                </a:solidFill>
                <a:latin typeface="Calibri"/>
              </a:rPr>
              <a:t>Cost per Migration PR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713232"/>
            <a:ext cx="2468880" cy="7772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749808"/>
            <a:ext cx="2468880" cy="388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31837"/>
                </a:solidFill>
                <a:latin typeface="Calibri"/>
              </a:rPr>
              <a:t>80%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1086307"/>
            <a:ext cx="2377440" cy="3730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6B7280"/>
                </a:solidFill>
                <a:latin typeface="Calibri"/>
              </a:rPr>
              <a:t>Tech Debt Reduction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1673352"/>
            <a:ext cx="2468880" cy="7772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709928"/>
            <a:ext cx="2468880" cy="388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31837"/>
                </a:solidFill>
                <a:latin typeface="Calibri"/>
              </a:rPr>
              <a:t>6→1 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046427"/>
            <a:ext cx="2377440" cy="3730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6B7280"/>
                </a:solidFill>
                <a:latin typeface="Calibri"/>
              </a:rPr>
              <a:t>Migration Timeline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1673352"/>
            <a:ext cx="2468880" cy="7772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0" y="1709928"/>
            <a:ext cx="2468880" cy="388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31837"/>
                </a:solidFill>
                <a:latin typeface="Calibri"/>
              </a:rPr>
              <a:t>100+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2046427"/>
            <a:ext cx="2377440" cy="3730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6B7280"/>
                </a:solidFill>
                <a:latin typeface="Calibri"/>
              </a:rPr>
              <a:t>Repos per Sprint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2633472"/>
            <a:ext cx="54864" cy="20116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2615184"/>
            <a:ext cx="51937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B6E"/>
                </a:solidFill>
                <a:latin typeface="Calibri"/>
              </a:rPr>
              <a:t>SYSTEMS INTEGRATED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2907792"/>
            <a:ext cx="640080" cy="21945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2907792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1F3B6E"/>
                </a:solidFill>
                <a:latin typeface="Calibri"/>
              </a:rPr>
              <a:t>GitHub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3760" y="2907792"/>
            <a:ext cx="910000" cy="21945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23760" y="2907792"/>
            <a:ext cx="91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1F3B6E"/>
                </a:solidFill>
                <a:latin typeface="Calibri"/>
              </a:rPr>
              <a:t>npm/pip/maven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5200" y="2907792"/>
            <a:ext cx="640080" cy="21945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5200" y="2907792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1F3B6E"/>
                </a:solidFill>
                <a:latin typeface="Calibri"/>
              </a:rPr>
              <a:t>Docker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56720" y="2907792"/>
            <a:ext cx="640080" cy="21945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56720" y="2907792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1F3B6E"/>
                </a:solidFill>
                <a:latin typeface="Calibri"/>
              </a:rPr>
              <a:t>Terraform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3227832"/>
            <a:ext cx="54864" cy="201168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528" y="3209544"/>
            <a:ext cx="51937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2400E"/>
                </a:solidFill>
                <a:latin typeface="Calibri"/>
              </a:rPr>
              <a:t>TARGET USERS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3483864"/>
            <a:ext cx="51937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1A1A1A"/>
                </a:solidFill>
                <a:latin typeface="Calibri"/>
              </a:rPr>
              <a:t>Platform Engineers  |  Tech Leads  |  CTOs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3776472"/>
            <a:ext cx="54864" cy="20116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10528" y="3758184"/>
            <a:ext cx="51937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B6E"/>
                </a:solidFill>
                <a:latin typeface="Calibri"/>
              </a:rPr>
              <a:t>SOLUTION STACK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ANALYSIS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4251960"/>
            <a:ext cx="1257300" cy="502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37376" y="4270248"/>
            <a:ext cx="11841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>
                <a:solidFill>
                  <a:srgbClr val="1A1A1A"/>
                </a:solidFill>
                <a:latin typeface="Calibri"/>
              </a:rPr>
              <a:t>Dependency graph</a:t>
            </a:r>
          </a:p>
          <a:p>
            <a:r>
              <a:rPr sz="700">
                <a:solidFill>
                  <a:srgbClr val="1A1A1A"/>
                </a:solidFill>
                <a:latin typeface="Calibri"/>
              </a:rPr>
              <a:t>Dead code scan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COMPUTE / AI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49540" y="4251960"/>
            <a:ext cx="1257300" cy="502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86116" y="4270248"/>
            <a:ext cx="11841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>
                <a:solidFill>
                  <a:srgbClr val="1A1A1A"/>
                </a:solidFill>
                <a:latin typeface="Calibri"/>
              </a:rPr>
              <a:t>Claude Opus</a:t>
            </a:r>
          </a:p>
          <a:p>
            <a:r>
              <a:rPr sz="700">
                <a:solidFill>
                  <a:srgbClr val="1A1A1A"/>
                </a:solidFill>
                <a:latin typeface="Calibri"/>
              </a:rPr>
              <a:t>Multi-agent chain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INTEGRATION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98280" y="4251960"/>
            <a:ext cx="1257300" cy="502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34856" y="4270248"/>
            <a:ext cx="11841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>
                <a:solidFill>
                  <a:srgbClr val="1A1A1A"/>
                </a:solidFill>
                <a:latin typeface="Calibri"/>
              </a:rPr>
              <a:t>Package registries</a:t>
            </a:r>
          </a:p>
          <a:p>
            <a:r>
              <a:rPr sz="700">
                <a:solidFill>
                  <a:srgbClr val="1A1A1A"/>
                </a:solidFill>
                <a:latin typeface="Calibri"/>
              </a:rPr>
              <a:t>CI validation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UX / DECISION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447020" y="4251960"/>
            <a:ext cx="1257300" cy="502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483596" y="4270248"/>
            <a:ext cx="11841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>
                <a:solidFill>
                  <a:srgbClr val="1A1A1A"/>
                </a:solidFill>
                <a:latin typeface="Calibri"/>
              </a:rPr>
              <a:t>Migration tracker</a:t>
            </a:r>
          </a:p>
          <a:p>
            <a:r>
              <a:rPr sz="700">
                <a:solidFill>
                  <a:srgbClr val="1A1A1A"/>
                </a:solidFill>
                <a:latin typeface="Calibri"/>
              </a:rPr>
              <a:t>Risk scoring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AI Engineering Business Use Cases | Confidential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>
                <a:solidFill>
                  <a:srgbClr val="AAAAAA"/>
                </a:solidFill>
                <a:latin typeface="Calibri"/>
              </a:rPr>
              <a:t>41 / 52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UC23 Architecture | Code Modernization &amp; Tech Debt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000" y="995000"/>
            <a:ext cx="330000" cy="1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" b="1">
                <a:solidFill>
                  <a:srgbClr val="6B7280"/>
                </a:solidFill>
                <a:latin typeface="Calibri"/>
              </a:rPr>
              <a:t>SCAN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000" y="750000"/>
            <a:ext cx="1400000" cy="65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Dependency Scanner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outdated packages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0000" y="1066000"/>
            <a:ext cx="28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 rot="5400000">
            <a:off x="2090000" y="1035000"/>
            <a:ext cx="80000" cy="8000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0000" y="750000"/>
            <a:ext cx="1400000" cy="65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Package Registry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npm / pip / maven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0000" y="1066000"/>
            <a:ext cx="28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5400000">
            <a:off x="3810000" y="1035000"/>
            <a:ext cx="80000" cy="8000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000" y="750000"/>
            <a:ext cx="1400000" cy="650000"/>
          </a:xfrm>
          <a:prstGeom prst="rect">
            <a:avLst/>
          </a:prstGeom>
          <a:solidFill>
            <a:srgbClr val="FEE2E2"/>
          </a:solidFill>
          <a:ln w="1524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Vulnerability DB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NVD + GHSA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00" y="1845000"/>
            <a:ext cx="330000" cy="1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" b="1">
                <a:solidFill>
                  <a:srgbClr val="6B7280"/>
                </a:solidFill>
                <a:latin typeface="Calibri"/>
              </a:rPr>
              <a:t>AGENT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0000" y="1600000"/>
            <a:ext cx="1400000" cy="650000"/>
          </a:xfrm>
          <a:prstGeom prst="rect">
            <a:avLst/>
          </a:prstGeom>
          <a:solidFill>
            <a:srgbClr val="1F3B6E"/>
          </a:solidFill>
          <a:ln w="15240">
            <a:solidFill>
              <a:srgbClr val="1F3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Migration Agent</a:t>
            </a:r>
          </a:p>
          <a:p>
            <a:pPr algn="ctr"/>
            <a:r>
              <a:rPr sz="700">
                <a:solidFill>
                  <a:srgbClr val="BBBBBB"/>
                </a:solidFill>
                <a:latin typeface="Calibri"/>
              </a:rPr>
              <a:t>upgrade strategy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0000" y="1916000"/>
            <a:ext cx="28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 rot="5400000">
            <a:off x="2090000" y="1885000"/>
            <a:ext cx="80000" cy="8000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20000" y="1600000"/>
            <a:ext cx="1400000" cy="650000"/>
          </a:xfrm>
          <a:prstGeom prst="rect">
            <a:avLst/>
          </a:prstGeom>
          <a:solidFill>
            <a:srgbClr val="1F3B6E"/>
          </a:solidFill>
          <a:ln w="15240">
            <a:solidFill>
              <a:srgbClr val="1F3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Pattern Analyzer</a:t>
            </a:r>
          </a:p>
          <a:p>
            <a:pPr algn="ctr"/>
            <a:r>
              <a:rPr sz="700">
                <a:solidFill>
                  <a:srgbClr val="BBBBBB"/>
                </a:solidFill>
                <a:latin typeface="Calibri"/>
              </a:rPr>
              <a:t>code patterns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0000" y="1916000"/>
            <a:ext cx="28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 rot="5400000">
            <a:off x="3810000" y="1885000"/>
            <a:ext cx="80000" cy="8000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000" y="1600000"/>
            <a:ext cx="1400000" cy="650000"/>
          </a:xfrm>
          <a:prstGeom prst="rect">
            <a:avLst/>
          </a:prstGeom>
          <a:solidFill>
            <a:srgbClr val="1F3B6E"/>
          </a:solidFill>
          <a:ln w="15240">
            <a:solidFill>
              <a:srgbClr val="1F3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Code Transformer</a:t>
            </a:r>
          </a:p>
          <a:p>
            <a:pPr algn="ctr"/>
            <a:r>
              <a:rPr sz="700">
                <a:solidFill>
                  <a:srgbClr val="BBBBBB"/>
                </a:solidFill>
                <a:latin typeface="Calibri"/>
              </a:rPr>
              <a:t>AST rewrite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00" y="2695000"/>
            <a:ext cx="330000" cy="1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" b="1">
                <a:solidFill>
                  <a:srgbClr val="6B7280"/>
                </a:solidFill>
                <a:latin typeface="Calibri"/>
              </a:rPr>
              <a:t>SCALE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0000" y="2450000"/>
            <a:ext cx="1400000" cy="650000"/>
          </a:xfrm>
          <a:prstGeom prst="rect">
            <a:avLst/>
          </a:prstGeom>
          <a:solidFill>
            <a:srgbClr val="E0E7FF"/>
          </a:solidFill>
          <a:ln w="1524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Multi-Repo
Orchestrator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repo fan-out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0000" y="2766000"/>
            <a:ext cx="28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 rot="5400000">
            <a:off x="2090000" y="2735000"/>
            <a:ext cx="80000" cy="8000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20000" y="2450000"/>
            <a:ext cx="1400000" cy="650000"/>
          </a:xfrm>
          <a:prstGeom prst="rect">
            <a:avLst/>
          </a:prstGeom>
          <a:solidFill>
            <a:srgbClr val="E0E7FF"/>
          </a:solidFill>
          <a:ln w="1524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Parallel Agent Pool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N workers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0000" y="2766000"/>
            <a:ext cx="28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 rot="5400000">
            <a:off x="3810000" y="2735000"/>
            <a:ext cx="80000" cy="8000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40000" y="2450000"/>
            <a:ext cx="1400000" cy="650000"/>
          </a:xfrm>
          <a:prstGeom prst="rect">
            <a:avLst/>
          </a:prstGeom>
          <a:solidFill>
            <a:srgbClr val="E0E7FF"/>
          </a:solidFill>
          <a:ln w="1524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Sandbox per Repo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isolated builds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000" y="3545000"/>
            <a:ext cx="330000" cy="1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" b="1">
                <a:solidFill>
                  <a:srgbClr val="6B7280"/>
                </a:solidFill>
                <a:latin typeface="Calibri"/>
              </a:rPr>
              <a:t>OUTPUT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0000" y="3300000"/>
            <a:ext cx="1400000" cy="650000"/>
          </a:xfrm>
          <a:prstGeom prst="rect">
            <a:avLst/>
          </a:prstGeom>
          <a:solidFill>
            <a:srgbClr val="DCFCE7"/>
          </a:solidFill>
          <a:ln w="1524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Regression Tests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compatibility check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0000" y="3616000"/>
            <a:ext cx="28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 rot="5400000">
            <a:off x="2090000" y="3585000"/>
            <a:ext cx="80000" cy="8000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120000" y="3300000"/>
            <a:ext cx="1400000" cy="650000"/>
          </a:xfrm>
          <a:prstGeom prst="rect">
            <a:avLst/>
          </a:prstGeom>
          <a:solidFill>
            <a:srgbClr val="DCFCE7"/>
          </a:solidFill>
          <a:ln w="1524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PR per Service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~$3 each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0000" y="3616000"/>
            <a:ext cx="28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 rot="5400000">
            <a:off x="3810000" y="3585000"/>
            <a:ext cx="80000" cy="8000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840000" y="3300000"/>
            <a:ext cx="1400000" cy="650000"/>
          </a:xfrm>
          <a:prstGeom prst="rect">
            <a:avLst/>
          </a:prstGeom>
          <a:solidFill>
            <a:srgbClr val="DCFCE7"/>
          </a:solidFill>
          <a:ln w="1524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Auto Merge Queue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sequenced landing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0000" y="1600000"/>
            <a:ext cx="1400000" cy="650000"/>
          </a:xfrm>
          <a:prstGeom prst="rect">
            <a:avLst/>
          </a:prstGeom>
          <a:solidFill>
            <a:srgbClr val="FEF3C7"/>
          </a:solidFill>
          <a:ln w="15240">
            <a:solidFill>
              <a:srgbClr val="9240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ADR Generator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decision records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0000" y="750000"/>
            <a:ext cx="1400000" cy="650000"/>
          </a:xfrm>
          <a:prstGeom prst="rect">
            <a:avLst/>
          </a:prstGeom>
          <a:solidFill>
            <a:srgbClr val="FEE2E2"/>
          </a:solidFill>
          <a:ln w="1524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Drift Monitor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continuous scan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11000" y="1400000"/>
            <a:ext cx="18000" cy="20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11000" y="2250000"/>
            <a:ext cx="18000" cy="20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11000" y="3100000"/>
            <a:ext cx="18000" cy="20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0000" y="5900000"/>
            <a:ext cx="114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i="1">
                <a:solidFill>
                  <a:srgbClr val="6B7280"/>
                </a:solidFill>
                <a:latin typeface="Calibri"/>
              </a:rPr>
              <a:t>Multi-repo orchestration: parallel agent pool processes N services simultaneously at ~$3/PR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6263640"/>
            <a:ext cx="10000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99999"/>
                </a:solidFill>
                <a:latin typeface="Calibri"/>
              </a:rPr>
              <a:t>AI Engineering Business Use Cases | Confidential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42 / 52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alibri"/>
              </a:rPr>
              <a:t>UC24 | DevOps &amp; Incident Response | AI Agents for CI/CD, Log Analysis &amp; Auto-Remediation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13232"/>
            <a:ext cx="54864" cy="201168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94944"/>
            <a:ext cx="5559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E31837"/>
                </a:solidFill>
                <a:latin typeface="Calibri"/>
              </a:rPr>
              <a:t>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69264"/>
            <a:ext cx="5559552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1A1A1A"/>
                </a:solidFill>
                <a:latin typeface="Calibri"/>
              </a:rPr>
              <a:t>Mean time to resolution (MTTR) averages 4+ hours for production incidents</a:t>
            </a:r>
          </a:p>
          <a:p>
            <a:r>
              <a:rPr sz="850">
                <a:solidFill>
                  <a:srgbClr val="1A1A1A"/>
                </a:solidFill>
                <a:latin typeface="Calibri"/>
              </a:rPr>
              <a:t>On-call engineers spend 60% of incident time on log correlation and root cause triage</a:t>
            </a:r>
          </a:p>
          <a:p>
            <a:r>
              <a:rPr sz="850">
                <a:solidFill>
                  <a:srgbClr val="1A1A1A"/>
                </a:solidFill>
                <a:latin typeface="Calibri"/>
              </a:rPr>
              <a:t>CI/CD pipeline failures block 15-20% of deployments, requiring manual debugging</a:t>
            </a:r>
          </a:p>
          <a:p>
            <a:r>
              <a:rPr sz="850">
                <a:solidFill>
                  <a:srgbClr val="1A1A1A"/>
                </a:solidFill>
                <a:latin typeface="Calibri"/>
              </a:rPr>
              <a:t>Infrastructure drift: Terraform state diverges from reality across 50+ microservices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64208"/>
            <a:ext cx="54864" cy="201168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645920"/>
            <a:ext cx="5559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66534"/>
                </a:solidFill>
                <a:latin typeface="Calibri"/>
              </a:rPr>
              <a:t>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920240"/>
            <a:ext cx="5559552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1A1A1A"/>
                </a:solidFill>
                <a:latin typeface="Calibri"/>
              </a:rPr>
              <a:t>AI agents analyze logs, pinpoint root causes, and generate fix PRs within minutes</a:t>
            </a:r>
          </a:p>
          <a:p>
            <a:r>
              <a:rPr sz="850">
                <a:solidFill>
                  <a:srgbClr val="1A1A1A"/>
                </a:solidFill>
                <a:latin typeface="Calibri"/>
              </a:rPr>
              <a:t>Automated CI/CD debugging: agent reads build logs, identifies failures, pushes fixes</a:t>
            </a:r>
          </a:p>
          <a:p>
            <a:r>
              <a:rPr sz="850">
                <a:solidFill>
                  <a:srgbClr val="1A1A1A"/>
                </a:solidFill>
                <a:latin typeface="Calibri"/>
              </a:rPr>
              <a:t>Infrastructure-as-code auto-remediation: drift detection → Terraform PR → validated apply</a:t>
            </a:r>
          </a:p>
          <a:p>
            <a:r>
              <a:rPr sz="850">
                <a:solidFill>
                  <a:srgbClr val="1A1A1A"/>
                </a:solidFill>
                <a:latin typeface="Calibri"/>
              </a:rPr>
              <a:t>Runbook automation: agent executes incident playbooks with human-in-the-loop escalation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15184"/>
            <a:ext cx="54864" cy="20116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596896"/>
            <a:ext cx="5559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B6E"/>
                </a:solidFill>
                <a:latin typeface="Calibri"/>
              </a:rPr>
              <a:t>GOVERNANCE &amp; SECURITY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871216"/>
            <a:ext cx="5559552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1A1A1A"/>
                </a:solidFill>
                <a:latin typeface="Calibri"/>
              </a:rPr>
              <a:t>Production access scoped read-only for agents; write actions require human approval</a:t>
            </a:r>
          </a:p>
          <a:p>
            <a:r>
              <a:rPr sz="850">
                <a:solidFill>
                  <a:srgbClr val="1A1A1A"/>
                </a:solidFill>
                <a:latin typeface="Calibri"/>
              </a:rPr>
              <a:t>Incident response audit trail: every agent action logged with timestamp and rationale</a:t>
            </a:r>
          </a:p>
          <a:p>
            <a:r>
              <a:rPr sz="850">
                <a:solidFill>
                  <a:srgbClr val="1A1A1A"/>
                </a:solidFill>
                <a:latin typeface="Calibri"/>
              </a:rPr>
              <a:t>Blast radius controls: auto-remediation limited to non-critical services without approval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10712"/>
            <a:ext cx="54864" cy="201168"/>
          </a:xfrm>
          <a:prstGeom prst="rect">
            <a:avLst/>
          </a:prstGeom>
          <a:solidFill>
            <a:srgbClr val="9D1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392424"/>
            <a:ext cx="555955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D174D"/>
                </a:solidFill>
                <a:latin typeface="Calibri"/>
              </a:rPr>
              <a:t>YC COMPETITIVE LANDSCAPE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666744"/>
            <a:ext cx="5559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1A1A1A"/>
                </a:solidFill>
                <a:latin typeface="Calibri"/>
              </a:rPr>
              <a:t>Rootly (S21, team 45) - incident management</a:t>
            </a:r>
          </a:p>
          <a:p>
            <a:r>
              <a:rPr sz="800">
                <a:solidFill>
                  <a:srgbClr val="1A1A1A"/>
                </a:solidFill>
                <a:latin typeface="Calibri"/>
              </a:rPr>
              <a:t>incident.io (S21, team 120) - incident response</a:t>
            </a:r>
          </a:p>
          <a:p>
            <a:r>
              <a:rPr sz="800">
                <a:solidFill>
                  <a:srgbClr val="1A1A1A"/>
                </a:solidFill>
                <a:latin typeface="Calibri"/>
              </a:rPr>
              <a:t>Firehydrant (W20, team 90) - incident management</a:t>
            </a:r>
          </a:p>
          <a:p>
            <a:r>
              <a:rPr sz="800">
                <a:solidFill>
                  <a:srgbClr val="1A1A1A"/>
                </a:solidFill>
                <a:latin typeface="Calibri"/>
              </a:rPr>
              <a:t>Airplane (W22, team 40) - internal tooling + runbooks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713232"/>
            <a:ext cx="2468880" cy="7772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749808"/>
            <a:ext cx="2468880" cy="388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31837"/>
                </a:solidFill>
                <a:latin typeface="Calibri"/>
              </a:rPr>
              <a:t>4hr→15m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086307"/>
            <a:ext cx="2377440" cy="3730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6B7280"/>
                </a:solidFill>
                <a:latin typeface="Calibri"/>
              </a:rPr>
              <a:t>Mean Time to Resolution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713232"/>
            <a:ext cx="2468880" cy="7772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749808"/>
            <a:ext cx="2468880" cy="388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31837"/>
                </a:solidFill>
                <a:latin typeface="Calibri"/>
              </a:rPr>
              <a:t>70%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1086307"/>
            <a:ext cx="2377440" cy="3730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6B7280"/>
                </a:solidFill>
                <a:latin typeface="Calibri"/>
              </a:rPr>
              <a:t>Auto-Resolved Incidents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1673352"/>
            <a:ext cx="2468880" cy="7772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709928"/>
            <a:ext cx="2468880" cy="388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31837"/>
                </a:solidFill>
                <a:latin typeface="Calibri"/>
              </a:rPr>
              <a:t>85%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046427"/>
            <a:ext cx="2377440" cy="3730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6B7280"/>
                </a:solidFill>
                <a:latin typeface="Calibri"/>
              </a:rPr>
              <a:t>CI/CD Fix Rate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1673352"/>
            <a:ext cx="2468880" cy="7772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0" y="1709928"/>
            <a:ext cx="2468880" cy="388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E31837"/>
                </a:solidFill>
                <a:latin typeface="Calibri"/>
              </a:rPr>
              <a:t>43 / 52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2046427"/>
            <a:ext cx="2377440" cy="3730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>
                <a:solidFill>
                  <a:srgbClr val="6B7280"/>
                </a:solidFill>
                <a:latin typeface="Calibri"/>
              </a:rPr>
              <a:t>Always-On Coverage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2633472"/>
            <a:ext cx="54864" cy="20116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2615184"/>
            <a:ext cx="51937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B6E"/>
                </a:solidFill>
                <a:latin typeface="Calibri"/>
              </a:rPr>
              <a:t>SYSTEMS INTEGRATED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2907792"/>
            <a:ext cx="640080" cy="21945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2907792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1F3B6E"/>
                </a:solidFill>
                <a:latin typeface="Calibri"/>
              </a:rPr>
              <a:t>PagerDuty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3760" y="2907792"/>
            <a:ext cx="640080" cy="21945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23760" y="2907792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1F3B6E"/>
                </a:solidFill>
                <a:latin typeface="Calibri"/>
              </a:rPr>
              <a:t>DataDog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55280" y="2907792"/>
            <a:ext cx="640080" cy="21945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5280" y="2907792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1F3B6E"/>
                </a:solidFill>
                <a:latin typeface="Calibri"/>
              </a:rPr>
              <a:t>Terraform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86800" y="2907792"/>
            <a:ext cx="980000" cy="21945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0" y="2907792"/>
            <a:ext cx="98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1F3B6E"/>
                </a:solidFill>
                <a:latin typeface="Calibri"/>
              </a:rPr>
              <a:t>GitHub Actions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3227832"/>
            <a:ext cx="54864" cy="201168"/>
          </a:xfrm>
          <a:prstGeom prst="rect">
            <a:avLst/>
          </a:prstGeom>
          <a:solidFill>
            <a:srgbClr val="9240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528" y="3209544"/>
            <a:ext cx="51937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92400E"/>
                </a:solidFill>
                <a:latin typeface="Calibri"/>
              </a:rPr>
              <a:t>TARGET USERS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3483864"/>
            <a:ext cx="519379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1A1A1A"/>
                </a:solidFill>
                <a:latin typeface="Calibri"/>
              </a:rPr>
              <a:t>SRE Teams  |  DevOps Engineers  |  Incident Commanders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3776472"/>
            <a:ext cx="54864" cy="20116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10528" y="3758184"/>
            <a:ext cx="51937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3B6E"/>
                </a:solidFill>
                <a:latin typeface="Calibri"/>
              </a:rPr>
              <a:t>SOLUTION STACK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4050792"/>
            <a:ext cx="12573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OBSERVE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4251960"/>
            <a:ext cx="1257300" cy="502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37376" y="4270248"/>
            <a:ext cx="11841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>
                <a:solidFill>
                  <a:srgbClr val="1A1A1A"/>
                </a:solidFill>
                <a:latin typeface="Calibri"/>
              </a:rPr>
              <a:t>DataDog logs</a:t>
            </a:r>
          </a:p>
          <a:p>
            <a:r>
              <a:rPr sz="700">
                <a:solidFill>
                  <a:srgbClr val="1A1A1A"/>
                </a:solidFill>
                <a:latin typeface="Calibri"/>
              </a:rPr>
              <a:t>PagerDuty alerts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49540" y="4050792"/>
            <a:ext cx="12573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COMPUTE / AI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49540" y="4251960"/>
            <a:ext cx="1257300" cy="502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86116" y="4270248"/>
            <a:ext cx="11841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>
                <a:solidFill>
                  <a:srgbClr val="1A1A1A"/>
                </a:solidFill>
                <a:latin typeface="Calibri"/>
              </a:rPr>
              <a:t>Log analysis LLM</a:t>
            </a:r>
          </a:p>
          <a:p>
            <a:r>
              <a:rPr sz="700">
                <a:solidFill>
                  <a:srgbClr val="1A1A1A"/>
                </a:solidFill>
                <a:latin typeface="Calibri"/>
              </a:rPr>
              <a:t>Root cause agent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98280" y="4050792"/>
            <a:ext cx="12573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INTEGRATION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98280" y="4251960"/>
            <a:ext cx="1257300" cy="502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34856" y="4270248"/>
            <a:ext cx="11841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>
                <a:solidFill>
                  <a:srgbClr val="1A1A1A"/>
                </a:solidFill>
                <a:latin typeface="Calibri"/>
              </a:rPr>
              <a:t>Terraform API</a:t>
            </a:r>
          </a:p>
          <a:p>
            <a:r>
              <a:rPr sz="700">
                <a:solidFill>
                  <a:srgbClr val="1A1A1A"/>
                </a:solidFill>
                <a:latin typeface="Calibri"/>
              </a:rPr>
              <a:t>K8s API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447020" y="4050792"/>
            <a:ext cx="12573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FFFF"/>
                </a:solidFill>
                <a:latin typeface="Calibri"/>
              </a:rPr>
              <a:t>UX / DECISION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447020" y="4251960"/>
            <a:ext cx="1257300" cy="50292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483596" y="4270248"/>
            <a:ext cx="11841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>
                <a:solidFill>
                  <a:srgbClr val="1A1A1A"/>
                </a:solidFill>
                <a:latin typeface="Calibri"/>
              </a:rPr>
              <a:t>Incident dashboard</a:t>
            </a:r>
          </a:p>
          <a:p>
            <a:r>
              <a:rPr sz="700">
                <a:solidFill>
                  <a:srgbClr val="1A1A1A"/>
                </a:solidFill>
                <a:latin typeface="Calibri"/>
              </a:rPr>
              <a:t>Runbook executor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AI Engineering Business Use Cases | Confidential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>
                <a:solidFill>
                  <a:srgbClr val="AAAAAA"/>
                </a:solidFill>
                <a:latin typeface="Calibri"/>
              </a:rPr>
              <a:t>43 / 52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11640312" cy="384048"/>
          </a:xfrm>
          <a:prstGeom prst="rect">
            <a:avLst/>
          </a:prstGeom>
          <a:solidFill>
            <a:srgbClr val="1F3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UC24 Architecture | DevOps &amp; Incident Response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000" y="995000"/>
            <a:ext cx="330000" cy="1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" b="1">
                <a:solidFill>
                  <a:srgbClr val="6B7280"/>
                </a:solidFill>
                <a:latin typeface="Calibri"/>
              </a:rPr>
              <a:t>DETECT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000" y="750000"/>
            <a:ext cx="1400000" cy="65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PagerDuty Alert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incident trigger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0000" y="1066000"/>
            <a:ext cx="28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 rot="5400000">
            <a:off x="2090000" y="1035000"/>
            <a:ext cx="80000" cy="8000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0000" y="750000"/>
            <a:ext cx="1400000" cy="65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Log Aggregator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DataDog ingest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0000" y="1066000"/>
            <a:ext cx="28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5400000">
            <a:off x="3810000" y="1035000"/>
            <a:ext cx="80000" cy="8000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000" y="750000"/>
            <a:ext cx="1400000" cy="650000"/>
          </a:xfrm>
          <a:prstGeom prst="rect">
            <a:avLst/>
          </a:prstGeom>
          <a:solidFill>
            <a:srgbClr val="E0E7FF"/>
          </a:solidFill>
          <a:ln w="1524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Correlation Engine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signal grouping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00" y="1845000"/>
            <a:ext cx="330000" cy="1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" b="1">
                <a:solidFill>
                  <a:srgbClr val="6B7280"/>
                </a:solidFill>
                <a:latin typeface="Calibri"/>
              </a:rPr>
              <a:t>ANALYZE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0000" y="1600000"/>
            <a:ext cx="1400000" cy="650000"/>
          </a:xfrm>
          <a:prstGeom prst="rect">
            <a:avLst/>
          </a:prstGeom>
          <a:solidFill>
            <a:srgbClr val="1F3B6E"/>
          </a:solidFill>
          <a:ln w="15240">
            <a:solidFill>
              <a:srgbClr val="1F3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Root Cause Agent</a:t>
            </a:r>
          </a:p>
          <a:p>
            <a:pPr algn="ctr"/>
            <a:r>
              <a:rPr sz="700">
                <a:solidFill>
                  <a:srgbClr val="BBBBBB"/>
                </a:solidFill>
                <a:latin typeface="Calibri"/>
              </a:rPr>
              <a:t>hypothesis engine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0000" y="1916000"/>
            <a:ext cx="28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 rot="5400000">
            <a:off x="2090000" y="1885000"/>
            <a:ext cx="80000" cy="8000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20000" y="1600000"/>
            <a:ext cx="1400000" cy="650000"/>
          </a:xfrm>
          <a:prstGeom prst="rect">
            <a:avLst/>
          </a:prstGeom>
          <a:solidFill>
            <a:srgbClr val="1F3B6E"/>
          </a:solidFill>
          <a:ln w="15240">
            <a:solidFill>
              <a:srgbClr val="1F3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Log Analysis LLM</a:t>
            </a:r>
          </a:p>
          <a:p>
            <a:pPr algn="ctr"/>
            <a:r>
              <a:rPr sz="700">
                <a:solidFill>
                  <a:srgbClr val="BBBBBB"/>
                </a:solidFill>
                <a:latin typeface="Calibri"/>
              </a:rPr>
              <a:t>pattern extraction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0000" y="1916000"/>
            <a:ext cx="28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 rot="5400000">
            <a:off x="3810000" y="1885000"/>
            <a:ext cx="80000" cy="8000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40000" y="1600000"/>
            <a:ext cx="1400000" cy="650000"/>
          </a:xfrm>
          <a:prstGeom prst="rect">
            <a:avLst/>
          </a:prstGeom>
          <a:solidFill>
            <a:srgbClr val="1F3B6E"/>
          </a:solidFill>
          <a:ln w="15240">
            <a:solidFill>
              <a:srgbClr val="1F3B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Runbook Matcher</a:t>
            </a:r>
          </a:p>
          <a:p>
            <a:pPr algn="ctr"/>
            <a:r>
              <a:rPr sz="700">
                <a:solidFill>
                  <a:srgbClr val="BBBBBB"/>
                </a:solidFill>
                <a:latin typeface="Calibri"/>
              </a:rPr>
              <a:t>playbook lookup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00" y="2695000"/>
            <a:ext cx="330000" cy="1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" b="1">
                <a:solidFill>
                  <a:srgbClr val="6B7280"/>
                </a:solidFill>
                <a:latin typeface="Calibri"/>
              </a:rPr>
              <a:t>REMEDIATE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0000" y="2450000"/>
            <a:ext cx="1400000" cy="650000"/>
          </a:xfrm>
          <a:prstGeom prst="rect">
            <a:avLst/>
          </a:prstGeom>
          <a:solidFill>
            <a:srgbClr val="E0E7FF"/>
          </a:solidFill>
          <a:ln w="1524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Remediation Agent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action executor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0000" y="2766000"/>
            <a:ext cx="28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 rot="5400000">
            <a:off x="2090000" y="2735000"/>
            <a:ext cx="80000" cy="8000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20000" y="2450000"/>
            <a:ext cx="1400000" cy="650000"/>
          </a:xfrm>
          <a:prstGeom prst="rect">
            <a:avLst/>
          </a:prstGeom>
          <a:solidFill>
            <a:srgbClr val="E0E7FF"/>
          </a:solidFill>
          <a:ln w="1524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Terraform API |
K8s API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infra mutation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0000" y="2766000"/>
            <a:ext cx="28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 rot="5400000">
            <a:off x="3810000" y="2735000"/>
            <a:ext cx="80000" cy="8000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40000" y="2450000"/>
            <a:ext cx="1400000" cy="650000"/>
          </a:xfrm>
          <a:prstGeom prst="rect">
            <a:avLst/>
          </a:prstGeom>
          <a:solidFill>
            <a:srgbClr val="E0E7FF"/>
          </a:solidFill>
          <a:ln w="1524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GitHub API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code rollback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000" y="3545000"/>
            <a:ext cx="330000" cy="1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" b="1">
                <a:solidFill>
                  <a:srgbClr val="6B7280"/>
                </a:solidFill>
                <a:latin typeface="Calibri"/>
              </a:rPr>
              <a:t>VERIFY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00000" y="3300000"/>
            <a:ext cx="1400000" cy="650000"/>
          </a:xfrm>
          <a:prstGeom prst="rect">
            <a:avLst/>
          </a:prstGeom>
          <a:solidFill>
            <a:srgbClr val="DCFCE7"/>
          </a:solidFill>
          <a:ln w="1524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Validation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health checks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20000" y="3616000"/>
            <a:ext cx="28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 rot="5400000">
            <a:off x="2090000" y="3585000"/>
            <a:ext cx="80000" cy="8000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120000" y="3300000"/>
            <a:ext cx="1400000" cy="650000"/>
          </a:xfrm>
          <a:prstGeom prst="rect">
            <a:avLst/>
          </a:prstGeom>
          <a:solidFill>
            <a:srgbClr val="DCFCE7"/>
          </a:solidFill>
          <a:ln w="1524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Canary Deploy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progressive rollout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0000" y="3616000"/>
            <a:ext cx="280000" cy="18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 rot="5400000">
            <a:off x="3810000" y="3585000"/>
            <a:ext cx="80000" cy="8000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840000" y="3300000"/>
            <a:ext cx="1400000" cy="650000"/>
          </a:xfrm>
          <a:prstGeom prst="rect">
            <a:avLst/>
          </a:prstGeom>
          <a:solidFill>
            <a:srgbClr val="DCFCE7"/>
          </a:solidFill>
          <a:ln w="1524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Incident Closed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auto-resolve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0000" y="2450000"/>
            <a:ext cx="1400000" cy="650000"/>
          </a:xfrm>
          <a:prstGeom prst="rect">
            <a:avLst/>
          </a:prstGeom>
          <a:solidFill>
            <a:srgbClr val="FEE2E2"/>
          </a:solidFill>
          <a:ln w="1524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Blast Radius
Controller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scope limiter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0000" y="2025000"/>
            <a:ext cx="1400000" cy="650000"/>
          </a:xfrm>
          <a:prstGeom prst="rect">
            <a:avLst/>
          </a:prstGeom>
          <a:solidFill>
            <a:srgbClr val="FEF3C7"/>
          </a:solidFill>
          <a:ln w="15240">
            <a:solidFill>
              <a:srgbClr val="9240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Calibri"/>
              </a:rPr>
              <a:t>Audit Logger</a:t>
            </a:r>
          </a:p>
          <a:p>
            <a:pPr algn="ctr"/>
            <a:r>
              <a:rPr sz="700">
                <a:solidFill>
                  <a:srgbClr val="6B7280"/>
                </a:solidFill>
                <a:latin typeface="Calibri"/>
              </a:rPr>
              <a:t>all-stage trace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11000" y="1400000"/>
            <a:ext cx="18000" cy="20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811000" y="2250000"/>
            <a:ext cx="18000" cy="20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811000" y="3100000"/>
            <a:ext cx="18000" cy="2000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0000" y="5900000"/>
            <a:ext cx="114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i="1">
                <a:solidFill>
                  <a:srgbClr val="6B7280"/>
                </a:solidFill>
                <a:latin typeface="Calibri"/>
              </a:rPr>
              <a:t>Closed-loop incident response: detect, diagnose, remediate, and verify with blast-radius controls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6263640"/>
            <a:ext cx="10000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99999"/>
                </a:solidFill>
                <a:latin typeface="Calibri"/>
              </a:rPr>
              <a:t>AI Engineering Business Use Cases | Confidential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>
                <a:solidFill>
                  <a:srgbClr val="FFFFFF"/>
                </a:solidFill>
                <a:latin typeface="Calibri"/>
              </a:rPr>
              <a:t>44 / 52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YC Competitive Landscape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Matrix Across 6 Verticals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051560"/>
            <a:ext cx="1463040" cy="320040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105156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828800" y="1051560"/>
            <a:ext cx="548640" cy="320040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28800" y="10515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23160" y="1051560"/>
            <a:ext cx="4114800" cy="320040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423160" y="10515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YC Players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583680" y="1051560"/>
            <a:ext cx="914400" cy="320040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83680" y="10515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543800" y="1051560"/>
            <a:ext cx="4572000" cy="320040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54380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Differentiation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0040" y="1417320"/>
            <a:ext cx="1463040" cy="713232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65760" y="1417320"/>
            <a:ext cx="1371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828800" y="1417320"/>
            <a:ext cx="548640" cy="713232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874520" y="1417320"/>
            <a:ext cx="457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423160" y="1417320"/>
            <a:ext cx="4114800" cy="713232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468880" y="1417320"/>
            <a:ext cx="40233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(W19, 40 emp), Ocular AI (W24), Bucket Robotics (S24), F4 Industries (S25), Inviscid AI (W26)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583680" y="1417320"/>
            <a:ext cx="914400" cy="713232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629400" y="1417320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543800" y="1417320"/>
            <a:ext cx="4572000" cy="713232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589520" y="1417320"/>
            <a:ext cx="44805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integration vs niche point solutions; MCP-native architecture enables broader system coverage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320040" y="2167128"/>
            <a:ext cx="146304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65760" y="2167128"/>
            <a:ext cx="1371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828800" y="2167128"/>
            <a:ext cx="54864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874520" y="2167128"/>
            <a:ext cx="457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423160" y="2167128"/>
            <a:ext cx="41148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2468880" y="2167128"/>
            <a:ext cx="40233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Understood Care (S24), HealthKey (W25), Morf Health (S22), Gradia Health (W21), Stream (S22), Avallon AI (Sp25)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583680" y="2167128"/>
            <a:ext cx="9144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629400" y="2167128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7543800" y="2167128"/>
            <a:ext cx="45720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589520" y="2167128"/>
            <a:ext cx="44805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FHIR-native platform with multi-payer integration; compliance-first architecture vs bolt-on HIPAA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320040" y="2916936"/>
            <a:ext cx="1463040" cy="713232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65760" y="2916936"/>
            <a:ext cx="1371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828800" y="2916936"/>
            <a:ext cx="548640" cy="713232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1874520" y="2916936"/>
            <a:ext cx="457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423160" y="2916936"/>
            <a:ext cx="4114800" cy="713232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2468880" y="2916936"/>
            <a:ext cx="40233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Ironclad (S15, 700 emp), Draftwise (S20, 50 emp), General Legal (W26), Vector Legal (W26), Pincites (S23)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6583680" y="2916936"/>
            <a:ext cx="914400" cy="713232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629400" y="2916936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7543800" y="2916936"/>
            <a:ext cx="4572000" cy="713232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7589520" y="2916936"/>
            <a:ext cx="44805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Full-practice automation (contracts + research + billing) vs single-workflow tools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320040" y="3666744"/>
            <a:ext cx="146304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365760" y="3666744"/>
            <a:ext cx="1371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Estate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1828800" y="3666744"/>
            <a:ext cx="54864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1874520" y="3666744"/>
            <a:ext cx="457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423160" y="3666744"/>
            <a:ext cx="41148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2468880" y="3666744"/>
            <a:ext cx="40233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 (S20, 90 emp), Homeflow (W23), PropReturns (S21, 40 emp), Smart Alto (W17)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583680" y="3666744"/>
            <a:ext cx="9144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629400" y="3666744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543800" y="3666744"/>
            <a:ext cx="45720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7589520" y="3666744"/>
            <a:ext cx="44805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lease + lead + commission vs fragmented point solutions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20040" y="4416552"/>
            <a:ext cx="1463040" cy="713232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365760" y="4416552"/>
            <a:ext cx="1371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1828800" y="4416552"/>
            <a:ext cx="548640" cy="713232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1874520" y="4416552"/>
            <a:ext cx="457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2423160" y="4416552"/>
            <a:ext cx="4114800" cy="713232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2468880" y="4416552"/>
            <a:ext cx="40233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Positional (S21, acquired)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6583680" y="4416552"/>
            <a:ext cx="914400" cy="713232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6629400" y="4416552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7543800" y="4416552"/>
            <a:ext cx="4572000" cy="713232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7589520" y="4416552"/>
            <a:ext cx="44805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Underserved vertical; multi-channel unification vs SEO-only tools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320040" y="5166360"/>
            <a:ext cx="146304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365760" y="5166360"/>
            <a:ext cx="1371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Platforms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1828800" y="5166360"/>
            <a:ext cx="54864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1874520" y="5166360"/>
            <a:ext cx="457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2423160" y="5166360"/>
            <a:ext cx="41148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2468880" y="5166360"/>
            <a:ext cx="40233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LangChain, CrewAI, Temporal, various agent frameworks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6583680" y="5166360"/>
            <a:ext cx="9144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6629400" y="5166360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7543800" y="5166360"/>
            <a:ext cx="45720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7589520" y="5166360"/>
            <a:ext cx="44805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Vertical-specific agents on general infrastructure vs general-purpose frameworks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365760" y="5989320"/>
            <a:ext cx="11430000" cy="201168"/>
          </a:xfrm>
          <a:prstGeom prst="rect">
            <a:avLst/>
          </a:prstGeom>
          <a:solidFill>
            <a:srgbClr val="F5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548640" y="5989320"/>
            <a:ext cx="110642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Healthcare and Legal verticals face well-funded YC competition; Manufacturing/Real Estate/Marketing offer less contested entry points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Business Use Cases | Confidential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/ 52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Model &amp; Unit Economics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Financial Model Across Verticals and Scale Tiers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56692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5669280" cy="256032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PER VERTICAL (Monthly per Client)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344168"/>
            <a:ext cx="5486400" cy="14996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Manufacturing: $5,000-$10,000/mo (complex integration, high-value outcomes)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Healthcare: $3,000-$5,000/mo (HIPAA compliance overhead, multi-system integration)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Legal: $3,000-$5,000/mo (high attorney labor displacement value)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Estate: $2,000-$4,000/mo (high volume, lower complexity per transaction)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Marketing: $2,000-$4,000/mo (multi-channel, agency white-label premium)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263640" y="1051560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263640" y="1051560"/>
            <a:ext cx="5486400" cy="256032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55080" y="1051560"/>
            <a:ext cx="5303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STRUCTURE (Per Client Monthly)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355080" y="1344168"/>
            <a:ext cx="5303520" cy="14996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API costs: $0.02-$0.10 per request; ~$200-500/client/mo at typical usage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Infrastructure: $40-50/client/mo (EKS, RDS, Pinecone, monitoring)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Support: 1 FTE per 15 clients at Starter; 1 per 8 at Enterprise ($6K-12K/FTE/mo allocated)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connector maintenance: $500-1,000/mo amortized across client base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target: 65-75% at scale (&gt;30 clients)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65760" y="3063240"/>
            <a:ext cx="56692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5760" y="3063240"/>
            <a:ext cx="5669280" cy="256032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306324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ECONOMICS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355848"/>
            <a:ext cx="5486400" cy="1316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(1-5 clients): 40% margin, $15-30K MRR, founder-led sales/support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(6-20 clients): 55% margin, $50-150K MRR, 3-5 person team, dedicated CS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Agency (21-50 clients): 65% margin, $150-400K MRR, specialized roles, self-service onboarding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(50+ clients): 72% margin, $400K+ MRR, platform economics, partner channel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263640" y="3063240"/>
            <a:ext cx="54864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263640" y="3063240"/>
            <a:ext cx="5486400" cy="256032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355080" y="3063240"/>
            <a:ext cx="5303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492240" y="3429000"/>
            <a:ext cx="2331720" cy="59436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92240" y="3465576"/>
            <a:ext cx="233172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537960" y="3714293"/>
            <a:ext cx="2240280" cy="2852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Client Retention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9052560" y="3429000"/>
            <a:ext cx="2331720" cy="59436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052560" y="3465576"/>
            <a:ext cx="233172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mo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098280" y="3714293"/>
            <a:ext cx="2240280" cy="2852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Payback Period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492240" y="4087368"/>
            <a:ext cx="2331720" cy="59436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492240" y="4123944"/>
            <a:ext cx="233172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$72K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6537960" y="4372661"/>
            <a:ext cx="2240280" cy="2852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LTV (mid-tier)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052560" y="4087368"/>
            <a:ext cx="2331720" cy="594360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052560" y="4123944"/>
            <a:ext cx="233172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6:1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9098280" y="4372661"/>
            <a:ext cx="2240280" cy="2852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LTV/CAC Ratio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65760" y="4892040"/>
            <a:ext cx="11430000" cy="274320"/>
          </a:xfrm>
          <a:prstGeom prst="rect">
            <a:avLst/>
          </a:prstGeom>
          <a:solidFill>
            <a:srgbClr val="F5F7FA"/>
          </a:solidFill>
          <a:ln w="1905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48640" y="489204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at 8 clients (blended $4K/mo) | Path to $1M ARR at 21 clients | $5M ARR at 85 clients (Enterprise tier mix)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Business Use Cases | Confidential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/ 52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Roadmap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12-Month Phased Go-to-Market Execution Plan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27432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2743200" cy="502920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6984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289304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1-2 — Foundation &amp; Pilots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57200" y="164592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Select primary vertical (recommend: Manufacturing or Marketing — least YC competition)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57200" y="2029968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Deploy core agent stack: Claude + MCP + 3 connectors (CRM, email, calendar)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57200" y="2414016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Onboard 3-5 pilot clients at discounted rate ($1.5K/mo) for case study development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57200" y="2798064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Build 3 core use case agents with full testing and validation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57200" y="3182112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Establish monitoring: DataDog APM, error rates, model performance baselines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57200" y="4160520"/>
            <a:ext cx="2560320" cy="274320"/>
          </a:xfrm>
          <a:prstGeom prst="rect">
            <a:avLst/>
          </a:prstGeom>
          <a:solidFill>
            <a:srgbClr val="F5F7FA"/>
          </a:solidFill>
          <a:ln w="12700">
            <a:solidFill>
              <a:srgbClr val="1F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41605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3 paying pilots, NPS &gt;40, &lt;5% error rate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3246120" y="1051560"/>
            <a:ext cx="27432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246120" y="1051560"/>
            <a:ext cx="2743200" cy="502920"/>
          </a:xfrm>
          <a:prstGeom prst="rect">
            <a:avLst/>
          </a:prstGeom>
          <a:solidFill>
            <a:srgbClr val="1665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337560" y="106984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337560" y="1289304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3-4 — Expansion &amp; Hardening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337560" y="164592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Expand agent library to 8-10 use cases across primary vertical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337560" y="2029968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Add 4-6 MCP connectors (SAP, DocuSign, QuickBooks, payer APIs)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337560" y="2414016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Scale to 10-15 clients; transition pilots to standard pricing ($3-5K/mo)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337560" y="2798064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Implement SOC 2 Type II controls and begin audit prep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337560" y="3182112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Hire: 1 solutions engineer, 1 customer success manager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3337560" y="4160520"/>
            <a:ext cx="2560320" cy="274320"/>
          </a:xfrm>
          <a:prstGeom prst="rect">
            <a:avLst/>
          </a:prstGeom>
          <a:solidFill>
            <a:srgbClr val="F5F7FA"/>
          </a:solidFill>
          <a:ln w="12700">
            <a:solidFill>
              <a:srgbClr val="16653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383280" y="41605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$50K MRR, 90% retention, SOC 2 readiness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6126480" y="1051560"/>
            <a:ext cx="27432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126480" y="1051560"/>
            <a:ext cx="2743200" cy="502920"/>
          </a:xfrm>
          <a:prstGeom prst="rect">
            <a:avLst/>
          </a:prstGeom>
          <a:solidFill>
            <a:srgbClr val="92400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217920" y="106984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217920" y="1289304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5-6 — Cross-Vertical &amp; Self-Service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217920" y="164592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Launch second vertical (recommend: Healthcare or Legal — higher ACV)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217920" y="2029968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Cross-vertical template library: reusable agent patterns across industries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217920" y="2414016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Self-service onboarding: client portal for connector setup and agent configuration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217920" y="2798064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Scale to 20-30 clients across 2 verticals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6217920" y="3182112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Partner program: 2-3 system integrator partnerships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6217920" y="4160520"/>
            <a:ext cx="2560320" cy="274320"/>
          </a:xfrm>
          <a:prstGeom prst="rect">
            <a:avLst/>
          </a:prstGeom>
          <a:solidFill>
            <a:srgbClr val="F5F7FA"/>
          </a:solidFill>
          <a:ln w="12700">
            <a:solidFill>
              <a:srgbClr val="92400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263640" y="41605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$120K MRR, 2 verticals, self-service activation &lt;48 hrs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9006840" y="1051560"/>
            <a:ext cx="27432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9006840" y="1051560"/>
            <a:ext cx="2743200" cy="502920"/>
          </a:xfrm>
          <a:prstGeom prst="rect">
            <a:avLst/>
          </a:prstGeom>
          <a:solidFill>
            <a:srgbClr val="E318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9098280" y="106984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9098280" y="1289304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7-12 — Enterprise &amp; Scale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9098280" y="164592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Enterprise tier launch: dedicated agents, custom MCP connectors, SLA guarantee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9098280" y="2029968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Add remaining verticals (Real Estate, Marketing) from template library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9098280" y="2414016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Scale to 50+ clients; target $400K+ MRR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9098280" y="2798064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SOC 2 Type II certification complete; HIPAA BAA for healthcare vertical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9098280" y="3182112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Hire: VP Sales, 2 additional engineers, dedicated DevOps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9098280" y="4160520"/>
            <a:ext cx="2560320" cy="274320"/>
          </a:xfrm>
          <a:prstGeom prst="rect">
            <a:avLst/>
          </a:prstGeom>
          <a:solidFill>
            <a:srgbClr val="F5F7FA"/>
          </a:solidFill>
          <a:ln w="12700">
            <a:solidFill>
              <a:srgbClr val="E318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9144000" y="41605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$400K MRR, 4 verticals, 50+ clients, SOC 2 certified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365760" y="4663440"/>
            <a:ext cx="11430000" cy="36576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365760" y="47091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316736" y="47091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267712" y="47091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3218688" y="47091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169664" y="47091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120640" y="47091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071616" y="47091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7022592" y="47091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M8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7973568" y="47091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M9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8924544" y="47091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M10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9875520" y="47091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M11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10826496" y="47091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M12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Business Use Cases | Confidential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/ 52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Model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Tiers Designed for Progressive AI Adoption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347472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3474720" cy="822960"/>
          </a:xfrm>
          <a:prstGeom prst="rect">
            <a:avLst/>
          </a:prstGeom>
          <a:solidFill>
            <a:srgbClr val="6B72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143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148132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$2K/mo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20574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 vertical focus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31520" y="23317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Up to 3 use cases deployed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2606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Standard MCP connectors (pre-built)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" y="28803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Email support (24-hour SLA)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1520" y="31546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Shared infrastructure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34290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Monthly performance reports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31520" y="37033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Community Slack access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31520" y="39776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99.5% uptime SLA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343400" y="1097280"/>
            <a:ext cx="3474720" cy="3474720"/>
          </a:xfrm>
          <a:prstGeom prst="rect">
            <a:avLst/>
          </a:prstGeom>
          <a:solidFill>
            <a:srgbClr val="FFFFFF"/>
          </a:solidFill>
          <a:ln w="31750">
            <a:solidFill>
              <a:srgbClr val="1F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343400" y="1097280"/>
            <a:ext cx="3474720" cy="822960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343400" y="1143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343400" y="148132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$5K/mo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5532120" y="932688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E318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532120" y="93268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POPULAR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526280" y="20574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2 verticals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26280" y="23317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Up to 10 use cases deployed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26280" y="2606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Custom MCP connectors (2 included)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26280" y="28803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Priority support (4-hour SLA)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26280" y="31546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Dedicated compute namespace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26280" y="34290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Custom dashboards + white-label reports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26280" y="37033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Dedicated CSM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26280" y="39776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99.9% uptime SLA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138160" y="1097280"/>
            <a:ext cx="347472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8138160" y="1097280"/>
            <a:ext cx="3474720" cy="822960"/>
          </a:xfrm>
          <a:prstGeom prst="rect">
            <a:avLst/>
          </a:prstGeom>
          <a:solidFill>
            <a:srgbClr val="E318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138160" y="1143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138160" y="148132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$10K+/mo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8321040" y="20574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All verticals unlocked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321040" y="23317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Unlimited use cases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321040" y="2606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Custom agent development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321040" y="28803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Dedicated support engineer (1-hour SLA)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321040" y="31546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Isolated infrastructure (single-tenant option)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321040" y="34290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Custom integrations + API access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321040" y="37033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Executive business reviews (quarterly)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321040" y="39776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99.95% uptime SLA + penalty credits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57200" y="47548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tiers include: SOC 2 compliance, data encryption at rest and in transit, role-based access control, and audit logging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114800" y="5212080"/>
            <a:ext cx="3931920" cy="457200"/>
          </a:xfrm>
          <a:prstGeom prst="roundRect">
            <a:avLst>
              <a:gd name="adj" fmla="val 50000"/>
            </a:avLst>
          </a:prstGeom>
          <a:solidFill>
            <a:srgbClr val="E318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114800" y="52120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a Discovery Call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Business Use Cases | Contact: sales@aiengineering.io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/ 52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Integration 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Protocol: Connecting AI Agents to Enterprise Systems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56692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5669280" cy="256032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ARCHITECTURE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344168"/>
            <a:ext cx="5486400" cy="2048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Protocol: JSON-RPC 2.0 over stdio or HTTP/SSE transport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registry: typed schemas with input validation and output formatting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exposure: structured data access with URI-based addressing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templates: reusable context injection patterns per vertical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Authentication: OAuth 2.0 / API key per connector, secrets in Vault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limiting: per-client quotas with graceful degradation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breakers: automatic failover when downstream API degrades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263640" y="1051560"/>
            <a:ext cx="54864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263640" y="1051560"/>
            <a:ext cx="5486400" cy="256032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55080" y="1051560"/>
            <a:ext cx="5303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CATALOG (20+ Pre-Built)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355080" y="1344168"/>
            <a:ext cx="5303520" cy="2048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ERP: SAP MES, SAP PM, SAP S/4HANA (RFC + OData)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Healthcare: Epic FHIR R4, Cerner FHIR R4, Payer EDI 270/271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Legal: Westlaw Edge API, LexisNexis, iManage Work 10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CRM: Salesforce, HubSpot, Zoho (REST + Bulk API)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Financial: QuickBooks Online, Stripe, Plaid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Communication: Twilio (SMS/Voice), SendGrid, Slack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Documents: DocuSign eSign, Google Workspace, MS Graph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554480" cy="640080"/>
          </a:xfrm>
          <a:prstGeom prst="roundRect">
            <a:avLst>
              <a:gd name="adj" fmla="val 14286"/>
            </a:avLst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384048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103120" y="397764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0D5DD"/>
                </a:solidFill>
              </a:rPr>
              <a:t>▶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423160" y="3840480"/>
            <a:ext cx="1554480" cy="640080"/>
          </a:xfrm>
          <a:prstGeom prst="roundRect">
            <a:avLst>
              <a:gd name="adj" fmla="val 14286"/>
            </a:avLst>
          </a:prstGeom>
          <a:solidFill>
            <a:srgbClr val="16653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423160" y="384048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977640" y="397764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0D5DD"/>
                </a:solidFill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297680" y="3840480"/>
            <a:ext cx="1554480" cy="640080"/>
          </a:xfrm>
          <a:prstGeom prst="roundRect">
            <a:avLst>
              <a:gd name="adj" fmla="val 14286"/>
            </a:avLst>
          </a:prstGeom>
          <a:solidFill>
            <a:srgbClr val="92400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297680" y="384048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52160" y="397764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0D5DD"/>
                </a:solidFill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72200" y="3840480"/>
            <a:ext cx="1554480" cy="640080"/>
          </a:xfrm>
          <a:prstGeom prst="roundRect">
            <a:avLst>
              <a:gd name="adj" fmla="val 14286"/>
            </a:avLst>
          </a:prstGeom>
          <a:solidFill>
            <a:srgbClr val="9D17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172200" y="384048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26680" y="397764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0D5DD"/>
                </a:solidFill>
              </a:rPr>
              <a:t>▶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046720" y="3840480"/>
            <a:ext cx="1554480" cy="640080"/>
          </a:xfrm>
          <a:prstGeom prst="roundRect">
            <a:avLst>
              <a:gd name="adj" fmla="val 14286"/>
            </a:avLst>
          </a:prstGeom>
          <a:solidFill>
            <a:srgbClr val="E318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8046720" y="384048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601200" y="397764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0D5DD"/>
                </a:solidFill>
              </a:rPr>
              <a:t>▶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921240" y="3840480"/>
            <a:ext cx="1554480" cy="640080"/>
          </a:xfrm>
          <a:prstGeom prst="roundRect">
            <a:avLst>
              <a:gd name="adj" fmla="val 14286"/>
            </a:avLst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921240" y="3840480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4663440"/>
            <a:ext cx="11247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lifecycle: 50-200ms for cached responses, 500ms-3s for live API calls, 30s timeout with retry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" y="5029200"/>
            <a:ext cx="2651760" cy="685800"/>
          </a:xfrm>
          <a:prstGeom prst="roundRect">
            <a:avLst>
              <a:gd name="adj" fmla="val 6667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57200" y="5065776"/>
            <a:ext cx="265176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502920" y="5358384"/>
            <a:ext cx="256032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Pre-Built Connectors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291840" y="5029200"/>
            <a:ext cx="2651760" cy="685800"/>
          </a:xfrm>
          <a:prstGeom prst="roundRect">
            <a:avLst>
              <a:gd name="adj" fmla="val 6667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3291840" y="5065776"/>
            <a:ext cx="265176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&lt;200ms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3337560" y="5358384"/>
            <a:ext cx="256032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Cached Response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126480" y="5029200"/>
            <a:ext cx="2651760" cy="685800"/>
          </a:xfrm>
          <a:prstGeom prst="roundRect">
            <a:avLst>
              <a:gd name="adj" fmla="val 6667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6126480" y="5065776"/>
            <a:ext cx="265176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99.9%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172200" y="5358384"/>
            <a:ext cx="256032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Uptime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8961120" y="5029200"/>
            <a:ext cx="2651760" cy="685800"/>
          </a:xfrm>
          <a:prstGeom prst="roundRect">
            <a:avLst>
              <a:gd name="adj" fmla="val 6667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8961120" y="5065776"/>
            <a:ext cx="265176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2.0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9006840" y="5358384"/>
            <a:ext cx="256032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Standard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Business Use Cases | Confidential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/ 52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Orchestration Patterns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Production-Proven Multi-Agent Coordination Architectures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2286000" cy="320040"/>
          </a:xfrm>
          <a:prstGeom prst="roundRect">
            <a:avLst>
              <a:gd name="adj" fmla="val 14286"/>
            </a:avLst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Pipeline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834640" y="105156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chain of specialist agents, each transforming and passing results downstream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48640" y="1399032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Contract review: OCR Agent → Clause Extraction → Risk Scoring → Summary Generation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16733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Simple, debuggable, deterministic ordering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217920" y="16733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Latency scales linearly, single point of failure per stage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2011680"/>
            <a:ext cx="11430000" cy="9144"/>
          </a:xfrm>
          <a:prstGeom prst="rect">
            <a:avLst/>
          </a:prstGeom>
          <a:solidFill>
            <a:srgbClr val="D0D5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65760" y="2240280"/>
            <a:ext cx="2286000" cy="320040"/>
          </a:xfrm>
          <a:prstGeom prst="roundRect">
            <a:avLst>
              <a:gd name="adj" fmla="val 14286"/>
            </a:avLst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5760" y="22402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Fan-Out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834640" y="224028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dispatches to multiple agents simultaneously, aggregates results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0" y="2587752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Lead scoring: Profile Agent + Behavioral Agent + Financial Agent → Composite Score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48640" y="286207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Low latency, independent scaling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286207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Complex aggregation logic, partial failure handling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3200400"/>
            <a:ext cx="11430000" cy="9144"/>
          </a:xfrm>
          <a:prstGeom prst="rect">
            <a:avLst/>
          </a:prstGeom>
          <a:solidFill>
            <a:srgbClr val="D0D5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65760" y="3429000"/>
            <a:ext cx="2286000" cy="320040"/>
          </a:xfrm>
          <a:prstGeom prst="roundRect">
            <a:avLst>
              <a:gd name="adj" fmla="val 14286"/>
            </a:avLst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65760" y="3429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Delegation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834640" y="342900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agent decomposes task, delegates to specialist sub-agents, synthesizes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48640" y="3776472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SEO audit: Manager → Technical Crawler + Content Analyzer + Competitor Tracker → Report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48640" y="405079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Dynamic task decomposition, handles novel queries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217920" y="405079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Higher token cost, manager agent bottleneck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65760" y="4389120"/>
            <a:ext cx="11430000" cy="9144"/>
          </a:xfrm>
          <a:prstGeom prst="rect">
            <a:avLst/>
          </a:prstGeom>
          <a:solidFill>
            <a:srgbClr val="D0D5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65760" y="4617720"/>
            <a:ext cx="2286000" cy="320040"/>
          </a:xfrm>
          <a:prstGeom prst="roundRect">
            <a:avLst>
              <a:gd name="adj" fmla="val 14286"/>
            </a:avLst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65760" y="46177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34640" y="461772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processes to confidence threshold, escalates to human for judgment calls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" y="4965192"/>
            <a:ext cx="11247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Insurance verification: Auto-verify 85% → Flag uncertain cases → Human review queue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48640" y="523951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High accuracy for edge cases, builds training data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217920" y="523951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Requires staffed review queue, variable latency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Business Use Cases | Confidential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/ 52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Mitigation &amp; Failure Modes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Risk Management for Production AI Systems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2011680" cy="29260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100584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377440" y="1005840"/>
            <a:ext cx="914400" cy="29260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377440" y="100584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337560" y="1005840"/>
            <a:ext cx="914400" cy="29260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337560" y="100584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297680" y="1005840"/>
            <a:ext cx="4114800" cy="29260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297680" y="100584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Strategy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8458200" y="1005840"/>
            <a:ext cx="3474720" cy="292608"/>
          </a:xfrm>
          <a:prstGeom prst="rect">
            <a:avLst/>
          </a:prstGeom>
          <a:solidFill>
            <a:srgbClr val="1F3B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458200" y="1005840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Response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20040" y="1344168"/>
            <a:ext cx="2011680" cy="713232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65760" y="1344168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Hallucination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377440" y="1344168"/>
            <a:ext cx="914400" cy="713232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423160" y="1344168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337560" y="1344168"/>
            <a:ext cx="914400" cy="713232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383280" y="1344168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297680" y="1344168"/>
            <a:ext cx="4114800" cy="713232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343400" y="1344168"/>
            <a:ext cx="40233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validation schemas, confidence thresholds (&lt;0.7 triggers human review), citation verification for legal/medical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8458200" y="1344168"/>
            <a:ext cx="3474720" cy="713232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503920" y="1344168"/>
            <a:ext cx="3383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Auto-quarantine output, notify client, log for retraining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320040" y="2093976"/>
            <a:ext cx="20116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65760" y="2093976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Breach / Leak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2377440" y="2093976"/>
            <a:ext cx="9144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423160" y="2093976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337560" y="2093976"/>
            <a:ext cx="9144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383280" y="2093976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297680" y="2093976"/>
            <a:ext cx="41148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343400" y="2093976"/>
            <a:ext cx="40233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 encryption, PII redaction pipeline, network segmentation, DLP monitoring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8458200" y="2093976"/>
            <a:ext cx="34747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8503920" y="2093976"/>
            <a:ext cx="3383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isolation, GDPR 72-hr notification, forensic analysis, client comms within 4 hrs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320040" y="2843784"/>
            <a:ext cx="2011680" cy="713232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65760" y="2843784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Rate Limiting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2377440" y="2843784"/>
            <a:ext cx="914400" cy="713232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2423160" y="2843784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337560" y="2843784"/>
            <a:ext cx="914400" cy="713232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3383280" y="2843784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297680" y="2843784"/>
            <a:ext cx="4114800" cy="713232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343400" y="2843784"/>
            <a:ext cx="40233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queuing, exponential backoff, per-client quotas, response caching (Redis)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8458200" y="2843784"/>
            <a:ext cx="3474720" cy="713232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8503920" y="2843784"/>
            <a:ext cx="3383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degradation to cached results, client notification, auto-scale request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320040" y="3593592"/>
            <a:ext cx="20116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365760" y="3593592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Drift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2377440" y="3593592"/>
            <a:ext cx="9144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2423160" y="3593592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337560" y="3593592"/>
            <a:ext cx="9144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3383280" y="3593592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297680" y="3593592"/>
            <a:ext cx="41148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4343400" y="3593592"/>
            <a:ext cx="40233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 divergence monitoring, automated retraining triggers at 5% drift, A/B holdout validation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8458200" y="3593592"/>
            <a:ext cx="34747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8503920" y="3593592"/>
            <a:ext cx="3383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Auto-rollback to last-known-good model version, SRE alert, root cause analysis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20040" y="4343400"/>
            <a:ext cx="2011680" cy="713232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365760" y="4343400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Lock-in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2377440" y="4343400"/>
            <a:ext cx="914400" cy="713232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2423160" y="4343400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3337560" y="4343400"/>
            <a:ext cx="914400" cy="713232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3383280" y="4343400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4297680" y="4343400"/>
            <a:ext cx="4114800" cy="713232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4343400" y="4343400"/>
            <a:ext cx="40233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Multi-model architecture (Claude primary, GPT-4o fallback), abstraction layer, no proprietary fine-tunes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8458200" y="4343400"/>
            <a:ext cx="3474720" cy="713232"/>
          </a:xfrm>
          <a:prstGeom prst="rect">
            <a:avLst/>
          </a:prstGeom>
          <a:solidFill>
            <a:srgbClr val="F5F7FA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8503920" y="4343400"/>
            <a:ext cx="3383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swap within 48 hrs via abstraction layer, pre-tested fallback configurations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320040" y="5093208"/>
            <a:ext cx="20116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365760" y="5093208"/>
            <a:ext cx="19202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Violation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2377440" y="5093208"/>
            <a:ext cx="9144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2423160" y="5093208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3337560" y="5093208"/>
            <a:ext cx="9144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3383280" y="5093208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297680" y="5093208"/>
            <a:ext cx="411480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4343400" y="5093208"/>
            <a:ext cx="40233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Policy-as-code (OPA), continuous compliance monitoring, quarterly audit, legal review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8458200" y="5093208"/>
            <a:ext cx="34747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8503920" y="5093208"/>
            <a:ext cx="33832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service pause for affected vertical, remediation plan within 24 hrs, regulator notification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Business Use Cases | Confidential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/ 52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 &amp; Next Steps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13232"/>
            <a:ext cx="1371600" cy="45720"/>
          </a:xfrm>
          <a:prstGeom prst="rect">
            <a:avLst/>
          </a:prstGeom>
          <a:solidFill>
            <a:srgbClr val="E3183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56692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5669280" cy="256032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07008"/>
            <a:ext cx="5486400" cy="2231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production-ready use cases across 7 verticals with proven ROI models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MCP-native architecture enables 40% faster integration than point-solution competitors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YC competitive analysis: Manufacturing and Marketing are least contested entry points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and Legal offer highest ACV ($3-5K/mo) but face well-funded competition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at 8 clients; path to $1M ARR at 21 clients within 12 months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2, HIPAA, GDPR compliance framework designed in from day one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Multi-model architecture eliminates vendor lock-in risk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263640" y="914400"/>
            <a:ext cx="54864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263640" y="914400"/>
            <a:ext cx="5486400" cy="256032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55080" y="914400"/>
            <a:ext cx="5303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NEXT STEPS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355080" y="1207008"/>
            <a:ext cx="5303520" cy="2231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1: Vertical selection workshop — align on primary market based on team expertise and network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2: Core stack deployment — Claude + MCP + 3 connectors in staging environment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3-4: Pilot recruitment — identify 3-5 design partners from existing network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5-6: MVP delivery — 3 core use cases deployed to pilot clients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7-8: Feedback loop — iterate on agent accuracy, UX, and integration points</a:t>
            </a:r>
            <a:endParaRPr lang="en-US" sz="8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3: First paying clients at standard pricing with case study documentation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3657600"/>
            <a:ext cx="265176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3694176"/>
            <a:ext cx="265176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02920" y="4030675"/>
            <a:ext cx="256032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 Ready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337560" y="3657600"/>
            <a:ext cx="265176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337560" y="3694176"/>
            <a:ext cx="265176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383280" y="4030675"/>
            <a:ext cx="256032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Verticals Covered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217920" y="3657600"/>
            <a:ext cx="265176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217920" y="3694176"/>
            <a:ext cx="265176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263640" y="4030675"/>
            <a:ext cx="256032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YC Competitors Mapped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9098280" y="3657600"/>
            <a:ext cx="2651760" cy="777240"/>
          </a:xfrm>
          <a:prstGeom prst="roundRect">
            <a:avLst>
              <a:gd name="adj" fmla="val 5882"/>
            </a:avLst>
          </a:prstGeom>
          <a:solidFill>
            <a:srgbClr val="F5F7FA"/>
          </a:solidFill>
          <a:ln w="9525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098280" y="3694176"/>
            <a:ext cx="265176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318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8-12 wk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144000" y="4030675"/>
            <a:ext cx="2560320" cy="37307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First Revenue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65760" y="4663440"/>
            <a:ext cx="11430000" cy="411480"/>
          </a:xfrm>
          <a:prstGeom prst="rect">
            <a:avLst/>
          </a:prstGeom>
          <a:solidFill>
            <a:srgbClr val="F5F7FA"/>
          </a:solidFill>
          <a:ln w="12700">
            <a:solidFill>
              <a:srgbClr val="1F3B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8640" y="466344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Required: Select primary vertical and approve pilot budget ($15-25K for 8-week pilot program including infrastructure and 3-5 design partner onboarding)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52578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B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457200" y="56692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Let's discuss the right vertical and engagement model for your team.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0D3B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 Business Use Cases | Next Step: Discovery Call | sales@aiengineering.io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155680" y="6263640"/>
            <a:ext cx="914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/ 52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7730</Words>
  <Application>Microsoft Office PowerPoint</Application>
  <PresentationFormat>Widescreen</PresentationFormat>
  <Paragraphs>1402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Engineering Business Use Cases</dc:title>
  <dc:subject>PptxGenJS Presentation</dc:subject>
  <dc:creator>AI Engineering Team</dc:creator>
  <cp:lastModifiedBy>sheker kamma</cp:lastModifiedBy>
  <cp:revision>1</cp:revision>
  <dcterms:created xsi:type="dcterms:W3CDTF">2026-05-23T14:42:15Z</dcterms:created>
  <dcterms:modified xsi:type="dcterms:W3CDTF">2026-05-23T14:49:54Z</dcterms:modified>
</cp:coreProperties>
</file>
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8" r:id="rId39"/>
    <p:sldId id="289" r:id="rId40"/>
    <p:sldId id="290" r:id="rId41"/>
    <p:sldId id="291" r:id="rId42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1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48640" y="2788920"/>
            <a:ext cx="1097280" cy="54864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Production-Ready Use Cases Across 7 Verticals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YC Competitive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0" y="9144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0" y="14173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192024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0" y="242316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0" y="29260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0" y="34290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Strategic Framework | 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36</a:t>
            </a:r>
            <a:endParaRPr lang="en-US" sz="900" dirty="0"/>
          </a:p>
        </p:txBody>
      </p:sp>
      <p:sp>
        <p:nvSpPr>
          <p:cNvPr id="22" name="Rectangle 21"/>
          <p:cNvSpPr/>
          <p:nvPr/>
        </p:nvSpPr>
        <p:spPr>
          <a:xfrm>
            <a:off x="8686800" y="3931920"/>
            <a:ext cx="2743200" cy="365760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Adoption Maturity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32004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Experimental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Chatbot pilots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Single-task automation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206654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prompt engineering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adoption rate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completion time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per query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Structure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236976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Innovation lab or single champion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Informal usage policies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91840" y="114300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91840" y="1143000"/>
            <a:ext cx="2697480" cy="320040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Departmental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15544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9000" y="17373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Department-specific agents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29000" y="19019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pipelines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29000" y="206654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MCP integration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0" y="23042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29000" y="248716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cycle time reduction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29000" y="26517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rate improvement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29000" y="28163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ROI per department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83280" y="30540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Structure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29000" y="3236976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AI team per BU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83280" y="3474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29000" y="365760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classification policy, model registry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74720" y="4754880"/>
            <a:ext cx="2331720" cy="228600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0" y="47548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ORGS ARE HERE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114300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26480" y="1143000"/>
            <a:ext cx="2697480" cy="32004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2648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Enterprise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15544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63640" y="17373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Cross-functional agent orchestration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63640" y="19019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MCP infrastructure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63640" y="206654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governance platform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17920" y="23042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63640" y="248716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Enterprise-wide productivity gain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63640" y="26517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utilization rate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63640" y="28163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score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17920" y="30540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Structure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63640" y="3236976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AI CoE + embedded engineers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17920" y="3474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63640" y="365760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2, HIPAA, GDPR frameworks, prompt versioning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961120" y="114300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961120" y="1143000"/>
            <a:ext cx="2697480" cy="320040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961120" y="1143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Autonomous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052560" y="15544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098280" y="17373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Self-improving agent networks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098280" y="19019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Autonomous decision loops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9098280" y="206654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optimization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9052560" y="23042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098280" y="248716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Autonomous decision accuracy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9098280" y="265176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Self-healing rate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098280" y="28163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outcome correlation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9052560" y="30540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Structure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098280" y="3236976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AI-native operating model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052560" y="34747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098280" y="365760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audit, bias monitoring, kill switches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200400" y="2971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5DD"/>
                </a:solidFill>
              </a:rPr>
              <a:t>▶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035040" y="2971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5DD"/>
                </a:solidFill>
              </a:rPr>
              <a:t>▶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8869680" y="2971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5DD"/>
                </a:solidFill>
              </a:rPr>
              <a:t>▶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AI Compliance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669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66928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54864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(Public): Marketing content, public APIs, anonymized analytics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(Internal): Sensor data, operational metrics, internal comms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(Confidential): Financial records, contracts, employee PII, trade secrets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(Restricted): Patient records (PHI), SSN, payment card data (PCI), biometric data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63640" y="10515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051560"/>
            <a:ext cx="548640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0515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(RBAC MATRIX)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55080" y="1344168"/>
            <a:ext cx="53035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Production Data: Read-only, scoped to assigned vertical, audit-logged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Model Registry: Execute-only, version-pinned, no self-update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Agent Config: Full CRUD, 2FA required, change-management approval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Keys: 90-day rotation, per-environment scoping, HashiCorp Vault storage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374904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081528"/>
            <a:ext cx="35661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II: Annual audit, continuous monitoring via Vanta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BAA: Required for all healthcare deployments, PHI encryption AES-256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25: Data protection by design, right to explanation for AI decisions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 Information security management system certification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FedRAMP: Required for government healthcare contracts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278892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0" y="2788920"/>
            <a:ext cx="374904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2788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3081528"/>
            <a:ext cx="35661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versioning: Git-tracked, semantic versioning, rollback capability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validation: Schema enforcement, PII redaction, hallucination scoring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monitoring: Demographic parity testing, disparate impact analysis quarterly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detection: KL divergence monitoring, automated retraining triggers at 5% drift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cards: Mandatory for production models, updated per release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600" y="278892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2788920"/>
            <a:ext cx="356616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2788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RESPONSE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21040" y="3081528"/>
            <a:ext cx="338328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Auto-flag confidence &lt;0.7, human review queue, client notification SLA 4hr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leak: Immediate model quarantine, breach notification per GDPR 72hr rule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degradation: Auto-rollback to last-known-good, SRE pager alert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input: WAF rules, input sanitization, rate limiting per client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Published in Confluence, tabletop exercises quarterly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11430000" cy="320040"/>
          </a:xfrm>
          <a:prstGeom prst="rect">
            <a:avLst/>
          </a:prstGeom>
          <a:solidFill>
            <a:srgbClr val="F5F7FA"/>
          </a:solidFill>
          <a:ln w="1905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frameworks are auditable, version-controlled, and enforced via CI/CD policy-as-code (Open Policy Agent)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Architecture: 6-Layer Production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28800" cy="6583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950976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68880" y="105156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Next.js 14 | Tailwind CSS | Recharts / D3.js | Vercel Edge Functions | Progressive Web App | WebSocket real-time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1828800" cy="6583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764792"/>
            <a:ext cx="950976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764792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CrewAI / OpenHands agent orchestrator | Claude 3.5 Sonnet (primary) | GPT-4o (fallback) | Temporal.io workflow engine | Redis queues | Circuit breakers (Hystrix)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1828800" cy="6583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47802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478024"/>
            <a:ext cx="950976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2478024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per vertical | Tool-use agents (MCP clients) | RAG retrieval agents | Validation / guardrail agents | Human-in-the-loop escalation agents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91256"/>
            <a:ext cx="1828800" cy="6583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1912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3191256"/>
            <a:ext cx="950976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68880" y="3191256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Opus: reasoning + generation | GPT-4o: vision + multimodal | Whisper v3: audio transcription | YOLO v8: object detection | XGBoost: tabular prediction | Sentence-BERT: embeddings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904488"/>
            <a:ext cx="1828800" cy="6583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9044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3904488"/>
            <a:ext cx="950976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3904488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servers | SAP MES connector | FHIR R4 health connector | DocuSign eSign API | Stripe / QuickBooks financial | Google Analytics + Search Console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1828800" cy="6583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4617720"/>
            <a:ext cx="950976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68880" y="461772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(EKS + Lambda + S3) | PostgreSQL 16 + pgvector | Pinecone vector DB | Terraform IaC | DataDog APM + logs | HashiCorp Vault secrets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97280" y="164592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5DD"/>
                </a:solidFill>
              </a:rPr>
              <a:t>▲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7280" y="2359152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5DD"/>
                </a:solidFill>
              </a:rPr>
              <a:t>▲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7280" y="3072384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5DD"/>
                </a:solidFill>
              </a:rPr>
              <a:t>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97280" y="3785616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5DD"/>
                </a:solidFill>
              </a:rPr>
              <a:t>▲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97280" y="4498848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5DD"/>
                </a:solidFill>
              </a:rPr>
              <a:t>▲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 | Visual Inspection | Computer Vision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false positive rate in manual visual inspection across production lines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fatigue: 40hrs/week repetitive inspection degrades accuracy after 2-3 hours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 average annual quality cost per plant from missed defects and rework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inspection criteria across shifts and personnel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real-time defect detection with edge-deployed YOLOv8 models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fusion covering 360-degree component inspection at line speed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MES feedback loop: defect detection triggers line-stop or reroute within 200ms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retraining from operator-labeled false positive corrections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per IEC 62443 industrial cybersecurity standard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data retention policy: 7 years for traceability, encrypted at rest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certificate rotation every 90 days, firmware signed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(W19, team 40) - general MFG AI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Ocular AI (W24, team 6) - defect detection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Robotics (S24, team 5) - automated inspection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Industries (S25) - factory floor CV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Reduction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Quality Cost Savings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Timeline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290779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90779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Systems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284464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84464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GPU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015984" y="2907792"/>
            <a:ext cx="1207008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015984" y="2907792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Serving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Engineers  |  Line Supervisors  |  Plant Managers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cameras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GPU (Jetson)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ensemble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MES connector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UC02 | Model &amp; Variant Confirmation | Barcode / BOM Validation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3-5% assembly mismatch rate causing costly rework and warranty claims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average warranty cost per variant error across production batches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VIN validation bottleneck: 45-sec per unit slowing line throughput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version sync lag between engineering and production floor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VIN/barcode scanning with real-time BOM cross-validation against SAP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mismatch alerting with instant operator HMI notification and line pause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BOM reconciliation: engineering ECO, production BOM, supplier ASN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mismatch pattern analysis for proactive fixture/tooling verification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version control: every scan logged with BOM revision hash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Recall-grade traceability: component-to-VIN linkage retained 15 years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calibration audit per ISO 15416 barcode quality standard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Accuracy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Reduction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sec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Time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Timeline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23760" y="2907792"/>
            <a:ext cx="1088136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0" y="2907792"/>
            <a:ext cx="1088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403336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03336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Database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345168" y="29077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45168" y="29077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System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Operators  |  Quality Auditors  |  Production Engineers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readers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scanners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validation logic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MES API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sync service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HMI alerts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reports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UC03 | Seating &amp; Component Validation | Vision + Torque Integration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compliance failures undetected until end-of-line QA, causing rework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Fitment issues cause line stops costing $15K/minute in lost throughput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torque verification logs incomplete, creating audit gaps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Multi-variant seating configs increase error probability 3x vs single-model lines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fitment validation confirming correct component seating in real time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tool integration: digital torque values streamed and validated against spec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dashboards aggregating torque, fitment, and sequence data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non-conformance reports generated within seconds of detection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data retention per IATF 16949 automotive quality management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validated against known-good reference images quarterly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records linked to torque tool serial numbers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Effort Reduction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Torque Failures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sec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Latency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Tools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34072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34072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65592" y="290779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65592" y="290779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Cameras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226296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226296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Technicians  |  Quality Engineers  |  Process Engineers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cameras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sensors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Fitment ML models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validation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+ torque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interface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generator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UC04 | SOP Compliance Monitoring | Pose Estimation + Activity Recognition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SOP deviation rate undetected in manual observation audits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incidents from skipped procedural steps (avg 3.2 incidents/quarter)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preparation requires 80+ hours of manual video review per quarter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adherence across shifts with no real-time correction mechanism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+ activity recognition for real-time SOP adherence monitoring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Step-sequence verification: alerts if operator skips or reorders critical steps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audit evidence generation with timestamped video clips per procedure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Shift-level compliance scoring with trend analysis and coaching recommendations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privacy: pose data anonymized, no facial recognition, GDPR Article 9 compliant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retention limited to 30 days unless flagged for incident review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council / union notification required in EU jurisdictions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Compliance Detection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Deviation Reduction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Hrs→Min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 Time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23760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0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Platform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65592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65592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107424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07424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Supervisors  |  EHS Managers  |  Training Coordinators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platform API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webhook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alerts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reports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UC05 | Predictive Quality Analytics | Sensor Fusion + ML Feature Store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2-4% scrap rate from undetected process drift across multi-variable production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takes 48+ hours involving manual cross-correlation of 50+ variables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bottleneck: data scientists spend 70% time on data prep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sensor data prevents cross-process correlation insights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fusion: unified time-series from temperature, pressure, vibration, humidity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 stores with automated feature engineering and selection pipelines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dashboards showing SHAP values for each quality prediction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process adjustment recommendations before defects materialize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lineage tracking: every feature traceable to raw sensor source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required for all production decisions per ISO 22989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validation automated, flagging drift &gt; 2% from baseline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Rate Reduction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48hr→15m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Generation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Cross-Variable Correlation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907792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7909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74636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74636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06156" y="2907792"/>
            <a:ext cx="909828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06156" y="2907792"/>
            <a:ext cx="9098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107424" y="2907792"/>
            <a:ext cx="67208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07424" y="2907792"/>
            <a:ext cx="6720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Engineers  |  Data Scientists  |  Quality Managers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array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aggregation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+ feature store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UC06 | Predictive Maintenance | Time-Series Anomaly Detection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costs $260K/hour average across automotive manufacturing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 3-5x costlier than predictive approaches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scheduling based on fixed intervals, not actual equipment health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Vibration/acoustic anomaly patterns missed by periodic manual inspections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acoustic, and temperature anomaly detection using LSTM autoencoders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health scoring: 0-100 composite index from multi-sensor fusion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SAP PM work orders when health score drops below threshold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(RUL) prediction with confidence intervals for planning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classified Level 2 (Internal), encrypted in transit via TLS 1.3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decision audit trail: every work order linked to model prediction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 monitored: target &lt;5%, model retrained if exceeded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Inviscid AI (W26, team 2) - physics-informed ML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Palifer (S19, acquired) - predictive analytics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InfluxData (W13, team 210) - time-series DB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Implementation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Reduction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Savings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Health Score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Gateways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65592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165592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897112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897112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Technicians  |  Reliability Engineers  |  Plant Managers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sensors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PM + IoT gateway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console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dashboard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UC07 | Safety Monitoring &amp; PPE Detection | Computer Vision + EHS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non-compliance observed in 8-12% of shift observations across plants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zone violations undetected until post-incident review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incident reports take 2+ hours to complete, delaying corrective action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recordable rate stagnant despite increased training investment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PPE detection: hard hat, vest, goggles, gloves via edge CV models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zone intrusion alerts with &lt;3 second notification to supervisors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incident reports from video evidence with auto-classification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trend analytics: heatmaps of non-compliance by zone, shift, and role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facial recognition: PPE detection uses body-region segmentation only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data retained 1 year per OSHA 1904 recordkeeping requirements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camera data classified Level 2, not shared with HR systems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Protex AI (S21, team 5) - workplace safety CV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Compliance Detection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Violation Capture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Documentation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Timeline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Platform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65592" y="2907792"/>
            <a:ext cx="1088136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165592" y="2907792"/>
            <a:ext cx="1088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Systems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345168" y="29077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345168" y="29077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MDM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Managers  |  Shift Supervisors  |  Safety Officers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+ thermal cams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GPU nodes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CV models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geofencing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platform API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SMS/push alerts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mobile app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heatmaps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UC08 | Digital Traceability &amp; Recall | Graph Database + RFID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investigation takes 2-4 weeks of manual component genealogy tracing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genealogy gaps across tier 1-3 suppliers create liability exposure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$35M average recall cost in automotive; scope overestimation adds 20-40%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lot tracking in legacy plants prevents real-time genealogy queries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(Neo4j) product genealogy: component-to-vehicle full lineage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+ barcode tracking at every station creating immutable production record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recall scope analysis: pinpoint affected VINs in minutes vs weeks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integration: ASN data automatically linked to production genealogy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data retained 15+ years per NHTSA TREAD Act requirements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log: no genealogy record deletion, append-only ledger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data sharing governed by mutual NDA with data classification Level 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 Labs (S23) - supply chain intelligence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 Labs (S24, team 3) - manufacturing traceability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Recall Investigation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Genealogy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Scope Analysis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95528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5528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686800" y="2907792"/>
            <a:ext cx="102870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86800" y="2907792"/>
            <a:ext cx="10287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Portal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Directors  |  Compliance Officers  |  Supply Chain Managers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readers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analytics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engine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+ supplier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 ingestion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analyzer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UC09 | Patient Intake Automation | NLP + FHIR Integration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average intake time per patient creating waiting room bottlenecks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form error rate from manual data entry causing downstream billing issues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staff spend 60% of time on administrative tasks vs patient care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Multi-system data entry: same info keyed into EHR, billing, and scheduling separately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form validation with real-time error detection and correction prompts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EHR population via FHIR R4 API: demographics, insurance, medical history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scheduling integration: Calendly + provider availability matching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SMS/voice intake via Twilio for patients without smartphone/portal access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 required for all data processors; PHI encryption AES-256 at rest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per HITECH Act: every PHI access timestamped and role-attributed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consent management: opt-in/opt-out tracked per FHIR Consent resource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Care (S24) - patient engagement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HealthKey (W25) - health records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 Health (S22) - care coordination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Gradia Health (W21) - clinical AI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Time (from 15 min)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Accuracy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Time Reduction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$3-5K/mo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Practice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102870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10287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Epic/Cerner EHR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12380" y="2907792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12380" y="2907792"/>
            <a:ext cx="7909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API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494776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94776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226296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226296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Staff  |  Clinical Coordinators  |  Practice Managers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SMS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NLP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ML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+ Twilio + Calendly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write-back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queue view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UC10 | Insurance Verification | Claims Processing + Prediction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claim denial rate from eligibility errors and incomplete prior authorization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average verification turnaround delays patient scheduling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cost per manual verification call to payer, averaging 12 min per call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 requirements change frequently; staff miss updates causing denials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Pre-appointment AI eligibility verification against real-time payer feeds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prior authorization submission with required clinical documentation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prediction model: flags high-risk claims before submission for review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rule change monitoring: auto-updates verification workflows within 24 hours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270/271 transaction compliance per HIPAA X12 standards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 classified Level 3 (Confidential), encrypted end-to-end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prediction model audited for demographic bias quarterly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(S22) - claims processing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Avallon AI (Sp25) - insurance verification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Curacel (W22) - claims AI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onederful (W18, acquired) - dental claims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Approval Rate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Time (from 48 hr)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Verification (from $25)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 Reduction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EDI/APIs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52944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52944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284464" y="290779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84464" y="290779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System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345168" y="2907792"/>
            <a:ext cx="909828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345168" y="2907792"/>
            <a:ext cx="9098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Clearinghouse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Staff  |  Prior Auth Specialists  |  Revenue Cycle Managers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EDI feeds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OCR ingestion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ML models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prediction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API + EHR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Clearinghouse EDI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analytics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UC11 | HIPAA Compliance Portal | Audit Automation + Access Control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 preparation consumes 120+ staff-hours per year across departments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access logging gaps: 15% of access events untracked in legacy systems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average HIPAA breach penalty; $6.3M for willful neglect category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assessments performed annually but threats evolve continuously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audit trail aggregation from EHR, IAM, email, and file storage systems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PHI access monitoring with anomaly detection (unusual hours, volume, role)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 scoring dashboard with gap identification and remediation tracking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risk scoring: quantified risk per system, updated daily from threat intelligence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Security Rule: administrative, physical, and technical safeguards automated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HITECH Breach Notification: automated assessment and 60-day notification workflow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Associate management: BAA tracking, annual review, termination workflow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 Time Reduction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Access Logging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Risk Scoring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23760" y="2907792"/>
            <a:ext cx="126644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0" y="2907792"/>
            <a:ext cx="12664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(Okta/Azure AD)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81644" y="2907792"/>
            <a:ext cx="114757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81644" y="2907792"/>
            <a:ext cx="11475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Secure Storage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820656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0656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Officers  |  HIPAA Privacy Officers  |  IT Security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 collectors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feeds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ML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rules engine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EHR + email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audit storage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 map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UC12 | Contract Generation &amp; Review | Document AI + Template Engine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hours per contract draft for routine agreements (NDA, MSA, SOW)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clause usage across attorneys leading to enforceability risks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$350/hr attorney time spent on routine document assembly vs strategic work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chaos: 15% of contracts sent with outdated clause libraries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 drafting from firm-specific templates + curated clause library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review: risk scoring per clause, deviation from standard flagged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recommendation engine based on deal type, counterparty, and jurisdiction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 integration for seamless review-sign workflow with audit trail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Attorney-client privilege: all generated drafts marked privileged, access-controlled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library version control: Git-backed, partner-approved changes only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always marked as draft; human attorney sign-off required for finalization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Ironclad (S15, team 700) - contract lifecycle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Draftwise (S20, team 50) - contract drafting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Legal (W26) - AI legal assistant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Pincites (S23, acquired) - clause analysis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Time (from 4-6 hrs)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Consistency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Time Savings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$3-5K/mo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Firm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2907792"/>
            <a:ext cx="1504188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907792"/>
            <a:ext cx="15041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Mgmt (iManage)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819388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819388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550908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550908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 |  Partners  |  Paralegals  |  Legal Ops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ingestion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template engine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 + DMS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integration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review portal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library UI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UC13 | Legal Research Summarization | RAG + Citation Verification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hours per research task for junior associates on complex legal questions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precedents: manual search covers only 60-70% of relevant case law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associates overloaded: 65% of billable hours spent on research vs analysis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verification manual and error-prone; hallucinated citations a known LLM risk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precedent search across Westlaw, LexisNexis, and internal brief archives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insight summarization with jurisdiction-specific relevance scoring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Citation-linked outputs: every claim traced to source with pinpoint page references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research workspace: multiple associates contribute to shared brief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verification: every generated citation validated against source database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memos marked AI-assisted per emerging bar association disclosure rules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data sent to external models; on-premise RAG for privileged materials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Legal (W26) - AI legal research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Docsum (S23) - document summarization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Paper (W23) - legal document standards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Time (from 8-12)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Precedent Coverage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Workload Reduction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Westlaw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29077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9077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46720" y="2907792"/>
            <a:ext cx="790956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6720" y="2907792"/>
            <a:ext cx="7909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iManage DMS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929116" y="29077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929116" y="29077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Bank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Associates  |  Senior Associates  |  Research Librarians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DB connectors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bank indexer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reasoning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Westlaw + LexisNexis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search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brief generator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viewer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UC14 | Legal Billing Automation | Time Tracking + Invoicing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revenue leakage from unbilled time entries across firm associates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timesheet reconciliation: 5+ hours/week per billing coordinator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average invoice cycle from time capture to client payment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LEDES/UTBMS compliance: 8% of invoices rejected for formatting errors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activity capture from calendar, email, document edits, and court filings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timesheet generation with matter-code assignment and narrative drafting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automation: LEDES-compliant formatting with client-specific rate cards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auto-categorization from receipts, travel bookings, and filing fees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data classified Level 3 (Confidential), access restricted to billing roles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entry audit trail: original AI suggestion vs attorney-approved final entry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LEDES/UTBMS compliance validation before invoice submission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JustPaid (W23, team 20) - invoice automation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Peakflo (W22, team 45) - accounts receivable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Truss (S21) - financial operations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Time Capture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Cycle (from 30)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Categorization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4672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672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778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778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 |  Billing Coordinators  |  Managing Partners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Email/calendar monitors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edit tracking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classification ML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generation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 + Stripe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LEDES formatter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UC15 | Lease Document Generation | Template Engine + Jurisdiction-Aware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hours per lease document with manual clause selection and customization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errors cause legal disputes: $45K average litigation cost per lease dispute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lease terms across agents within same brokerage, creating liability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Jurisdiction-specific requirements (state/county) missed in 6% of leases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lease generation pulling property/tenant data from CRM automatically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Jurisdiction-aware clause library: auto-selects disclosures and addenda by state/county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integration via DocuSign with tenant identity verification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comparison tool: highlights deviations from brokerage standard terms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handling: tenant SSN/income encrypted AES-256, access-logged, purged after signing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State-specific compliance rules updated quarterly from legal database feeds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housing compliance: AI-generated terms audited for discriminatory language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 (S20, team 90) - real estate AI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Homeflow (W23) - property management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Alude (W20) - real estate platform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Goldbridge (F25) - RE technology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Generation (from 2-3 hrs)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Accuracy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Errors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$2-4K/mo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Brokerage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955280" y="29077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55280" y="29077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API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778240" y="290779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778240" y="290779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Records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Agents  |  Property Managers  |  Broker Compliance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data feed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DB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lease templates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selector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 + CRM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lookup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portal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self-service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UC16 | Lead Scoring &amp; Smart Routing | Predictive Analytics + CRM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leads receive first response &gt;4 hours after inquiry, losing 35-50% of conversions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leads consume 60% of agent follow-up time with &lt;2% conversion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CRM entry: agents spend 45 min/day on data entry instead of client engagement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source attribution broken: marketing ROI unmeasurable across channels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scoring using property interest signals, financial readiness, and engagement patterns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to best-fit agent based on expertise, availability, and geography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CRM enrichment from Zillow listing views, ad clicks, and email engagement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trigger automation: high-score leads get instant personalized outreach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housing: scoring model audited for demographic bias quarterly, no protected-class features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data retention: 2 years active, 5 years archived per broker compliance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management: CAN-SPAM and TCPA compliance for automated outreach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PropReturns (S21, team 40) - RE analytics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Alto (W17) - lead qualification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Trusty (W22) - RE automation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 (from 4 hrs)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Lift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Follow-up Reduction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Enrichment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76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95528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5528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686800" y="2907792"/>
            <a:ext cx="67208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86800" y="2907792"/>
            <a:ext cx="6720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Agents  |  Buyer Agents  |  Team Leads  |  Marketing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forms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API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scoring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ML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Meta + email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triggers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assignment UI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pipeline view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UC17 | Commission Analytics &amp; Reporting | Financial Dashboard + Rules Engine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commission calculations take 3+ days of manual spreadsheet work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from calculation errors: 12% of agents dispute commissions monthly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earned vs pending vs paid commission status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commission scenarios (co-listing, referrals) miscalculated 8% of the time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commission calculation engine with configurable rules for splits, tiers, and bonuses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attribution: links listing agreements, closing docs, and payment to single record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 dashboards for agents, team leads, and brokerage management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ranking with historical trend analysis and goal tracking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classified Level 3, SOX-adjacent controls for brokerages &gt;$10M revenue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audit trail: every calculation step logged with rule version applied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document integration: 1099 generation from commission data, IRS-compliant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Reports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Accuracy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Reduction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Ranking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23760" y="290779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0" y="29077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4672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4672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77824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7824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|  Brokerage Managers  |  Accounting  |  Team Leads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feeds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 closing data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rules engine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calculator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 + Stripe + CRM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1099 generator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leaderboard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UC18 | SEO Audit &amp; Optimization | Web Crawl + NLP Content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SEO audits take 20+ hours per client site with 500+ pages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outdated by publish time: 2-week lag between audit and implementation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position tracking: agencies fly blind on SERP movement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 issues (crawl errors, schema markup) missed without engineering support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site crawl with technical SEO scoring (Core Web Vitals, schema, accessibility)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recommendations: keyword gaps, topical authority mapping, intent matching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competitive position monitoring with SERP feature tracking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fix list with estimated traffic impact per recommendation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rate limiting: respects robots.txt, max 5 req/sec to avoid client site impact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data sourced from public SERPs only, no scraping of gated content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isolated: multi-tenant architecture with per-client encryption keys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666744"/>
            <a:ext cx="5559552" cy="155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(S21, acquired) - SEO tooling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Time (from 20+)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Tracking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$2-4K/mo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Agency Client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907792"/>
            <a:ext cx="1088136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2907792"/>
            <a:ext cx="1088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71816" y="290779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71816" y="290779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732520" y="2907792"/>
            <a:ext cx="67208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32520" y="2907792"/>
            <a:ext cx="6720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496044" y="2907792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496044" y="2907792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Screaming Frog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Specialists  |  Content Strategists  |  Agency Account Managers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crawler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parser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content analysis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gap ML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+ Search Console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tracker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 generator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UC19 | Campaign Performance Dashboard | Multi-Platform Analytics Aggregation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hours/week per account manager on manual reporting across 5+ ad platforms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metrics: each platform defines conversion/attribution differently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reporting delays: 3-5 business days from period end to report delivery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manual: budget overspend or performance drops caught late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ingestion from Google Ads, Meta, LinkedIn, TikTok, and programmatic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metric normalization: standardized attribution model across all platforms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 generation: auto-surfaces trends, anomalies, and optimization opportunities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client-facing dashboards with automated weekly/monthly report generation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 usage within rate limits and ToS; OAuth tokens rotated per platform policy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 spend data classified Level 2, segregated per client in multi-tenant DB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no PII in marketing analytics; all data aggregated above individual level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Time Reduction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 Generation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907792"/>
            <a:ext cx="1088136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1088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671816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71816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API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613648" y="2907792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13648" y="2907792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555480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555480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  |  Media Buyers  |  Agency Directors  |  Clients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 connectors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aggregation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ML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PDF generator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UC20 | Content Pipeline Automation | AI Content Generation +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average content cycle from brief to publish across approval chains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bottlenecks: content sits 2+ days in review queues awaiting stakeholders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brand voice across channels: blog, social, email, and ad copy diverge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A/B testing setup: 3+ hours per test, limiting experimentation velocity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55955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generation from structured briefs with brand voice model fine-tuning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approval workflows with parallel reviewer routing and deadline escalation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publishing: one brief generates blog, social, email, and ad variants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A/B variant generation with performance-based winner selection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SECURITY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55595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enforced via style model: tone, terminology, and visual standards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audit trail: every generation, edit, and approval timestamped and attributed</a:t>
            </a:r>
            <a:endParaRPr lang="en-US" sz="8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compliance: AI-generated content flagged for disclosure where required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Cycle (from 5 days)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Approvals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Scoring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1673352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Variant Generation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907792"/>
            <a:ext cx="672084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6720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55764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55764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987284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87284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718804" y="2907792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18804" y="29077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Managers  |  Copywriters  |  Brand Managers  |  Social Media Leads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CAPTURE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brief input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library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AI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generation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model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+ social APIs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platform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DECISION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dashboard</a:t>
            </a:r>
            <a:endParaRPr lang="en-US" sz="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scheduler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Matrix Across 6 Verticals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463040" cy="320040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0" y="1051560"/>
            <a:ext cx="548640" cy="320040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1051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4114800" cy="320040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YC Players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1051560"/>
            <a:ext cx="914400" cy="320040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051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43800" y="1051560"/>
            <a:ext cx="4572000" cy="320040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4380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417320"/>
            <a:ext cx="146304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41732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1417320"/>
            <a:ext cx="54864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74520" y="141732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1417320"/>
            <a:ext cx="41148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68880" y="141732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(W19, 40 emp), Ocular AI (W24), Bucket Robotics (S24), F4 Industries (S25), Inviscid AI (W26)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583680" y="1417320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9400" y="141732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543800" y="1417320"/>
            <a:ext cx="45720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0" y="141732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vs niche point solutions; MCP-native architecture enables broader system coverage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2167128"/>
            <a:ext cx="1463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167128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0" y="2167128"/>
            <a:ext cx="548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74520" y="2167128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23160" y="2167128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68880" y="216712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Care (S24), HealthKey (W25), Morf Health (S22), Gradia Health (W21), Stream (S22), Avallon AI (Sp25)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583680" y="2167128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9400" y="216712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543800" y="2167128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89520" y="216712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FHIR-native platform with multi-payer integration; compliance-first architecture vs bolt-on HIPAA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2916936"/>
            <a:ext cx="146304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2916936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0" y="2916936"/>
            <a:ext cx="54864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874520" y="291693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23160" y="2916936"/>
            <a:ext cx="41148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68880" y="291693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Ironclad (S15, 700 emp), Draftwise (S20, 50 emp), General Legal (W26), Vector Legal (W26), Pincites (S23)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583680" y="2916936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29400" y="291693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543800" y="2916936"/>
            <a:ext cx="45720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589520" y="2916936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Full-practice automation (contracts + research + billing) vs single-workflow tools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" y="3666744"/>
            <a:ext cx="1463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3666744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0" y="3666744"/>
            <a:ext cx="548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74520" y="366674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23160" y="3666744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468880" y="366674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 (S20, 90 emp), Homeflow (W23), PropReturns (S21, 40 emp), Smart Alto (W17)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83680" y="3666744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29400" y="366674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543800" y="3666744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589520" y="3666744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lease + lead + commission vs fragmented point solutions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4416552"/>
            <a:ext cx="146304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441655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828800" y="4416552"/>
            <a:ext cx="54864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874520" y="441655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423160" y="4416552"/>
            <a:ext cx="41148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468880" y="441655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(S21, acquired)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583680" y="4416552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629400" y="44165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543800" y="4416552"/>
            <a:ext cx="45720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589520" y="4416552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vertical; multi-channel unification vs SEO-only tools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20040" y="5166360"/>
            <a:ext cx="1463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5760" y="516636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828800" y="5166360"/>
            <a:ext cx="548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874520" y="516636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423160" y="5166360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468880" y="516636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CrewAI, Temporal, various agent frameworks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583680" y="5166360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629400" y="51663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543800" y="5166360"/>
            <a:ext cx="4572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589520" y="516636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Vertical-specific agents on general infrastructure vs general-purpose frameworks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65760" y="5989320"/>
            <a:ext cx="11430000" cy="2011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48640" y="5989320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Healthcare and Legal verticals face well-funded YC competition; Manufacturing/Real Estate/Marketing offer less contested entry points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&amp; Unit Economics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Financial Model Across Verticals and Scale Tiers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669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66928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VERTICAL (Monthly per Client)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54864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Manufacturing: $5,000-$10,000/mo (complex integration, high-value outcomes)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$3,000-$5,000/mo (HIPAA compliance overhead, multi-system integration)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$3,000-$5,000/mo (high attorney labor displacement value)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Estate: $2,000-$4,000/mo (high volume, lower complexity per transaction)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$2,000-$4,000/mo (multi-channel, agency white-label premium)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63640" y="105156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051560"/>
            <a:ext cx="548640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0515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(Per Client Monthly)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55080" y="1344168"/>
            <a:ext cx="530352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 costs: $0.02-$0.10 per request; ~$200-500/client/mo at typical usage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$40-50/client/mo (EKS, RDS, Pinecone, monitoring)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1 FTE per 15 clients at Starter; 1 per 8 at Enterprise ($6K-12K/FTE/mo allocated)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 maintenance: $500-1,000/mo amortized across client base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target: 65-75% at scale (&gt;30 clients)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566928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ECONOMICS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55848"/>
            <a:ext cx="548640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(1-5 clients): 40% margin, $15-30K MRR, founder-led sales/support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(6-20 clients): 55% margin, $50-150K MRR, 3-5 person team, dedicated CS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(21-50 clients): 65% margin, $150-400K MRR, specialized roles, self-service onboarding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(50+ clients): 72% margin, $400K+ MRR, platform economics, partner channel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3063240"/>
            <a:ext cx="548640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3429000"/>
            <a:ext cx="2331720" cy="59436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3465576"/>
            <a:ext cx="2331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37960" y="3714293"/>
            <a:ext cx="224028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Client Retention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52560" y="3429000"/>
            <a:ext cx="2331720" cy="59436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3465576"/>
            <a:ext cx="2331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3714293"/>
            <a:ext cx="224028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Period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92240" y="4087368"/>
            <a:ext cx="2331720" cy="59436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4123944"/>
            <a:ext cx="2331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37960" y="4372661"/>
            <a:ext cx="224028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 (mid-tier)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52560" y="4087368"/>
            <a:ext cx="2331720" cy="59436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052560" y="4123944"/>
            <a:ext cx="233172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98280" y="4372661"/>
            <a:ext cx="2240280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Ratio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4892040"/>
            <a:ext cx="11430000" cy="274320"/>
          </a:xfrm>
          <a:prstGeom prst="rect">
            <a:avLst/>
          </a:prstGeom>
          <a:solidFill>
            <a:srgbClr val="F5F7FA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892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8 clients (blended $4K/mo) | Path to $1M ARR at 21 clients | $5M ARR at 85 clients (Enterprise tier mix)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Phased Go-to-Market Execution Plan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502920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698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93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 — Foundation &amp; Pilots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primary vertical (recommend: Manufacturing or Marketing — least YC competition)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core agent stack: Claude + MCP + 3 connectors (CRM, email, calendar)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 3-5 pilot clients at discounted rate ($1.5K/mo) for case study development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3 core use case agents with full testing and validation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Establish monitoring: DataDog APM, error rates, model performance baselines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25603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1F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 paying pilots, NPS &gt;40, &lt;5% error rate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0698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2893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 — Expansion &amp; Hardening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1645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agent library to 8-10 use cases across primary vertical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37560" y="2029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4-6 MCP connectors (SAP, DocuSign, QuickBooks, payer APIs)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37560" y="2414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to 10-15 clients; transition pilots to standard pricing ($3-5K/mo)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37560" y="27980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SOC 2 Type II controls and begin audit prep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3756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Hire: 1 solutions engineer, 1 customer success manager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37560" y="4160520"/>
            <a:ext cx="25603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$50K MRR, 90% retention, SOC 2 readiness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2648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10698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12893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5-6 — Cross-Vertical &amp; Self-Service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0" y="1645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second vertical (recommend: Healthcare or Legal — higher ACV)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17920" y="2029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Cross-vertical template library: reusable agent patterns across industries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17920" y="2414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Self-service onboarding: client portal for connector setup and agent configuration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17920" y="27980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to 20-30 clients across 2 verticals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1792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 program: 2-3 system integrator partnerships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17920" y="4160520"/>
            <a:ext cx="25603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63640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$120K MRR, 2 verticals, self-service activation &lt;48 hrs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006840" y="10515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06840" y="1051560"/>
            <a:ext cx="2743200" cy="502920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98280" y="10698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098280" y="12893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7-12 — Enterprise &amp; Scale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098280" y="1645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tier launch: dedicated agents, custom MCP connectors, SLA guarantee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098280" y="2029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remaining verticals (Real Estate, Marketing) from template library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098280" y="24140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to 50+ clients; target $400K+ MRR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098280" y="27980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2 Type II certification complete; HIPAA BAA for healthcare vertical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909828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Hire: VP Sales, 2 additional engineers, dedicated DevOps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098280" y="4160520"/>
            <a:ext cx="25603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4000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$400K MRR, 4 verticals, 50+ clients, SOC 2 certified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65760" y="4663440"/>
            <a:ext cx="11430000" cy="36576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316736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267712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18688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169664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71616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022592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973568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924544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875520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826496" y="4709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Designed for Progressive AI Adoption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474720" cy="82296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$2K/mo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vertical focus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3 use cases deployed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 MCP connectors (pre-built)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 (24-hour SLA)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infrastructure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performance reports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Slack access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99.5% uptime SLA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1097280"/>
            <a:ext cx="347472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1F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43400" y="1097280"/>
            <a:ext cx="3474720" cy="822960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4340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14813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$5K/mo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532120" y="93268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32120" y="9326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2628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verticals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10 use cases deployed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MCP connectors (2 included)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2880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(4-hour SLA)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compute namespace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dashboards + white-label reports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CSM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99.9% uptime SLA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38160" y="109728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38160" y="1097280"/>
            <a:ext cx="3474720" cy="822960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3816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38160" y="14813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$10K+/mo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32104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verticals unlocked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use cases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210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agent development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21040" y="2880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support engineer (1-hour SLA)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2104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Isolated infrastructure (single-tenant option)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integrations + API access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2104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Executive business reviews (quarterly)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2104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99.95% uptime SLA + penalty credits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754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include: SOC 2 compliance, data encryption at rest and in transit, role-based access control, and audit logging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521208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0" y="5212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Discovery Call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Contact: sales@aiengineering.io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Connecting AI Agents to Enterprise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66928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54864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JSON-RPC 2.0 over stdio or HTTP/SSE transport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registry: typed schemas with input validation and output formatting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exposure: structured data access with URI-based addressing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templates: reusable context injection patterns per vertical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OAuth 2.0 / API key per connector, secrets in Vault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per-client quotas with graceful degradation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breakers: automatic failover when downstream API degrades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63640" y="105156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051560"/>
            <a:ext cx="548640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0515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CATALOG (20+ Pre-Built)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55080" y="1344168"/>
            <a:ext cx="530352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ERP: SAP MES, SAP PM, SAP S/4HANA (RFC + OData)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Epic FHIR R4, Cerner FHIR R4, Payer EDI 270/271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Westlaw Edge API, LexisNexis, iManage Work 10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CRM: Salesforce, HubSpot, Zoho (REST + Bulk API)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QuickBooks Online, Stripe, Plaid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Twilio (SMS/Voice), SendGrid, Slack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 DocuSign eSign, Google Workspace, MS Graph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3977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5DD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23160" y="38404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3840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77640" y="3977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5DD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38404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3840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3977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5DD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38404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9D1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3840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26680" y="3977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5DD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3840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0" y="3977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D5DD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921240" y="38404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21240" y="3840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lifecycle: 50-200ms for cached responses, 500ms-3s for live API calls, 30s timeout with retry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506577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02920" y="5358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Connectors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0" y="5029200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506577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337560" y="5358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Cached Response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5029200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26480" y="506577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72200" y="5358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Uptime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961120" y="5029200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961120" y="506577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006840" y="5358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Standard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Production-Proven Multi-Agent Coordination Architectures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0515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chain of specialist agents, each transforming and passing results downstream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Contract review: OCR Agent → Clause Extraction → Risk Scoring → Summary Generation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Simple, debuggable, deterministic ordering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0" y="16733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Latency scales linearly, single point of failure per stage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11430000" cy="9144"/>
          </a:xfrm>
          <a:prstGeom prst="rect">
            <a:avLst/>
          </a:prstGeom>
          <a:solidFill>
            <a:srgbClr val="D0D5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24028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dispatches to multiple agents simultaneously, aggregates results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Lead scoring: Profile Agent + Behavioral Agent + Financial Agent → Composite Score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28620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Low latency, independent scaling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28620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Complex aggregation logic, partial failure handling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11430000" cy="9144"/>
          </a:xfrm>
          <a:prstGeom prst="rect">
            <a:avLst/>
          </a:prstGeom>
          <a:solidFill>
            <a:srgbClr val="D0D5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Delegation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4290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 decomposes task, delegates to specialist sub-agents, synthesizes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77647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SEO audit: Manager → Technical Crawler + Content Analyzer + Competitor Tracker → Report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40507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Dynamic task decomposition, handles novel queries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0" y="40507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Higher token cost, manager agent bottleneck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4389120"/>
            <a:ext cx="11430000" cy="9144"/>
          </a:xfrm>
          <a:prstGeom prst="rect">
            <a:avLst/>
          </a:prstGeom>
          <a:solidFill>
            <a:srgbClr val="D0D5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617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6177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processes to confidence threshold, escalates to human for judgment calls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96519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Insurance verification: Auto-verify 85% → Flag uncertain cases → Human review queue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523951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 accuracy for edge cases, builds training data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523951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staffed review queue, variable latency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&amp; Failure Modes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Management for Production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29260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377440" y="1005840"/>
            <a:ext cx="914400" cy="29260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1005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914400" cy="29260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005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0" y="1005840"/>
            <a:ext cx="4114800" cy="29260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58200" y="1005840"/>
            <a:ext cx="3474720" cy="292608"/>
          </a:xfrm>
          <a:prstGeom prst="rect">
            <a:avLst/>
          </a:prstGeom>
          <a:solidFill>
            <a:srgbClr val="1F3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58200" y="1005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344168"/>
            <a:ext cx="201168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3441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Hallucination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77440" y="1344168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23160" y="134416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37560" y="1344168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34416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7680" y="1344168"/>
            <a:ext cx="41148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43400" y="134416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schemas, confidence thresholds (&lt;0.7 triggers human review), citation verification for legal/medical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458200" y="1344168"/>
            <a:ext cx="347472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3920" y="134416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Auto-quarantine output, notify client, log for retraining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2093976"/>
            <a:ext cx="2011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093976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 / Leak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377440" y="2093976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23160" y="209397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37560" y="2093976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209397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97680" y="2093976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43400" y="209397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encryption, PII redaction pipeline, network segmentation, DLP monitoring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458200" y="2093976"/>
            <a:ext cx="3474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03920" y="209397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isolation, GDPR 72-hr notification, forensic analysis, client comms within 4 hrs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2843784"/>
            <a:ext cx="201168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284378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377440" y="2843784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23160" y="284378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37560" y="2843784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83280" y="2843784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97680" y="2843784"/>
            <a:ext cx="41148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43400" y="284378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queuing, exponential backoff, per-client quotas, response caching (Redis)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458200" y="2843784"/>
            <a:ext cx="347472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03920" y="284378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to cached results, client notification, auto-scale request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" y="3593592"/>
            <a:ext cx="2011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3593592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377440" y="3593592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423160" y="359359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37560" y="3593592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83280" y="359359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297680" y="3593592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343400" y="359359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monitoring, automated retraining triggers at 5% drift, A/B holdout validation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458200" y="3593592"/>
            <a:ext cx="3474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503920" y="3593592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Auto-rollback to last-known-good model version, SRE alert, root cause analysis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4343400"/>
            <a:ext cx="201168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434340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377440" y="4343400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423160" y="434340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337560" y="4343400"/>
            <a:ext cx="9144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383280" y="434340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297680" y="4343400"/>
            <a:ext cx="411480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43400" y="434340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architecture (Claude primary, GPT-4o fallback), abstraction layer, no proprietary fine-tunes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458200" y="4343400"/>
            <a:ext cx="347472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503920" y="434340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swap within 48 hrs via abstraction layer, pre-tested fallback configurations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20040" y="5093208"/>
            <a:ext cx="2011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5760" y="509320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Violation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377440" y="5093208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423160" y="50932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337560" y="5093208"/>
            <a:ext cx="914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383280" y="509320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297680" y="5093208"/>
            <a:ext cx="4114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343400" y="509320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(OPA), continuous compliance monitoring, quarterly audit, legal review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8458200" y="5093208"/>
            <a:ext cx="3474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503920" y="509320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service pause for affected vertical, remediation plan within 24 hrs, regulator notification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Confidential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66928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548640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production-ready use cases across 7 verticals with proven ROI models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MCP-native architecture enables 40% faster integration than point-solution competitors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competitive analysis: Manufacturing and Marketing are least contested entry points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and Legal offer highest ACV ($3-5K/mo) but face well-funded competition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8 clients; path to $1M ARR at 21 clients within 12 months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2, HIPAA, GDPR compliance framework designed in from day one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architecture eliminates vendor lock-in risk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63640" y="91440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914400"/>
            <a:ext cx="5486400" cy="256032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9144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55080" y="1207008"/>
            <a:ext cx="530352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Vertical selection workshop — align on primary market based on team expertise and network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Core stack deployment — Claude + MCP + 3 connectors in staging environment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3-4: Pilot recruitment — identify 3-5 design partners from existing network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5-6: MVP delivery — 3 core use cases deployed to pilot clients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7-8: Feedback loop — iterate on agent accuracy, UX, and integration points</a:t>
            </a:r>
            <a:endParaRPr lang="en-US" sz="8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3: First paying clients at standard pricing with case study documentation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94176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4030675"/>
            <a:ext cx="256032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Ready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37560" y="365760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3694176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4030675"/>
            <a:ext cx="256032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Covered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3694176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4030675"/>
            <a:ext cx="256032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Competitors Mapped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098280" y="365760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98280" y="3694176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0" y="4030675"/>
            <a:ext cx="2560320" cy="37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Revenue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11430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1F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Required: Select primary vertical and approve pilot budget ($15-25K for 8-week pilot program including infrastructure and 3-5 design partner onboarding)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5257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720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the right vertical and engagement model for your team.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Business Use Cases | Next Step: Discovery Call | sales@aiengineering.io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UC21 | AI-Powered Code Generation | Autonomous Issue Resolution + PR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31837"/>
                </a:solidFill>
                <a:latin typeface="Calibri"/>
              </a:rP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9264"/>
            <a:ext cx="555955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Developer time wasted on routine bug fixes: 30-40% of engineering hours spent on low-complexity issues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PR review bottleneck: average 2-day cycle time from issue to merged fix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Legacy codebases accumulate 200+ open issues with no bandwidth for resolution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Junior developer onboarding takes 3-6 months before meaningful code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Calibri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555955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OpenHands-style autonomous agents: analyze GitHub issues, write fixes, open PRs for human review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Sandboxed execution: every agent runs in isolated Docker container with full dev environment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Event-sourced architecture: deterministic replay, full audit trail of every agent action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Self-improving pipeline: 37% of agent's own codebase commits written by the agent itself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GOVERNANCE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71216"/>
            <a:ext cx="555955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All AI-generated code marked as AI-assisted; human approval required before merge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Sandboxed execution prevents host system access; secrets masked in all outputs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SecurityAnalyzer rates tool calls LOW/MEDIUM/HIGH risk with confirmation policies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D174D"/>
                </a:solidFill>
                <a:latin typeface="Calibri"/>
              </a:rPr>
              <a:t>YC COMPETITIVE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alibri"/>
              </a:rPr>
              <a:t>OpenHands / All Hands AI (74.6k★) - open-source autonomous dev agents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Devin / Cognition (funded $175M) - commercial AI developer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Factory AI (S24) - autonomous code agents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Sweep AI (S23) - automated PR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71323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77.6%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SWE-Bench Resolve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71323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~$3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Cost per Generated PR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7335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37%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Self-Written Commits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67335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2-4 wk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Deployment Timeline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SYSTEMS INTEGRATED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GitHub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GitLab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Docker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CI/CD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2400E"/>
                </a:solidFill>
                <a:latin typeface="Calibri"/>
              </a:rPr>
              <a:t>TARGET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Engineering Leads  |  DevOps Managers  |  VP Engineering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SOLUTION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AGENT / SDK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OpenHands SDK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CodeAct 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COMPUTE /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Claude 4.5 Opus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GPT-5.2 Codex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GitHub Actions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MCP connectors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UX / DECISION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PR review portal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Agent dashboard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 Engineering Business Use Cases |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  <a:latin typeface="Calibri"/>
              </a:rPr>
              <a:t>25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UC22 | Automated Test Generation | AI Agents for Test Coverage &amp; Bug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31837"/>
                </a:solidFill>
                <a:latin typeface="Calibri"/>
              </a:rP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9264"/>
            <a:ext cx="555955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Legacy codebases average 35% test coverage; manual test writing is slowest dev task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Regression bugs escape to production: 15% of deployments cause incidents in first 24 hours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Test maintenance burden: 20% of test suites break with each major refactor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Security vulnerability testing requires specialized expertise most teams lack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Calibri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555955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AI agents identify bugs and generate comprehensive test suites (SWT-Bench validated)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Multi-agent fan-out: parallel test generation across unit, integration, and E2E layers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Automated test maintenance: agents detect broken tests and auto-fix after refactors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Security-focused test generation: OWASP Top 10 coverage with automated pen-test scenarios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GOVERNANCE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71216"/>
            <a:ext cx="555955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Generated tests reviewed by senior engineer before CI integration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Test data isolation: no production PII in test fixtures; synthetic data generation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Coverage metrics tracked per sprint; minimum 80% threshold enforced via CI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D174D"/>
                </a:solidFill>
                <a:latin typeface="Calibri"/>
              </a:rPr>
              <a:t>YC COMPETITIVE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alibri"/>
              </a:rPr>
              <a:t>QA Wolf (W19, team 80) - end-to-end testing as a service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Carbonate (S23) - AI test generation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Momentic (S23) - autonomous E2E testing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Sapient AI (W24) - unit test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71323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35→85%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Test Coverage 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71323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Fewer Prod Regressions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7335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10x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Test Generation Speed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67335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1-2 wk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Setup Timeline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SYSTEMS INTEGRATED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GitHub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907792"/>
            <a:ext cx="77000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907792"/>
            <a:ext cx="77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Jest/Pytest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520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8520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CI/CD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16720" y="2907792"/>
            <a:ext cx="70000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6720" y="2907792"/>
            <a:ext cx="70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SAST 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2400E"/>
                </a:solidFill>
                <a:latin typeface="Calibri"/>
              </a:rPr>
              <a:t>TARGET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QA Engineers  |  Engineering Managers  |  Security Teams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SOLUTION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AGENT / SDK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OpenHands agents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SWT-Bench 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COMPUTE /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Claude reasoning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Code analysis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CI/CD hooks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Coverage APIs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UX / DECISION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Coverage dashboard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Risk heatmap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 Engineering Business Use Cases |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  <a:latin typeface="Calibri"/>
              </a:rPr>
              <a:t>26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UC23 | Code Modernization &amp; Tech Debt | Autonomous Refactoring + Framework Migration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31837"/>
                </a:solidFill>
                <a:latin typeface="Calibri"/>
              </a:rP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9264"/>
            <a:ext cx="555955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Technical debt compounds: 40% of dev time spent navigating and working around legacy code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Framework migrations (e.g., Angular→React, Python 2→3) take 6-18 months manually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Dependency upgrades deferred due to risk: average enterprise has 200+ outdated packages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Monolith decomposition requires deep architectural knowledge often lost with attrition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Calibri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555955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AI-powered multi-repo dependency upgrades at ~$3 per PR across hundreds of services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Autonomous framework migration: agent analyzes patterns, generates idiomatic code in target framework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Monolith decomposition: agent identifies service boundaries, extracts and tests independently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Greenfield scaffolding: commit0-validated app development from specs to working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GOVERNANCE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71216"/>
            <a:ext cx="555955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All migration PRs include automated regression test results before review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Dependency upgrade policy: security patches auto-merged, major versions require human approval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Architecture decision records (ADRs) auto-generated for each decomposition 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D174D"/>
                </a:solidFill>
                <a:latin typeface="Calibri"/>
              </a:rPr>
              <a:t>YC COMPETITIVE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alibri"/>
              </a:rPr>
              <a:t>Grit.io (W22) - automated code migrations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CodeMod (W24) - codemod generation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Moderne (S21, team 50) - large-scale code refactoring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Sourcegraph Cody (S14, team 300+) - code intelligence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71323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~$3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Cost per Migration PR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71323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Tech Debt Reduction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7335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6→1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Migration Timeline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67335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100+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Repos per Sprint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SYSTEMS INTEGRATED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GitHub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907792"/>
            <a:ext cx="91000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907792"/>
            <a:ext cx="91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npm/pip/maven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520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520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Docker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5672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672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Terraform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2400E"/>
                </a:solidFill>
                <a:latin typeface="Calibri"/>
              </a:rPr>
              <a:t>TARGET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Platform Engineers  |  Tech Leads  |  CTOs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SOLUTION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Dependency graph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Dead code scan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COMPUTE /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Claude Opus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Multi-agent chain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Package registries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CI validation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UX / DECISION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Migration tracker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Risk scoring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 Engineering Business Use Cases |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  <a:latin typeface="Calibri"/>
              </a:rPr>
              <a:t>27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38404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UC24 | DevOps &amp; Incident Response | AI Agents for CI/CD, Log Analysis &amp; Auto-Remediation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54864" cy="20116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31837"/>
                </a:solidFill>
                <a:latin typeface="Calibri"/>
              </a:rP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9264"/>
            <a:ext cx="555955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Mean time to resolution (MTTR) averages 4+ hours for production incidents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On-call engineers spend 60% of incident time on log correlation and root cause triage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CI/CD pipeline failures block 15-20% of deployments, requiring manual debugging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Infrastructure drift: Terraform state diverges from reality across 50+ microservices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54864" cy="201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66534"/>
                </a:solidFill>
                <a:latin typeface="Calibri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555955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AI agents analyze logs, pinpoint root causes, and generate fix PRs within minutes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Automated CI/CD debugging: agent reads build logs, identifies failures, pushes fixes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Infrastructure-as-code auto-remediation: drift detection → Terraform PR → validated apply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Runbook automation: agent executes incident playbooks with human-in-the-loop escalation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15184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96896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GOVERNANCE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71216"/>
            <a:ext cx="555955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Production access scoped read-only for agents; write actions require human approval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Incident response audit trail: every agent action logged with timestamp and rationale</a:t>
            </a:r>
          </a:p>
          <a:p>
            <a:r>
              <a:rPr sz="850">
                <a:solidFill>
                  <a:srgbClr val="1A1A1A"/>
                </a:solidFill>
                <a:latin typeface="Calibri"/>
              </a:rPr>
              <a:t>Blast radius controls: auto-remediation limited to non-critical services without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54864" cy="201168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92424"/>
            <a:ext cx="5559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D174D"/>
                </a:solidFill>
                <a:latin typeface="Calibri"/>
              </a:rPr>
              <a:t>YC COMPETITIVE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66744"/>
            <a:ext cx="5559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  <a:latin typeface="Calibri"/>
              </a:rPr>
              <a:t>Rootly (S21, team 45) - incident management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incident.io (S21, team 120) - incident response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Firehydrant (W20, team 90) - incident management</a:t>
            </a:r>
          </a:p>
          <a:p>
            <a:r>
              <a:rPr sz="800">
                <a:solidFill>
                  <a:srgbClr val="1A1A1A"/>
                </a:solidFill>
                <a:latin typeface="Calibri"/>
              </a:rPr>
              <a:t>Airplane (W22, team 40) - internal tooling + runbooks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71323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74980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4hr→15m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08630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Mean Time to Resolution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71323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74980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08630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Auto-Resolved Incidents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7335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0992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04642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CI/CD Fix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673352"/>
            <a:ext cx="2468880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709928"/>
            <a:ext cx="246888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1837"/>
                </a:solidFill>
                <a:latin typeface="Calibri"/>
              </a:rPr>
              <a:t>24/7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046427"/>
            <a:ext cx="2377440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Calibri"/>
              </a:rPr>
              <a:t>Always-On 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33472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61518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SYSTEMS INTEGRATED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PagerDuty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DataDog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2907792"/>
            <a:ext cx="64008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290779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Terraform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2907792"/>
            <a:ext cx="980000" cy="21945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2907792"/>
            <a:ext cx="98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3B6E"/>
                </a:solidFill>
                <a:latin typeface="Calibri"/>
              </a:rPr>
              <a:t>GitHub 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27832"/>
            <a:ext cx="54864" cy="201168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320954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2400E"/>
                </a:solidFill>
                <a:latin typeface="Calibri"/>
              </a:rPr>
              <a:t>TARGET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483864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  <a:latin typeface="Calibri"/>
              </a:rPr>
              <a:t>SRE Teams  |  DevOps Engineers  |  Incident Commanders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76472"/>
            <a:ext cx="54864" cy="201168"/>
          </a:xfrm>
          <a:prstGeom prst="rect">
            <a:avLst/>
          </a:prstGeom>
          <a:solidFill>
            <a:srgbClr val="1F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3758184"/>
            <a:ext cx="5193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B6E"/>
                </a:solidFill>
                <a:latin typeface="Calibri"/>
              </a:rPr>
              <a:t>SOLUTION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3737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DataDog logs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PagerDuty alerts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954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COMPUTE /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4954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611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Log analysis LLM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Root cause 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3485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Terraform API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K8s API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47020" y="4050792"/>
            <a:ext cx="12573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UX / DECISION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47020" y="4251960"/>
            <a:ext cx="12573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83596" y="4270248"/>
            <a:ext cx="11841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1A1A1A"/>
                </a:solidFill>
                <a:latin typeface="Calibri"/>
              </a:rPr>
              <a:t>Incident dashboard</a:t>
            </a:r>
          </a:p>
          <a:p>
            <a:r>
              <a:rPr sz="700">
                <a:solidFill>
                  <a:srgbClr val="1A1A1A"/>
                </a:solidFill>
                <a:latin typeface="Calibri"/>
              </a:rPr>
              <a:t>Runbook executor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 Engineering Business Use Cases |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26364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AAAAAA"/>
                </a:solidFill>
                <a:latin typeface="Calibri"/>
              </a:rPr>
              <a:t>28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7730</Words>
  <Application>Microsoft Office PowerPoint</Application>
  <PresentationFormat>Widescreen</PresentationFormat>
  <Paragraphs>1402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 Business Use Cases</dc:title>
  <dc:subject>PptxGenJS Presentation</dc:subject>
  <dc:creator>AI Engineering Team</dc:creator>
  <cp:lastModifiedBy>sheker kamma</cp:lastModifiedBy>
  <cp:revision>1</cp:revision>
  <dcterms:created xsi:type="dcterms:W3CDTF">2026-05-23T14:42:15Z</dcterms:created>
  <dcterms:modified xsi:type="dcterms:W3CDTF">2026-05-23T14:49:54Z</dcterms:modified>
</cp:coreProperties>
</file>
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Pipeline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4389120" cy="384048"/>
          </a:xfrm>
          <a:prstGeom prst="rect">
            <a:avLst>
              <a:gd name="adj" fmla="val 47619"/>
            </a:avLst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758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issue to merged PR in minutes — every action auditable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1097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Resolve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2331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Pull 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3566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0" y="4160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Self-Written Commits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74.6k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0" y="5394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 (Open Source)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Architecture Guide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OpenHands Coding Pipeline?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platform that turns GitHub issues into production-ready pull requests autonomously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65376"/>
            <a:ext cx="320040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reads a GitHub issue, understands the codebase, writes code and tests, and opens a PR — all without human intervention. Powered by CodeAct, a stateless event processor that unifies reasoning and execution.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463040"/>
            <a:ext cx="347472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46304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51790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865376"/>
            <a:ext cx="320040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runs in an isolated Docker container with its own shell, Python interpreter, browser, and file system. No host access. No cross-contamination. Full audit trail of every action.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463040"/>
            <a:ext cx="347472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46304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51790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65376"/>
            <a:ext cx="320040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LLM providers via LiteLLM. Claude 4.5 Opus for reasoning, GPT-5.2 Codex for greenfield tasks. Swap models in config, not code. No vendor lock-in.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10972800" cy="128016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498848"/>
            <a:ext cx="106984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is not a copilot — it executes real engineering work end-to-end. 37% of its own codebase commits are written by the agent itself.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(74.6k ★) · Trusted by engineers at TikTok, VMware, Roche, Amazon, Netflix, Apple, NVIDIA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teams waste 30-40% of capacity on low-complexity, repetitive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457200"/>
          </a:xfrm>
          <a:prstGeom prst="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318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7160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open issues backlogged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536192"/>
            <a:ext cx="548640" cy="36576"/>
          </a:xfrm>
          <a:prstGeom prst="rect">
            <a:avLst/>
          </a:prstGeom>
          <a:solidFill>
            <a:srgbClr val="D0D5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42646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286000" cy="457200"/>
          </a:xfrm>
          <a:prstGeom prst="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137160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4hr avg resolution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536192"/>
            <a:ext cx="548640" cy="36576"/>
          </a:xfrm>
          <a:prstGeom prst="rect">
            <a:avLst/>
          </a:prstGeom>
          <a:solidFill>
            <a:srgbClr val="D0D5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42646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286000" cy="457200"/>
          </a:xfrm>
          <a:prstGeom prst="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318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37160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PR cycle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1536192"/>
            <a:ext cx="548640" cy="36576"/>
          </a:xfrm>
          <a:prstGeom prst="rect">
            <a:avLst/>
          </a:prstGeom>
          <a:solidFill>
            <a:srgbClr val="D0D5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42646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286000" cy="457200"/>
          </a:xfrm>
          <a:prstGeom prst="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318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2" y="137160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$180K+ annual cost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347472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28600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3408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 Bottleneck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2688336"/>
            <a:ext cx="32004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30-40% of engineering hours on low-complexity issues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Junior devs take 3-6 months to contribute meaningfully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silos: only 1-2 people can fix each area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06240" y="2286000"/>
            <a:ext cx="347472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228600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23408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Quality Gap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43400" y="2688336"/>
            <a:ext cx="32004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Legacy codebases average 35% test coverage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15% of deployments cause incidents in first 24 hours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maintenance breaks 20% of suites per refactor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2286000"/>
            <a:ext cx="347472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28600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5008" y="23408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 Compounds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92440" y="2688336"/>
            <a:ext cx="32004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of dev time navigating legacy code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 migrations take 6-18 months manually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200+ outdated dependencies per enterprise avg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NOT automating: $2M+ annually in a 50-engineer org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+ cross-cutting security and observability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48132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234440" y="1371600"/>
            <a:ext cx="6217920" cy="594360"/>
          </a:xfrm>
          <a:prstGeom prst="rect">
            <a:avLst>
              <a:gd name="adj" fmla="val 6154"/>
            </a:avLst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463040"/>
            <a:ext cx="173736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146304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54680" y="1463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173736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46304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0" y="1463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1463040"/>
            <a:ext cx="1737360" cy="411480"/>
          </a:xfrm>
          <a:prstGeom prst="rect">
            <a:avLst>
              <a:gd name="adj" fmla="val 11111"/>
            </a:avLst>
          </a:prstGeom>
          <a:solidFill>
            <a:srgbClr val="0D3B5E"/>
          </a:solidFill>
          <a:ln w="19050">
            <a:solidFill>
              <a:srgbClr val="0D3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05272" y="146304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48716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34440" y="2377440"/>
            <a:ext cx="6217920" cy="594360"/>
          </a:xfrm>
          <a:prstGeom prst="rect">
            <a:avLst>
              <a:gd name="adj" fmla="val 6154"/>
            </a:avLst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2468880"/>
            <a:ext cx="1737360" cy="411480"/>
          </a:xfrm>
          <a:prstGeom prst="rect">
            <a:avLst>
              <a:gd name="adj" fmla="val 11111"/>
            </a:avLst>
          </a:prstGeom>
          <a:solidFill>
            <a:srgbClr val="0D3B5E"/>
          </a:solidFill>
          <a:ln w="19050">
            <a:solidFill>
              <a:srgbClr val="0D3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0472" y="246888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CodeAct Agent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4688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2468880"/>
            <a:ext cx="173736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46888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0" y="24688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32120" y="2468880"/>
            <a:ext cx="173736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05272" y="246888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49300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234440" y="3383280"/>
            <a:ext cx="6217920" cy="594360"/>
          </a:xfrm>
          <a:prstGeom prst="rect">
            <a:avLst>
              <a:gd name="adj" fmla="val 6154"/>
            </a:avLst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3474720"/>
            <a:ext cx="1737360" cy="411480"/>
          </a:xfrm>
          <a:prstGeom prst="rect">
            <a:avLst>
              <a:gd name="adj" fmla="val 11111"/>
            </a:avLst>
          </a:prstGeom>
          <a:solidFill>
            <a:srgbClr val="0D3B5E"/>
          </a:solidFill>
          <a:ln w="19050">
            <a:solidFill>
              <a:srgbClr val="0D3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347472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54680" y="34747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74720" y="3474720"/>
            <a:ext cx="173736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47472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+ Python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34747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32120" y="3474720"/>
            <a:ext cx="173736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05272" y="347472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+ VS Code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49884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234440" y="4389120"/>
            <a:ext cx="6217920" cy="594360"/>
          </a:xfrm>
          <a:prstGeom prst="rect">
            <a:avLst>
              <a:gd name="adj" fmla="val 6154"/>
            </a:avLst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17320" y="4480560"/>
            <a:ext cx="1737360" cy="411480"/>
          </a:xfrm>
          <a:prstGeom prst="rect">
            <a:avLst>
              <a:gd name="adj" fmla="val 11111"/>
            </a:avLst>
          </a:prstGeom>
          <a:solidFill>
            <a:srgbClr val="0D3B5E"/>
          </a:solidFill>
          <a:ln w="19050">
            <a:solidFill>
              <a:srgbClr val="0D3B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448056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Ops + PR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54680" y="4480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474720" y="4480560"/>
            <a:ext cx="173736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448056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4480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532120" y="4480560"/>
            <a:ext cx="173736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05272" y="448056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0" y="17830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5DD"/>
                </a:solidFill>
              </a:rPr>
              <a:t>▼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00400" y="27889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5DD"/>
                </a:solidFill>
              </a:rPr>
              <a:t>▼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200400" y="37947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5DD"/>
                </a:solidFill>
              </a:rPr>
              <a:t>▼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9552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12-Step Data Flow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955280" y="169164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21040" y="1691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created (label: fix-me)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55280" y="2039112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2039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21040" y="20391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routes to Agent Server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55280" y="2386584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0" y="2386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321040" y="23865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spawns CodeAct Agent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955280" y="2734056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5280" y="2734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21040" y="27340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LLM via LiteLLM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955280" y="3081528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55280" y="3081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321040" y="30815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reasoning + actions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955280" y="342900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55280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321040" y="34290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executes in Docker sandbox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955280" y="3776472"/>
            <a:ext cx="256032" cy="256032"/>
          </a:xfrm>
          <a:prstGeom prst="ellipse">
            <a:avLst/>
          </a:prstGeom>
          <a:solidFill>
            <a:srgbClr val="1F3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55280" y="3776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321040" y="37764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invokes registered tools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955280" y="4123944"/>
            <a:ext cx="256032" cy="256032"/>
          </a:xfrm>
          <a:prstGeom prst="ellipse">
            <a:avLst/>
          </a:prstGeom>
          <a:solidFill>
            <a:srgbClr val="1F3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55280" y="41239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321040" y="41239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committed to git branch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955280" y="4471416"/>
            <a:ext cx="256032" cy="256032"/>
          </a:xfrm>
          <a:prstGeom prst="ellipse">
            <a:avLst/>
          </a:prstGeom>
          <a:solidFill>
            <a:srgbClr val="1F3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55280" y="4471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321040" y="44714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opened with summary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955280" y="4818888"/>
            <a:ext cx="256032" cy="256032"/>
          </a:xfrm>
          <a:prstGeom prst="ellipse">
            <a:avLst/>
          </a:prstGeom>
          <a:solidFill>
            <a:srgbClr val="1F3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55280" y="4818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321040" y="48188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runs tests + SAST + lint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955280" y="5166360"/>
            <a:ext cx="256032" cy="256032"/>
          </a:xfrm>
          <a:prstGeom prst="ellipse">
            <a:avLst/>
          </a:prstGeom>
          <a:solidFill>
            <a:srgbClr val="1F3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55280" y="5166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321040" y="5166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scored at review gate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955280" y="5513832"/>
            <a:ext cx="256032" cy="256032"/>
          </a:xfrm>
          <a:prstGeom prst="ellipse">
            <a:avLst/>
          </a:prstGeom>
          <a:solidFill>
            <a:srgbClr val="1F3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55280" y="5513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321040" y="5513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 or human review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 architecture: every action logged, deterministic replay, full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Deep Dive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components powering the autonomous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2194560"/>
          </a:xfrm>
          <a:prstGeom prst="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39496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2646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CodeAct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73936"/>
            <a:ext cx="51206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Stateless event processor — unifies reasoning and execution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modes: natural language conversation + code execution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 calling for precise tool specification (CodeAct 2.1)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Sub-agent delegation: spawn parallel child agents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Context: skills, prompts, security policies, tool specs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94960" cy="2194560"/>
          </a:xfrm>
          <a:prstGeom prst="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371600"/>
            <a:ext cx="539496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42646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 Runtime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1773936"/>
            <a:ext cx="51206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Isolated container per agent session — no host access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dev environment: bash, Python, Chromium, VS Code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Overlay filesystem for non-destructive modifications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Three-tier image tagging for incremental builds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Plugin system: Jupyter, Agent Skills extensions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39496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539496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89534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 (LiteLLM)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242816"/>
            <a:ext cx="51206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100+ providers — Claude, GPT, Gemini, DeepSeek, open-weight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reasoning support (Anthropic thinking, OpenAI reasoning)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NonNativeToolCallingMixin for basic models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swap via config change, no code changes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optimization: route by task complexity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39496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539496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389534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Store + Audit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4242816"/>
            <a:ext cx="51206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Append-only immutable event log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replay of any session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recovery after interruption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SecurityAnalyzer: LOW/MEDIUM/HIGH risk rating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 Registry: per-conversation isolation, masked outputs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modular — swap, scale, or replace independently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vs. commercial and open-source alternatives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12848" cy="384048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408176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70048" y="1371600"/>
            <a:ext cx="2212848" cy="38404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408176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82896" y="1371600"/>
            <a:ext cx="2212848" cy="384048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408176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95744" y="1371600"/>
            <a:ext cx="2212848" cy="384048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8896" y="1408176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08592" y="1371600"/>
            <a:ext cx="2212848" cy="384048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1744" y="1408176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755648"/>
            <a:ext cx="2212848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922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70048" y="1755648"/>
            <a:ext cx="2212848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7922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82896" y="175564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7922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95744" y="175564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17922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08592" y="175564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81744" y="17922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258568"/>
            <a:ext cx="2212848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2951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70048" y="2258568"/>
            <a:ext cx="2212848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2951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82896" y="225856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2951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 seat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95744" y="225856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8896" y="22951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Free–$39/mo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08592" y="225856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81744" y="22951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761488"/>
            <a:ext cx="2212848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27980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70048" y="2761488"/>
            <a:ext cx="2212848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27980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(74.6k★)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82896" y="276148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7980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95744" y="276148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68896" y="27980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308592" y="276148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81744" y="27980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264408"/>
            <a:ext cx="2212848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3009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/ Air-Gap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70048" y="3264408"/>
            <a:ext cx="2212848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33009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(K8s)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82896" y="326440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33009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95744" y="326440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68896" y="33009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308592" y="326440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81744" y="33009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767328"/>
            <a:ext cx="2212848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380390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Agnostic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670048" y="3767328"/>
            <a:ext cx="2212848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0" y="380390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providers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82896" y="376732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56048" y="380390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95744" y="376732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68896" y="380390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only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308592" y="376732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81744" y="380390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270248"/>
            <a:ext cx="2212848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" y="43068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670048" y="4270248"/>
            <a:ext cx="2212848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0" y="43068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per agent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882896" y="427024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56048" y="43068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sandbox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095744" y="427024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68896" y="43068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In-editor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308592" y="427024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81744" y="430682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In-editor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4773168"/>
            <a:ext cx="2212848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0352" y="48097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670048" y="4773168"/>
            <a:ext cx="2212848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0" y="48097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882896" y="477316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56048" y="48097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095744" y="477316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68896" y="48097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308592" y="477316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381744" y="480974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57200" y="5276088"/>
            <a:ext cx="2212848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" y="53126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670048" y="5276088"/>
            <a:ext cx="2212848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743200" y="53126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882896" y="527608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56048" y="53126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only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095744" y="527608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68896" y="53126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308592" y="527608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381744" y="531266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57200" y="5779008"/>
            <a:ext cx="2212848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0352" y="58155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670048" y="5779008"/>
            <a:ext cx="2212848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43200" y="58155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delegation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882896" y="577900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956048" y="58155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095744" y="577900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68896" y="58155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9308592" y="5779008"/>
            <a:ext cx="221284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381744" y="5815584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OpenHands: enterprise-grade autonomy at open-source economics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deployment modes — CLI, SDK, or GitHub 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(Resolver)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any issue with fix-me — agent auto-triages and opens a PR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Mention @openhands on a PR for automated review and fixes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with any GitHub repo — setup in 5 minutes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37% of the resolver's own commits are AI-generated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(Programmatic)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Composable Python library — define agents in code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locally or scale to thousands in the cloud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openhands.sdk: Agent, Conversation, LLM, Tool, MCP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openhands.workspace: Docker or hosted API execution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5760720" cy="1828800"/>
          </a:xfrm>
          <a:prstGeom prst="rect">
            <a:avLst>
              <a:gd name="adj" fmla="val 2500"/>
            </a:avLst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1463040"/>
            <a:ext cx="5541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.github/workflows/openhands-resolver.yml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OpenHands Resolver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issues: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types: [labeled]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resolve: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if: github.event.label.name == 'fix-me'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uses: all-hands-ai/openhands-resolver@main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llm-model: claude-opus-4-6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3474720"/>
            <a:ext cx="5760720" cy="2011680"/>
          </a:xfrm>
          <a:prstGeom prst="rect">
            <a:avLst>
              <a:gd name="adj" fmla="val 2273"/>
            </a:avLst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3566160"/>
            <a:ext cx="55412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SDK usage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openhands.sdk import Agent, Conversation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openhands.workspace import DockerWorkspace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model='claude-opus-4-6',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tools=['file_ops', 'shell', 'git'],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security_policy='medium'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 = DockerWorkspace(repo='my-org/my-repo')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agent.resolve(issue_id=123, workspace=workspace)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5 minutes: copy YAML, set API key, label an issue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and battle-tested in production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 resolve rate — highest among open-source agents (May 2026)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371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11480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generated PR — real-world Go microservice upgrades across 50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77240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Self-written commits — the resolver writes its own codebase improvements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347472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7472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52958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877056"/>
            <a:ext cx="32004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Claude 4.5 Opus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top in issue resolution, frontend, testing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GPT-5.2 Codex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best at long-horizon greenfield tasks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Flash, DeepSeek-v3.2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3474720"/>
            <a:ext cx="347472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347472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352958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Proof Points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3877056"/>
            <a:ext cx="32004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at TikTok, VMware, Roche, Amazon, Netflix, Apple, NVIDIA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74.6k GitHub stars, 9.5k forks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 microservice upgrades: $150 total vs $180K manual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70% of routine issues auto-resolved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3474720"/>
            <a:ext cx="347472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47472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352958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92440" y="3877056"/>
            <a:ext cx="32004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K8s self-hosted for air-gapped environments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+ audit logging + secrets management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Slack, Jira, Linear integrations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 2 / HIPAA compatible architecture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results are reproducible: open-source, model-agnostic, deployable on-premise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Issue-to-PR Data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steps from GitHub issue to merged pull request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463040" cy="777240"/>
          </a:xfrm>
          <a:prstGeom prst="rect">
            <a:avLst>
              <a:gd name="adj" fmla="val 5882"/>
            </a:avLst>
          </a:prstGeom>
          <a:solidFill>
            <a:srgbClr val="F5F7FA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87452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labels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fix-me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146304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1874520"/>
            <a:ext cx="1463040" cy="777240"/>
          </a:xfrm>
          <a:prstGeom prst="rect">
            <a:avLst>
              <a:gd name="adj" fmla="val 5882"/>
            </a:avLst>
          </a:prstGeom>
          <a:solidFill>
            <a:srgbClr val="F5F7FA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87452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697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sends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payload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04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146304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1874520"/>
            <a:ext cx="1463040" cy="777240"/>
          </a:xfrm>
          <a:prstGeom prst="rect">
            <a:avLst>
              <a:gd name="adj" fmla="val 5882"/>
            </a:avLst>
          </a:prstGeom>
          <a:solidFill>
            <a:srgbClr val="F5F7FA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187452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697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874520"/>
            <a:ext cx="146304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87452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2697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repo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issue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8952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49640" y="146304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1874520"/>
            <a:ext cx="146304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19872" y="187452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2697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0976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469880" y="146304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6988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66960" y="1874520"/>
            <a:ext cx="146304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40112" y="187452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66960" y="2697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+ runs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sandbox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680" y="384048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251960"/>
            <a:ext cx="146304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25196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+ MCP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0" y="4389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788920" y="384048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8892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0" y="4251960"/>
            <a:ext cx="146304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9152" y="425196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28600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branch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749040" y="4389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709160" y="384048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06240" y="4251960"/>
            <a:ext cx="146304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9392" y="425196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20624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link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669280" y="4389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629400" y="384048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26480" y="4251960"/>
            <a:ext cx="146304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9632" y="425196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12648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SAST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589520" y="4389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549640" y="384048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4964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46720" y="4251960"/>
            <a:ext cx="1463040" cy="777240"/>
          </a:xfrm>
          <a:prstGeom prst="rect">
            <a:avLst>
              <a:gd name="adj" fmla="val 5882"/>
            </a:avLst>
          </a:prstGeom>
          <a:solidFill>
            <a:srgbClr val="F5F7FA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19872" y="425196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04672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509760" y="4389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→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469880" y="3840480"/>
            <a:ext cx="256032" cy="25603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46988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966960" y="4251960"/>
            <a:ext cx="1463040" cy="777240"/>
          </a:xfrm>
          <a:prstGeom prst="rect">
            <a:avLst>
              <a:gd name="adj" fmla="val 5882"/>
            </a:avLst>
          </a:prstGeom>
          <a:solidFill>
            <a:srgbClr val="F5F7FA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40112" y="4251960"/>
            <a:ext cx="1316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96696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resolution time: 5-15 minutes for common bug fixes | ~$3 per PR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47472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3502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OpenHands?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82496"/>
            <a:ext cx="32004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77.6% SWE-Bench — state-of-the-art resolve rate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source (74.6k★) — no vendor lock-in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Model-agnostic — 100+ LLM providers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Sandboxed — isolated Docker per agent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Event-sourced — full audit trail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Self-hosted — air-gapped K8s support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347472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128016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133502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1682496"/>
            <a:ext cx="32004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~$3 per PR vs $350/hr developer time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70% of routine issues auto-resolved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 microservices: $150 vs $180K manual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37% autonomous commits (dogfooding)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MTTR: 4 hours → 15 minutes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coverage: 35% → 85%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280160"/>
            <a:ext cx="347472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280160"/>
            <a:ext cx="3474720" cy="347472"/>
          </a:xfrm>
          <a:prstGeom prst="rect">
            <a:avLst>
              <a:gd name="adj" fmla="val 13158"/>
            </a:avLst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33502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1682496"/>
            <a:ext cx="32004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GitHub Action setup (5 min)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Label 10 issues as fix-me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Review agent PRs, tune threshold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Enable auto-merge for high-confidence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2: SDK integration for custom workflows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3: Enterprise K8s deployment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0972800" cy="1463040"/>
          </a:xfrm>
          <a:prstGeom prst="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GitHub Action Resolver on one repository. Label 10 low-priority issues as fix-me. Review the agent's PRs for 2 weeks — this builds confidence in the system before expanding. Typical time to first value: under 1 hour.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2910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issue to merged PR in minutes — every action sandboxed, logged, auditable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PeopleTech AI Engineering</dc:creator>
  <cp:lastModifiedBy>PeopleTech AI Engineering</cp:lastModifiedBy>
  <cp:revision>1</cp:revision>
  <dcterms:created xsi:type="dcterms:W3CDTF">2026-05-28T17:48:04Z</dcterms:created>
  <dcterms:modified xsi:type="dcterms:W3CDTF">2026-05-28T17:48:04Z</dcterms:modified>
</cp:coreProperties>
</file>